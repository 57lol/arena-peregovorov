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24"/>
    <p:sldId id="378" r:id="rId26"/>
    <p:sldId id="262" r:id="rId21"/>
    <p:sldId id="370" r:id="rId16"/>
    <p:sldId id="272" r:id="rId30"/>
    <p:sldId id="261" r:id="rId20"/>
    <p:sldId id="374" r:id="rId18"/>
    <p:sldId id="373" r:id="rId15"/>
    <p:sldId id="263" r:id="rId22"/>
    <p:sldId id="270" r:id="rId28"/>
    <p:sldId id="379" r:id="rId19"/>
    <p:sldId id="268" r:id="rId25"/>
    <p:sldId id="377" r:id="rId23"/>
    <p:sldId id="381" r:id="rId29"/>
    <p:sldId id="380" r:id="rId14"/>
    <p:sldId id="382" r:id="rId13"/>
    <p:sldId id="383" r:id="rId31"/>
    <p:sldId id="371" r:id="rId17"/>
    <p:sldId id="269" r:id="rId27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23.xml"/><Relationship Id="rId14" Type="http://schemas.openxmlformats.org/officeDocument/2006/relationships/slide" Target="slides/slide21.xml"/><Relationship Id="rId15" Type="http://schemas.openxmlformats.org/officeDocument/2006/relationships/slide" Target="slides/slide11.xml"/><Relationship Id="rId16" Type="http://schemas.openxmlformats.org/officeDocument/2006/relationships/slide" Target="slides/slide7.xml"/><Relationship Id="rId17" Type="http://schemas.openxmlformats.org/officeDocument/2006/relationships/slide" Target="slides/slide15.xml"/><Relationship Id="rId18" Type="http://schemas.openxmlformats.org/officeDocument/2006/relationships/slide" Target="slides/slide10.xml"/><Relationship Id="rId19" Type="http://schemas.openxmlformats.org/officeDocument/2006/relationships/slide" Target="slides/slide20.xml"/><Relationship Id="rId20" Type="http://schemas.openxmlformats.org/officeDocument/2006/relationships/slide" Target="slides/slide9.xml"/><Relationship Id="rId21" Type="http://schemas.openxmlformats.org/officeDocument/2006/relationships/slide" Target="slides/slide6.xml"/><Relationship Id="rId22" Type="http://schemas.openxmlformats.org/officeDocument/2006/relationships/slide" Target="slides/slide12.xml"/><Relationship Id="rId23" Type="http://schemas.openxmlformats.org/officeDocument/2006/relationships/slide" Target="slides/slide18.xml"/><Relationship Id="rId24" Type="http://schemas.openxmlformats.org/officeDocument/2006/relationships/slide" Target="slides/slide17.xml"/><Relationship Id="rId25" Type="http://schemas.openxmlformats.org/officeDocument/2006/relationships/slide" Target="slides/slide14.xml"/><Relationship Id="rId26" Type="http://schemas.openxmlformats.org/officeDocument/2006/relationships/slide" Target="slides/slide19.xml"/><Relationship Id="rId27" Type="http://schemas.openxmlformats.org/officeDocument/2006/relationships/slide" Target="slides/slide16.xml"/><Relationship Id="rId28" Type="http://schemas.openxmlformats.org/officeDocument/2006/relationships/slide" Target="slides/slide13.xml"/><Relationship Id="rId29" Type="http://schemas.openxmlformats.org/officeDocument/2006/relationships/slide" Target="slides/slide22.xml"/><Relationship Id="rId30" Type="http://schemas.openxmlformats.org/officeDocument/2006/relationships/slide" Target="slides/slide8.xml"/><Relationship Id="rId31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6"/>
          <c:y val="0.02"/>
          <c:w val="0.56"/>
          <c:h val="0.8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Средние</c:v>
                </c:pt>
              </c:strCache>
            </c:strRef>
          </c:tx>
          <c:spPr>
            <a:solidFill>
              <a:srgbClr val="FFD6E4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Объявляют свой ход</c:v>
                </c:pt>
                <c:pt idx="1">
                  <c:v>Подводят итог</c:v>
                </c:pt>
                <c:pt idx="2">
                  <c:v>Проверяют понимание</c:v>
                </c:pt>
                <c:pt idx="3">
                  <c:v>Делятся своими мыслями</c:v>
                </c:pt>
                <c:pt idx="4">
                  <c:v>Спрашивают об интересах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4.2</c:v>
                </c:pt>
                <c:pt idx="2">
                  <c:v>4.1</c:v>
                </c:pt>
                <c:pt idx="3">
                  <c:v>7.8</c:v>
                </c:pt>
                <c:pt idx="4">
                  <c:v>9.6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Сильные переговорщики</c:v>
                </c:pt>
              </c:strCache>
            </c:strRef>
          </c:tx>
          <c:spPr>
            <a:solidFill>
              <a:srgbClr val="FF0053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Объявляют свой ход</c:v>
                </c:pt>
                <c:pt idx="1">
                  <c:v>Подводят итог</c:v>
                </c:pt>
                <c:pt idx="2">
                  <c:v>Проверяют понимание</c:v>
                </c:pt>
                <c:pt idx="3">
                  <c:v>Делятся своими мыслями</c:v>
                </c:pt>
                <c:pt idx="4">
                  <c:v>Спрашивают об интересах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6.4</c:v>
                </c:pt>
                <c:pt idx="1">
                  <c:v>7.5</c:v>
                </c:pt>
                <c:pt idx="2">
                  <c:v>9.7</c:v>
                </c:pt>
                <c:pt idx="3">
                  <c:v>12.1</c:v>
                </c:pt>
                <c:pt idx="4">
                  <c:v>21.3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.0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25.0"/>
          <c:min val="0.0"/>
        </c:scaling>
        <c:delete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100"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21.png"/><Relationship Id="rId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hyperlink" Target="https://arena-peregovorov.ru/screencast.mp4" TargetMode="External"/><Relationship Id="rId5" Type="http://schemas.openxmlformats.org/officeDocument/2006/relationships/hyperlink" Target="https://github.com/57lol/arena-peregovorov/blob/main/media/screencast.mp4" TargetMode="External"/><Relationship Id="rId6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 anchor="b" wrap="square">
            <a:noAutofit/>
          </a:bodyPr>
          <a:lstStyle/>
          <a:p>
            <a:pPr marL="268288" indent="0"/>
            <a:r>
              <a:rPr lang="ru-RU" sz="1800" b="0" dirty="0"/>
              <a:t>ЛЦТ 2026 · кейс №9 «Арена переговоров»</a:t>
            </a:r>
            <a:endParaRPr lang="ru-RU" sz="1800" b="0" dirty="0"/>
          </a:p>
          <a:p>
            <a:pPr marL="268288" indent="0"/>
            <a:r>
              <a:rPr lang="ru-RU" sz="6000" dirty="0"/>
              <a:t>Переговорка</a:t>
            </a:r>
            <a:endParaRPr lang="ru-RU" sz="6000" dirty="0"/>
          </a:p>
        </p:txBody>
      </p:sp>
      <p:pic>
        <p:nvPicPr>
          <p:cNvPr id="4" name="Рисунок 3" descr="s1_logo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173" r="173"/>
          <a:stretch>
            <a:fillRect/>
          </a:stretch>
        </p:blipFill>
        <p:spPr>
          <a:xfrm>
            <a:off x="305186" y="329801"/>
            <a:ext cx="5193299" cy="1082589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 wrap="square">
            <a:noAutofit/>
          </a:bodyPr>
          <a:lstStyle/>
          <a:p>
            <a:pPr indent="268288"/>
            <a:r>
              <a:rPr lang="ru-RU" dirty="0"/>
              <a:t>Команда «Би 2 Би» · игра-тренажёр деловых переговоров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s2_meeting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4" b="14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4173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Итог считает движок по скрытым таблицам обеих сторон, а нейросеть только размечает реплики и говорит за персонажа. Один и тот же диалог даёт один и тот же разбор, поэтому результаты команды можно сравнивать на одной доске.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Капитан: </a:t>
            </a:r>
            <a:r>
              <a:rPr lang="ru-RU" dirty="0">
                <a:solidFill>
                  <a:schemeClr val="tx1"/>
                </a:solidFill>
              </a:rPr>
              <a:t>Никита Дмитриевич Голубев, продукт и геймдизайн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</a:t>
            </a:r>
            <a:endParaRPr lang="ru-RU" b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собрались под ЛЦТ: идея игры была у Никиты, Пётр взял методику оценки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учёба: Никита — НИУ ВШЭ; Пётр: —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Город и регион: </a:t>
            </a:r>
            <a:r>
              <a:rPr lang="ru-RU" dirty="0">
                <a:solidFill>
                  <a:schemeClr val="tx1"/>
                </a:solidFill>
              </a:rPr>
              <a:t>Москва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Контакты: </a:t>
            </a:r>
            <a:r>
              <a:rPr lang="ru-RU" dirty="0">
                <a:solidFill>
                  <a:schemeClr val="tx1"/>
                </a:solidFill>
              </a:rPr>
              <a:t>Telegram @nigo57 (Никита), @NikyStor (Пётр)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 anchor="b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Переговорка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002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Пиксельная игра-тренажёр: сотрудник ведёт деловые переговоры с персонажем — закупку, найм, продажу или своё дело. После встречи он видит разбор: сколько взял и что оставил на столе.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50345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322629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Аналитик и методолог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Telegram: @NikyStor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Учёба: —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322628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Пётр Александров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45027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" name="Рисунок 1" descr="p_photoB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173" b="173"/>
          <a:stretch>
            <a:fillRect/>
          </a:stretch>
        </p:blipFill>
        <p:spPr>
          <a:xfrm>
            <a:off x="4080348" y="1816054"/>
            <a:ext cx="1722566" cy="1552901"/>
          </a:xfrm>
        </p:spPr>
      </p:pic>
      <p:pic>
        <p:nvPicPr>
          <p:cNvPr id="3" name="Рисунок 2" descr="p_photoA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513" b="513"/>
          <a:stretch>
            <a:fillRect/>
          </a:stretch>
        </p:blipFill>
        <p:spPr>
          <a:xfrm>
            <a:off x="6385418" y="1826554"/>
            <a:ext cx="1722566" cy="1542401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 wrap="square"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КОМАНДА «БИ 2 БИ»</a:t>
            </a:r>
            <a:endParaRPr lang="ru-RU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017311" y="4250028"/>
            <a:ext cx="1894354" cy="1624612"/>
          </a:xfrm>
        </p:spPr>
        <p:txBody>
          <a:bodyPr wrap="square">
            <a:no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Капитан: продукт и геймдизайн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Telegram: @nigo57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Учёба: НИУ ВШЭ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017310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Никита Голубев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 wrap="square"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ИСТОРИЯ КОМАНДЫ</a:t>
            </a:r>
            <a:endParaRPr lang="ru-RU" dirty="0"/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241280" cy="1097280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Никита и Пётр собрались под ЛЦТ-2026. Идея пиксельной игры с живым собеседником была у Никиты с самого начала: YandexGPT и SpeechKit он уже обкатал на своём проекте ПИРС, это социальные истории для детей с РАС. Пётр взял на себя методику: сценарии, таблицы очков и поведенческие индикаторы.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8928"/>
            <a:ext cx="10241280" cy="11887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Модели плохо ведут и судят переговоры: якорятся на первой цифре, делят пополам, выбалтывают свою цену. Решения и счёт мы отдали детерминированному движку, модели оставили разметку реплик и речь. OpenAI и Anthropic с российского сервера отвечают 403, поэтому взяли YandexGPT и SpeechKit и сделали офлайн-режим. На плейтестах новичку было тяжело: убрали жаргон, добавили наставника и сюжет. Чтобы собеседник не молчал, пока думает, записали фразы-паузы.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01568"/>
            <a:ext cx="1024128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Кейс Алабуги можно решить игрой, а в игре не страшно ошибаться. Зацепила цифра: в учебных переговорах примерно половина участников не замечает, что по какому-то пункту хочет того же, что и другая сторона (Thompson &amp; Hrebec, 1996). Хотелось, чтобы игрок увидел это в своём разборе.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 anchor="t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Веб-игра на React и three.js, сервер на Node 22. Открывается по ссылке на ноутбуке и телефоне.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YandexGPT размечает реплику игрока. Как ответит собеседник, решает детерминированный движок, он же считает итог по скрытым таблицам.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Нейросеть пишет ответ в характере персонажа, SpeechKit озвучивает его живым голосом. Если модель думает дольше секунды, собеседник тянет паузу: «Хм, секунду».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Без ключей игра работает офлайн. На нейросеть и голос — общий лимит 6000 ₽, автотестов 314+.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 anchor="t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Платят HR, L&amp;D и руководители отделов, играют сотрудники. Первые клиенты — Алабуга и её резиденты.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Пилот бесплатный: один отдел, четыре недели, прирост от первой попытки к последней виден на доске.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Дальше подписка, 590 ₽ за место в месяц (оценка). Алабуге и крупным резидентам — установка на свой сервер.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Сюжет «Новенький» идёт в адаптацию новичков, а «Сделка недели» в рабочем чате держит интерес.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lang="ru-RU" sz="20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423951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8368" y="1572768"/>
            <a:ext cx="4754880" cy="1737360"/>
          </a:xfrm>
          <a:noFill/>
          <a:ln>
            <a:noFill/>
          </a:ln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Проблема</a:t>
            </a:r>
            <a:endParaRPr lang="ru-RU" sz="20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Переговорам учат лекциями и редкими ролевыми играми. Попыток мало, разбор идёт на глаз. А руководитель не знает, кто в отделе соглашается на условия хуже запасного варианта.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1. Алабуга и резиденты   </a:t>
            </a:r>
            <a:r>
              <a:rPr lang="ru-RU" sz="1300" dirty="0">
                <a:solidFill>
                  <a:schemeClr val="tx1"/>
                </a:solidFill>
              </a:rPr>
              <a:t>закупки, продажи и найм на заводах ОЭЗ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2. Новички   </a:t>
            </a:r>
            <a:r>
              <a:rPr lang="ru-RU" sz="1300" dirty="0">
                <a:solidFill>
                  <a:schemeClr val="tx1"/>
                </a:solidFill>
              </a:rPr>
              <a:t>адаптация молодых специалистов, сюжет «Новенький»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3. Колледжи и вузы   </a:t>
            </a:r>
            <a:r>
              <a:rPr lang="ru-RU" sz="1300" dirty="0">
                <a:solidFill>
                  <a:schemeClr val="tx1"/>
                </a:solidFill>
              </a:rPr>
              <a:t>Алабуга Политех: практика студентов между парами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4. Компании вне ОЭЗ   </a:t>
            </a:r>
            <a:r>
              <a:rPr lang="ru-RU" sz="1300" dirty="0">
                <a:solidFill>
                  <a:schemeClr val="tx1"/>
                </a:solidFill>
              </a:rPr>
              <a:t>корпоративные университеты, отделы продаж и закупок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Кто платит   </a:t>
            </a:r>
            <a:r>
              <a:rPr lang="ru-RU" sz="1300" dirty="0">
                <a:solidFill>
                  <a:schemeClr val="tx1"/>
                </a:solidFill>
              </a:rPr>
              <a:t>HR, L&amp;D, руководитель отдела. Играет сотрудник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81889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ПРОБЛЕМА И АУДИТОРИЯ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50%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36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участников учебных переговоров не замечают, что по какому-то пункту хотят того же, что и другая сторона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12724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20%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2724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переговоров заканчиваются сделкой, которая хуже для обеих сторон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532120"/>
            <a:ext cx="4754880" cy="41148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Thompson &amp; Hrebec, 1996: метаанализ 32 исследований</a:t>
            </a:r>
            <a:endParaRPr lang="ru-RU" sz="1000" i="1" dirty="0">
              <a:solidFill>
                <a:srgbClr val="6B647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/>
          <p:cNvSpPr/>
          <p:nvPr/>
        </p:nvSpPr>
        <p:spPr>
          <a:xfrm>
            <a:off x="7315200" y="1024128"/>
            <a:ext cx="4572000" cy="4983480"/>
          </a:xfrm>
          <a:prstGeom prst="roundRect">
            <a:avLst>
              <a:gd name="adj" fmla="val 6000"/>
            </a:avLst>
          </a:prstGeom>
          <a:solidFill>
            <a:srgbClr val="FF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7200"/>
            <a:ext cx="6309360" cy="438912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ЧЕМ ЛУЧШЕ ОБЫЧНОГО ТРЕНИНГА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48640" y="1600200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Цена попытки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48640" y="2468880"/>
            <a:ext cx="3017520" cy="87782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Попыток на человека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48640" y="3346704"/>
            <a:ext cx="3017520" cy="83210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Кто оценивает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8640" y="4178808"/>
            <a:ext cx="3017520" cy="86867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Сравнимость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8640" y="5047488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Масштаб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3320" y="1143000"/>
            <a:ext cx="338328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6B6475"/>
                </a:solidFill>
              </a:rPr>
              <a:t>Тренинг или ролевая игра</a:t>
            </a:r>
            <a:endParaRPr lang="ru-RU" sz="1400" b="1" dirty="0">
              <a:solidFill>
                <a:srgbClr val="6B6475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543800" y="1143000"/>
            <a:ext cx="420624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1"/>
                </a:solidFill>
              </a:rPr>
              <a:t>Переговорка</a:t>
            </a:r>
            <a:endParaRPr lang="ru-RU" sz="1600" b="1" dirty="0">
              <a:solidFill>
                <a:schemeClr val="accent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703320" y="1600200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от 10 000 ₽: тренинг на 2 дня стоит 43 000 ₽ + НДС*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543800" y="1600200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≈ 60 ₽ при подписке, себестоимость партии 7–19 ₽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703320" y="2468880"/>
            <a:ext cx="338328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1–2 за сессию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543800" y="2468880"/>
            <a:ext cx="416052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сколько угодно, по 10–15 минут, с телефона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703320" y="3346704"/>
            <a:ext cx="338328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тренер на глаз, разбор общий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43800" y="3346704"/>
            <a:ext cx="416052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движок по скрытым таблицам, разбор ваших фраз с цитатами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703320" y="4178808"/>
            <a:ext cx="338328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нет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543800" y="4178808"/>
            <a:ext cx="416052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одно дело по ссылке: одинаковый ввод даёт одинаковый итог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703320" y="5047488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одна группа за раз, новый кейс готовят неделями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543800" y="5047488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до 200 человек в тренировке, своё дело за 10–20 секунд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48640" y="6035040"/>
            <a:ext cx="10607040" cy="38404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i="1" dirty="0">
                <a:solidFill>
                  <a:srgbClr val="6B6475"/>
                </a:solidFill>
              </a:rPr>
              <a:t>* Академия бизнеса Б1, «Эффективные переговоры», 2 дня; четыре ролевые игры на человека — наша оценка. Кейс на бумаге и курс в LMS дешевле, но собеседника и разбора своих слов там нет.</a:t>
            </a:r>
            <a:endParaRPr lang="ru-RU" sz="950" i="1" dirty="0">
              <a:solidFill>
                <a:srgbClr val="6B647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478942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p_phone1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52" r="52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3" name="Рисунок 2" descr="p_phone2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l="52" r="52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4" name="Рисунок 3" descr="p_phone3.pn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l="52" r="52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5" name="Рисунок 4" descr="p_phone4.pn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l="52" r="52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1. Бриф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Кто вы, кто напротив, чего хотите и что будет без сделки.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2. Разговор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10–12 реплик текстом или голосом, собеседник отвечает вслух. После хода плашка: что сработало, что помешало.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3. Блокнот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Условия собираете на столе и сразу видите, сколько каждое даёт вам.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4. Разбор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Сколько взяли и что осталось на столе. Переиграть можно с ключевого хода.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5" y="324562"/>
            <a:ext cx="436880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ОДНА ВСТРЕЧА: ПУТЬ ИГРОКА</a:t>
            </a:r>
            <a:endParaRPr lang="ru-RU" sz="2000" b="1" dirty="0">
              <a:solidFill>
                <a:srgbClr val="FFFFFF"/>
              </a:solidFill>
            </a:endParaRP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500786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3" name="Рисунок 2" descr="p_story_map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14" b="14"/>
          <a:stretch>
            <a:fillRect/>
          </a:stretch>
        </p:blipFill>
        <p:spPr>
          <a:xfrm>
            <a:off x="7440147" y="1016001"/>
            <a:ext cx="4405777" cy="3078479"/>
          </a:xfrm>
        </p:spPr>
      </p:pic>
      <p:pic>
        <p:nvPicPr>
          <p:cNvPr id="4" name="Рисунок 3" descr="p_story_gallery.png"/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17" r="17"/>
          <a:stretch>
            <a:fillRect/>
          </a:stretch>
        </p:blipFill>
        <p:spPr>
          <a:xfrm>
            <a:off x="7440149" y="4389108"/>
            <a:ext cx="4405775" cy="1811668"/>
          </a:xfrm>
        </p:spPr>
      </p:pic>
      <p:pic>
        <p:nvPicPr>
          <p:cNvPr id="5" name="Рисунок 4" descr="p_story_big.png"/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t="102" b="102"/>
          <a:stretch>
            <a:fillRect/>
          </a:stretch>
        </p:blipFill>
        <p:spPr>
          <a:xfrm>
            <a:off x="346075" y="3223948"/>
            <a:ext cx="6806142" cy="2976827"/>
          </a:xfrm>
        </p:spPr>
      </p:pic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anchor="ctr" lIns="182880" tIns="54864" rIns="182880" bIns="54864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«Сюжет». </a:t>
            </a:r>
            <a:r>
              <a:rPr lang="ru-RU" sz="1200" dirty="0">
                <a:solidFill>
                  <a:schemeClr val="tx1"/>
                </a:solidFill>
              </a:rPr>
              <a:t>Неделя новенького в Алабуге на карте Елабуги и ОЭЗ: общага, остановка у ларька, магазин, три рабочих дела и ночь перед запуском линии. В каждой главе один приём, движок и разбор те же, что в деловых делах.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Катсцены. </a:t>
            </a:r>
            <a:r>
              <a:rPr lang="ru-RU" sz="1200" dirty="0">
                <a:solidFill>
                  <a:schemeClr val="tx1"/>
                </a:solidFill>
              </a:rPr>
              <a:t>Между главами пиксельные ролики на 18–40 секунд: автобус вдоль Камы, памятка от HR в телефоне, дорога на завод. Все ролики собраны в галерее.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«Для жюри». </a:t>
            </a:r>
            <a:r>
              <a:rPr lang="ru-RU" sz="1200" dirty="0">
                <a:solidFill>
                  <a:schemeClr val="tx1"/>
                </a:solidFill>
              </a:rPr>
              <a:t>Кнопка на титуле или /?jury: всё открыто сразу, без катсцен. Путь кейса в четыре шага: настроить, провести, разбор, команда.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Звук. </a:t>
            </a:r>
            <a:r>
              <a:rPr lang="ru-RU" sz="1200" dirty="0">
                <a:solidFill>
                  <a:schemeClr val="tx1"/>
                </a:solidFill>
              </a:rPr>
              <a:t>Музыка и фоны комнат из открытых библиотек под лицензией CC0.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5" y="324562"/>
            <a:ext cx="458724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СЮЖЕТ И РЕЖИМ «ДЛЯ ЖЮРИ»</a:t>
            </a:r>
            <a:endParaRPr lang="ru-RU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651760"/>
            <a:ext cx="296563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деловых дела и своё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54680"/>
            <a:ext cx="2965633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«Оффер для робототехника» (найм), «Тара к запуску» (закупки), «Удержать клиента» (продажи). После первой сделки открывается жёсткая версия. Своё дело собирается по форме, ещё 7 глав — в сюжете.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651760"/>
            <a:ext cx="3034896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решений на каждый ход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54680"/>
            <a:ext cx="3034896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Принять, встречное, рассказать о своём интересе, держать позицию, одёрнуть за тон или уйти. Выбор зависит от того, что вы узнали и что предложили. За мат первый раз одёрнет, второй раз уйдёт.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651760"/>
            <a:ext cx="294546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финалов у каждого дела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54680"/>
            <a:ext cx="2945464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От «Сделки, о которой расскажут» до «Хлопнул дверью» и «Время вышло». В разборе видно, какие финалы открыты, а какие ждут за другими решениями. Звания и навыки копятся в «Личном деле».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7200"/>
            <a:ext cx="6309360" cy="438912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МЕХАНИКА И СЦЕНАРИИ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3</a:t>
            </a:r>
            <a:endParaRPr lang="ru-RU" sz="54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6</a:t>
            </a:r>
            <a:endParaRPr lang="ru-RU" sz="54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8</a:t>
            </a:r>
            <a:endParaRPr lang="ru-RU" sz="5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5"/>
                </a:solidFill>
              </a:rPr>
              <a:t>Как считаем сделку</a:t>
            </a:r>
            <a:endParaRPr lang="ru-RU" sz="2200" b="1" dirty="0">
              <a:solidFill>
                <a:schemeClr val="accent5"/>
              </a:solidFill>
            </a:endParaRPr>
          </a:p>
        </p:txBody>
      </p:sp>
      <p:pic>
        <p:nvPicPr>
          <p:cNvPr id="4" name="Рисунок 3" descr="p_dealmap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16" r="16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88720"/>
            <a:ext cx="4807840" cy="5120640"/>
          </a:xfrm>
        </p:spPr>
        <p:txBody>
          <a:bodyPr anchor="t" lIns="0" tIns="0" rIns="0" bIns="0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В договоре пять пунктов. У каждой стороны своя скрытая таблица очков и свой запасной вариант — то, что будет без сделки.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Пункты бывают трёх видов: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делимые: </a:t>
            </a:r>
            <a:r>
              <a:rPr lang="ru-RU" sz="1200" dirty="0">
                <a:solidFill>
                  <a:schemeClr val="tx1"/>
                </a:solidFill>
              </a:rPr>
              <a:t>цена, оклад. Что одному плюс, другому минус;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разменные: </a:t>
            </a:r>
            <a:r>
              <a:rPr lang="ru-RU" sz="1200" dirty="0">
                <a:solidFill>
                  <a:schemeClr val="tx1"/>
                </a:solidFill>
              </a:rPr>
              <a:t>одной стороне важно, другой почти всё равно;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совместимые: </a:t>
            </a:r>
            <a:r>
              <a:rPr lang="ru-RU" sz="1200" dirty="0">
                <a:solidFill>
                  <a:schemeClr val="tx1"/>
                </a:solidFill>
              </a:rPr>
              <a:t>обе хотят одного и того же, но не знают об этом.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Кто давит и делит пополам, получает середину. Кто расспрашивает и предлагает «если вы…, то мы…», находит сделку, где выигрывают оба. В «Таре к запуску» всё посередине даёт 103 очка на двоих, а лучший размен — 144 очка.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Разбор показывает очки против запасного варианта, эффективность по Парето и сколько осталось на столе. Справа карта всех сделок дела: жёлтая граница Парето, красная точка — ваша сделка.</a:t>
            </a:r>
            <a:endParaRPr lang="ru-RU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34111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16 приёмов, у каждого цитата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552647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Нейросеть ищет в реплике приёмы из закрытого списка. Без цитаты приём не засчитывается, правила-регулярки перепроверяют.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Одна мерка для всех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418716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Разметка идёт при температуре 0 и кэшируется, в движке нет случайности. Та же история ходов даёт тот же разбор байт в байт.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Проверили пересказом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374652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Те же ходы другими словами: 72 и 72 очка, Парето 100%, доверие 61 и 62. Оценки «7 из 10» от нейросети нет.</a:t>
            </a:r>
            <a:endParaRPr lang="ru-RU" sz="1150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7472" y="1417320"/>
          <a:ext cx="576072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92048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СЧИТАЕМ ПОВЕДЕНИЕ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1480" y="1051560"/>
            <a:ext cx="566928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FFFF"/>
                </a:solidFill>
              </a:rPr>
              <a:t>Что сильные переговорщики делают чаще средних, % высказываний</a:t>
            </a:r>
            <a:endParaRPr lang="ru-RU" sz="12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11480" y="5852160"/>
            <a:ext cx="566928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FFD6E3"/>
                </a:solidFill>
              </a:rPr>
              <a:t>Rackham &amp; Carlisle, 1978: 49 переговорщиков, 103 реальные сессии. Этот профиль — эталон в разборе и на доске команды.</a:t>
            </a:r>
            <a:endParaRPr lang="ru-RU" sz="1000" dirty="0">
              <a:solidFill>
                <a:srgbClr val="FFD6E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422300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arena-peregovorov.ru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arena-peregovorov.ru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224528"/>
            <a:ext cx="4121687" cy="19202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Своё дело за 10–20 секунд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Сфера, ваша роль, кто напротив и чего добивается, характер и сложность. Историю пишет нейросеть, таблицы очков строит движок и проверяет, что договориться можно и есть что обменять.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224528"/>
            <a:ext cx="4121687" cy="19202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Доска команды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Руководитель выбирает дело и шлёт ссылку в рабочий чат. На доске очки каждого против запасного варианта, Парето, доверие, финалы и типичные ошибки команды. Есть выгрузка в CSV.</a:t>
            </a:r>
            <a:endParaRPr lang="ru-RU" sz="1200" dirty="0">
              <a:solidFill>
                <a:schemeClr val="tx1"/>
              </a:solidFill>
            </a:endParaRPr>
          </a:p>
        </p:txBody>
      </p:sp>
      <p:pic>
        <p:nvPicPr>
          <p:cNvPr id="5" name="Рисунок 4" descr="p_form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3" r="3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p_board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50" b="50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80238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КАБИНЕТ РУКОВОДИТЕЛЯ</a:t>
            </a:r>
            <a:endParaRPr lang="ru-RU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4604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460993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Движок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решает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62996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Нейросеть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читает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2021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1. Разметка реплики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YandexGPT 5.1 находит в реплике игрока приёмы из списка в 16, сделанное предложение и нарушения тона. Температура 0, ответ кэшируется по хэшу реплики.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10017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2. Решение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Движок сдвигает доверие и напряжение и выбирает одно из шести действий. Уступает по кривой Faratin (1998) и никогда не опускается ниже своей альтернативы.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8012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3. Ответ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Модель пишет реплику в характере персонажа, SpeechKit озвучивает её живым голосом. Если модель думает дольше секунды, звучит фраза-пауза. Реплику, которая спорит с движком, выбрасываем.</a:t>
            </a:r>
            <a:endParaRPr lang="ru-RU" sz="1200" dirty="0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26036" y="2011680"/>
            <a:ext cx="2434957" cy="0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58988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Нейросеть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говорит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272542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УСТРОЕН ХОД</a:t>
            </a:r>
            <a:endParaRPr lang="ru-RU" sz="2000" b="1" dirty="0">
              <a:solidFill>
                <a:srgbClr val="FFFFFF"/>
              </a:solidFill>
            </a:endParaRP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924033" y="2011680"/>
            <a:ext cx="2434955" cy="0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74861" y="5504688"/>
            <a:ext cx="361188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Почему Яндекс. </a:t>
            </a:r>
            <a:r>
              <a:rPr lang="ru-RU" sz="1100" dirty="0">
                <a:solidFill>
                  <a:srgbClr val="FFFFFF"/>
                </a:solidFill>
              </a:rPr>
              <a:t>Работает из России и оплачивается в рублях. OpenAI и Anthropic с нашего сервера отвечают 403.</a:t>
            </a:r>
            <a:endParaRPr lang="ru-RU" sz="1100" dirty="0">
              <a:solidFill>
                <a:srgbClr val="FFFFFF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372857" y="5504688"/>
            <a:ext cx="361188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Офлайн. </a:t>
            </a:r>
            <a:r>
              <a:rPr lang="ru-RU" sz="1100" dirty="0">
                <a:solidFill>
                  <a:srgbClr val="FFFFFF"/>
                </a:solidFill>
              </a:rPr>
              <a:t>Нет ключа или модель молчит 25 секунд — ход доигрывают правила и заготовки, игра не встаёт.</a:t>
            </a:r>
            <a:endParaRPr lang="ru-RU" sz="1100" dirty="0">
              <a:solidFill>
                <a:srgbClr val="FFFFFF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270853" y="5504688"/>
            <a:ext cx="301752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Бюджет. </a:t>
            </a:r>
            <a:r>
              <a:rPr lang="ru-RU" sz="1100" dirty="0">
                <a:solidFill>
                  <a:srgbClr val="FFFFFF"/>
                </a:solidFill>
              </a:rPr>
              <a:t>Общий лимит 6000 ₽ на нейросеть и голос: с 80% включается YandexGPT Lite, со 100% — офлайн. Автотестов 314+.</a:t>
            </a:r>
            <a:endParaRPr lang="ru-RU" sz="11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568731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286000"/>
            <a:ext cx="237744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Уже работает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3 деловых дела и сюжет из 7 глав с катсценами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своё дело по форме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3D-встреча и классический 2D-вид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живой голос, фразы-паузы, голосовой ввод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разбор с картой сделок и перемоткой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кабинет руководителя, доска, CSV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режим «Для жюри», офлайн, телефон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286000"/>
            <a:ext cx="2377440" cy="403756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Пока нет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аккаунтов: доска открывается по секретной ссылке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ручного редактора таблиц очков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переговоров человека с человеком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выгрузки в LMS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286000"/>
            <a:ext cx="2377440" cy="403913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1–3 месяца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динамика отдела по неделям и сравнение тренировок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редактор дела для L&amp;D: пункты, веса, запасные варианты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наборы дел под отделы резидентов ОЭЗ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аккаунты и вход через корпоративный SSO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286000"/>
            <a:ext cx="237744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3–12 месяцев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выгрузка в LMS: xAPI, SCORM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режим «команда против команды»: человек с человеком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кабинет преподавателя для колледжей и вузов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поставка на сервер компании с поддержкой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5" y="324562"/>
            <a:ext cx="526669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ГРАНИЦЫ MVP И ДОРОЖНАЯ КАРТА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01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914400" cy="403756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02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914400" cy="403913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03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04</a:t>
            </a:r>
            <a:endParaRPr lang="ru-RU" sz="22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s16_title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27" b="27"/>
          <a:stretch>
            <a:fillRect/>
          </a:stretch>
        </p:blipFill>
        <p:spPr>
          <a:xfrm>
            <a:off x="4068417" y="1187395"/>
            <a:ext cx="3988905" cy="3000292"/>
          </a:xfr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Ссылка для жюри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arena-peregovorov.ru, на титуле — «Для жюри». Доступ — в описании решения.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Запасной вход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Логин и пароль — в описании решения. Работает в браузере на ноутбуке и телефоне.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Код и запуск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github.com/57lol/arena-peregovorov, репозиторий публичный. npm ci и npm run dev — без ключей игра работает офлайн.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293" y="324562"/>
            <a:ext cx="93218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ДЕМО</a:t>
            </a:r>
            <a:endParaRPr lang="ru-RU" sz="2000" b="1" dirty="0">
              <a:solidFill>
                <a:srgbClr val="FFFFFF"/>
              </a:solidFill>
            </a:endParaRPr>
          </a:p>
        </p:txBody>
      </p:sp>
      <p:pic>
        <p:nvPicPr>
          <p:cNvPr id="13" name="Picture 12" descr="qr_publ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960120"/>
            <a:ext cx="2240280" cy="2240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41080" y="3310128"/>
            <a:ext cx="3246120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1"/>
                </a:solidFill>
              </a:rPr>
              <a:t>arena-peregovorov.ru</a:t>
            </a:r>
            <a:endParaRPr lang="ru-RU" sz="1600" b="1" dirty="0">
              <a:solidFill>
                <a:schemeClr val="accent1"/>
              </a:solidFill>
            </a:endParaRP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4A4453"/>
                </a:solidFill>
              </a:rPr>
              <a:t>наведите камеру телефона</a:t>
            </a:r>
            <a:endParaRPr lang="ru-RU" sz="1100" dirty="0">
              <a:solidFill>
                <a:srgbClr val="4A4453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1234440"/>
            <a:ext cx="3108960" cy="3108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5"/>
                </a:solidFill>
              </a:rPr>
              <a:t>Проверка за 5 минут</a:t>
            </a:r>
            <a:endParaRPr lang="ru-RU" sz="22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Титул → «Для жюри» → Настроить → Провести → Разбор → Команда. Сюжет и катсцены — по желанию.</a:t>
            </a: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100" i="1" dirty="0">
                <a:solidFill>
                  <a:srgbClr val="4A4453"/>
                </a:solidFill>
              </a:rPr>
              <a:t>Сайт закрыт, чтобы посторонние не выжигали лимит нейросети.</a:t>
            </a:r>
            <a:endParaRPr lang="ru-RU" sz="1100" i="1" dirty="0">
              <a:solidFill>
                <a:srgbClr val="4A44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460400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418337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ПРОВЕРИТЬ ЗА 5 МИНУТ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02920" y="1115568"/>
            <a:ext cx="6492240" cy="7315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accent5"/>
                </a:solidFill>
              </a:rPr>
              <a:t>Маршрут</a:t>
            </a:r>
            <a:endParaRPr lang="ru-RU" sz="1800" b="1" dirty="0">
              <a:solidFill>
                <a:schemeClr val="accent5"/>
              </a:solidFill>
            </a:endParaRPr>
          </a:p>
          <a:p>
            <a:pPr marL="0" indent="0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>Титул → «Для жюри» → Настроить → Провести → Разбор → Команда</a:t>
            </a:r>
            <a:endParaRPr lang="ru-RU" sz="1300" b="1" dirty="0">
              <a:solidFill>
                <a:schemeClr val="accent1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02920" y="205740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205740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1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80160" y="201168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«Настроить» </a:t>
            </a:r>
            <a:r>
              <a:rPr lang="ru-RU" sz="1250" dirty="0">
                <a:solidFill>
                  <a:schemeClr val="tx1"/>
                </a:solidFill>
              </a:rPr>
              <a:t>своё дело по форме: сфера, роли и цели сторон, характер собеседника. Историю пишет нейросеть, таблицы очков строит движок.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02920" y="280720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2807208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2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280160" y="2761488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«Провести» </a:t>
            </a:r>
            <a:r>
              <a:rPr lang="ru-RU" sz="1250" dirty="0">
                <a:solidFill>
                  <a:schemeClr val="tx1"/>
                </a:solidFill>
              </a:rPr>
              <a:t>встреча по делу «Тара к запуску»: 10–12 реплик текстом или голосом, собеседник отвечает вслух.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02920" y="3557015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3557015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3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280160" y="3511296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«Разбор» </a:t>
            </a:r>
            <a:r>
              <a:rPr lang="ru-RU" sz="1250" dirty="0">
                <a:solidFill>
                  <a:schemeClr val="tx1"/>
                </a:solidFill>
              </a:rPr>
              <a:t>готовая встреча, которую движок сыграл за секунду: итог, карта сделок, перемотка с ключевого хода.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02920" y="4306824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4306824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4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280160" y="4261104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«Команда» </a:t>
            </a:r>
            <a:r>
              <a:rPr lang="ru-RU" sz="1250" dirty="0">
                <a:solidFill>
                  <a:schemeClr val="tx1"/>
                </a:solidFill>
              </a:rPr>
              <a:t>кабинет руководителя: ссылка для команды и доска результатов с выгрузкой в CSV.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02920" y="5138928"/>
            <a:ext cx="644652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b="1" dirty="0">
                <a:solidFill>
                  <a:schemeClr val="accent1"/>
                </a:solidFill>
              </a:rPr>
              <a:t xml:space="preserve">По желанию: </a:t>
            </a:r>
            <a:r>
              <a:rPr lang="ru-RU" sz="1250" dirty="0">
                <a:solidFill>
                  <a:schemeClr val="tx1"/>
                </a:solidFill>
              </a:rPr>
              <a:t>«Сюжет» на титуле — неделя новенького с катсценами; все ролики — в галерее «Катсцены».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315200" y="1188720"/>
            <a:ext cx="452628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qr_publ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371600"/>
            <a:ext cx="2057400" cy="20574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7452360" y="3566160"/>
            <a:ext cx="4251960" cy="1920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Режим для жюри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1"/>
                </a:solidFill>
              </a:rPr>
              <a:t>arena-peregovorov.ru</a:t>
            </a:r>
            <a:endParaRPr lang="ru-RU" sz="1200" b="1" dirty="0">
              <a:solidFill>
                <a:schemeClr val="accent1"/>
              </a:solidFill>
            </a:endParaRPr>
          </a:p>
          <a:p>
            <a:pPr marL="0" indent="0" algn="ctr">
              <a:spcBef>
                <a:spcPts val="9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tx1"/>
                </a:solidFill>
              </a:rPr>
              <a:t>Доступ — в описании решения</a:t>
            </a:r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589520" y="4754880"/>
            <a:ext cx="3977639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Если собеседник отвечает заготовками — исчерпан демо-бюджет нейросети (6000 ₽). Игра, разбор и оценка работают так же, в игре об этом есть плашка.</a:t>
            </a:r>
            <a:endParaRPr lang="ru-RU" sz="1000" i="1" dirty="0">
              <a:solidFill>
                <a:srgbClr val="6B6475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02920" y="5760720"/>
            <a:ext cx="539496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Код: </a:t>
            </a:r>
            <a:r>
              <a:rPr lang="ru-RU" sz="1100" dirty="0">
                <a:solidFill>
                  <a:schemeClr val="tx1"/>
                </a:solidFill>
              </a:rPr>
              <a:t>github.com/57lol/arena-peregovorov, репозиторий публичный. Локально: npm ci и npm run dev, без ключей игра работает офлайн.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172200" y="5760720"/>
            <a:ext cx="512064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Почему сайт закрыт: </a:t>
            </a:r>
            <a:r>
              <a:rPr lang="ru-RU" sz="1100" dirty="0">
                <a:solidFill>
                  <a:schemeClr val="tx1"/>
                </a:solidFill>
              </a:rPr>
              <a:t>чтобы посторонние не выжигали лимит нейросети. Доступ для экспертов — в описании решения.</a:t>
            </a:r>
            <a:endParaRPr lang="ru-RU" sz="11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8368" y="1664208"/>
            <a:ext cx="4754880" cy="1737360"/>
          </a:xfrm>
          <a:noFill/>
          <a:ln>
            <a:noFill/>
          </a:ln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Собеседник говорит вслух</a:t>
            </a:r>
            <a:endParaRPr lang="ru-RU" sz="20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Ответ озвучивает Yandex SpeechKit. У каждого персонажа свой голос, а эмоция из движка меняет подачу: довольный говорит теплее, раздражённый строже.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Фразы-паузы   </a:t>
            </a:r>
            <a:r>
              <a:rPr lang="ru-RU" sz="1250" dirty="0">
                <a:solidFill>
                  <a:schemeClr val="tx1"/>
                </a:solidFill>
              </a:rPr>
              <a:t>если ответ дольше секунды, собеседник говорит «Хм, секунду» или «Сейчас прикину»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Голосовой ввод   </a:t>
            </a:r>
            <a:r>
              <a:rPr lang="ru-RU" sz="1250" dirty="0">
                <a:solidFill>
                  <a:schemeClr val="tx1"/>
                </a:solidFill>
              </a:rPr>
              <a:t>речь распознаёт SpeechKit, текст можно поправить перед отправкой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Музыка   </a:t>
            </a:r>
            <a:r>
              <a:rPr lang="ru-RU" sz="1250" dirty="0">
                <a:solidFill>
                  <a:schemeClr val="tx1"/>
                </a:solidFill>
              </a:rPr>
              <a:t>три темы: титул, карта и катсцены. Всё под CC0, авторы указаны в LICENSES.md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Фон комнат   </a:t>
            </a:r>
            <a:r>
              <a:rPr lang="ru-RU" sz="1250" dirty="0">
                <a:solidFill>
                  <a:schemeClr val="tx1"/>
                </a:solidFill>
              </a:rPr>
              <a:t>офис, цех, магазин, улица, общага и автобус, плюс шаги и шелест бумаг, тоже CC0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Лаборатория   </a:t>
            </a:r>
            <a:r>
              <a:rPr lang="ru-RU" sz="1250" dirty="0">
                <a:solidFill>
                  <a:schemeClr val="tx1"/>
                </a:solidFill>
              </a:rPr>
              <a:t>/?lab: те же дела, но собеседника ведёт другая модель (Lite, GPT, Claude, GigaChat) и другой голос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1948" y="324562"/>
            <a:ext cx="213487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ГОЛОС И ЗВУК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6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36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живых голосов livetts, самой «живой» модели SpeechKit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12724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9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2724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фраз-пауз на каждый голос: записаны заранее и звучат без задержки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394960"/>
            <a:ext cx="4754880" cy="5486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Нейросеть и голос делят общий лимит 6000 ₽: с 80% включается YandexGPT Lite, со 100% — офлайн</a:t>
            </a:r>
            <a:endParaRPr lang="ru-RU" sz="1000" i="1" dirty="0">
              <a:solidFill>
                <a:srgbClr val="6B6475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3" y="324562"/>
            <a:ext cx="256032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ДЕМО: 3 МИНУТЫ</a:t>
            </a:r>
            <a:endParaRPr lang="ru-RU" sz="2000" b="1" dirty="0">
              <a:solidFill>
                <a:srgbClr val="FFFFFF"/>
              </a:solidFill>
            </a:endParaRPr>
          </a:p>
        </p:txBody>
      </p:sp>
      <p:pic>
        <p:nvPicPr>
          <p:cNvPr id="56" name="Picture 55" descr="screencast_poster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88720"/>
            <a:ext cx="7178040" cy="4037647"/>
          </a:xfrm>
          <a:prstGeom prst="rect">
            <a:avLst/>
          </a:prstGeom>
          <a:ln w="9525">
            <a:solidFill>
              <a:srgbClr val="D9D4E0"/>
            </a:solidFill>
          </a:ln>
        </p:spPr>
      </p:pic>
      <p:sp>
        <p:nvSpPr>
          <p:cNvPr id="57" name="TextBox 56"/>
          <p:cNvSpPr txBox="1"/>
          <p:nvPr/>
        </p:nvSpPr>
        <p:spPr>
          <a:xfrm>
            <a:off x="502920" y="5409247"/>
            <a:ext cx="7178040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  <a:hlinkClick r:id="rId4"/>
              </a:rPr>
              <a:t xml:space="preserve">Смотреть ролик: </a:t>
            </a:r>
            <a:r>
              <a:rPr lang="ru-RU" sz="1400" b="1" dirty="0">
                <a:solidFill>
                  <a:schemeClr val="accent1"/>
                </a:solidFill>
                <a:hlinkClick r:id="rId4"/>
              </a:rPr>
              <a:t>arena-peregovorov.ru/screencast.mp4</a:t>
            </a:r>
            <a:endParaRPr lang="ru-RU" sz="1400" b="1" dirty="0">
              <a:solidFill>
                <a:schemeClr val="accent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4A4453"/>
                </a:solidFill>
              </a:rPr>
              <a:t>3 минуты, со звуком. Здесь кадр из ролика: откройте ссылку или QR.</a:t>
            </a:r>
            <a:endParaRPr lang="ru-RU" sz="1100" dirty="0">
              <a:solidFill>
                <a:srgbClr val="4A4453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6B6475"/>
                </a:solidFill>
              </a:rPr>
              <a:t xml:space="preserve">Запасная ссылка: </a:t>
            </a:r>
            <a:r>
              <a:rPr lang="ru-RU" sz="900" dirty="0">
                <a:solidFill>
                  <a:srgbClr val="6B6475"/>
                </a:solidFill>
                <a:hlinkClick r:id="rId5"/>
              </a:rPr>
              <a:t>github.com/57lol/arena-peregovorov/blob/main/media/screencast.mp4</a:t>
            </a:r>
            <a:endParaRPr lang="ru-RU" sz="900" dirty="0">
              <a:solidFill>
                <a:srgbClr val="6B6475"/>
              </a:solidFill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8001000" y="1188720"/>
            <a:ext cx="3840480" cy="4983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0" y="1353312"/>
            <a:ext cx="3429000" cy="2651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Что в ролике</a:t>
            </a:r>
            <a:endParaRPr lang="ru-RU" sz="1600" b="1" dirty="0">
              <a:solidFill>
                <a:schemeClr val="accent5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b="1" dirty="0">
                <a:solidFill>
                  <a:schemeClr val="accent1"/>
                </a:solidFill>
              </a:rPr>
              <a:t xml:space="preserve">Сюжет: </a:t>
            </a:r>
            <a:r>
              <a:rPr lang="ru-RU" sz="1200" dirty="0">
                <a:solidFill>
                  <a:schemeClr val="tx1"/>
                </a:solidFill>
              </a:rPr>
              <a:t>неделя новенького в Алабуге и карта недели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b="1" dirty="0">
                <a:solidFill>
                  <a:schemeClr val="accent1"/>
                </a:solidFill>
              </a:rPr>
              <a:t xml:space="preserve">Настроить: </a:t>
            </a:r>
            <a:r>
              <a:rPr lang="ru-RU" sz="1200" dirty="0">
                <a:solidFill>
                  <a:schemeClr val="tx1"/>
                </a:solidFill>
              </a:rPr>
              <a:t>своё дело по форме — так же, как это сделает жюри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b="1" dirty="0">
                <a:solidFill>
                  <a:schemeClr val="accent1"/>
                </a:solidFill>
              </a:rPr>
              <a:t xml:space="preserve">Встреча в 3D: </a:t>
            </a:r>
            <a:r>
              <a:rPr lang="ru-RU" sz="1200" dirty="0">
                <a:solidFill>
                  <a:schemeClr val="tx1"/>
                </a:solidFill>
              </a:rPr>
              <a:t>разбор хода и «рентген» собеседника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b="1" dirty="0">
                <a:solidFill>
                  <a:schemeClr val="accent1"/>
                </a:solidFill>
              </a:rPr>
              <a:t xml:space="preserve">Разбор: </a:t>
            </a:r>
            <a:r>
              <a:rPr lang="ru-RU" sz="1200" dirty="0">
                <a:solidFill>
                  <a:schemeClr val="tx1"/>
                </a:solidFill>
              </a:rPr>
              <a:t>карта сделок с границей Парето и перемотка с ключевого хода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b="1" dirty="0">
                <a:solidFill>
                  <a:schemeClr val="accent1"/>
                </a:solidFill>
              </a:rPr>
              <a:t xml:space="preserve">Кабинет руководителя: </a:t>
            </a:r>
            <a:r>
              <a:rPr lang="ru-RU" sz="1200" dirty="0">
                <a:solidFill>
                  <a:schemeClr val="tx1"/>
                </a:solidFill>
              </a:rPr>
              <a:t>ссылка для команды и доска результатов</a:t>
            </a:r>
            <a:endParaRPr lang="ru-RU" sz="1200" dirty="0">
              <a:solidFill>
                <a:schemeClr val="tx1"/>
              </a:solidFill>
            </a:endParaRPr>
          </a:p>
        </p:txBody>
      </p:sp>
      <p:pic>
        <p:nvPicPr>
          <p:cNvPr id="60" name="Picture 59" descr="qr_video.png">
            <a:hlinkClick r:id="rId4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6860" y="3977639"/>
            <a:ext cx="1508760" cy="150876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183879" y="5596128"/>
            <a:ext cx="347472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4A4453"/>
                </a:solidFill>
              </a:rPr>
              <a:t>наведите камеру — ролик откроется в браузере</a:t>
            </a:r>
            <a:endParaRPr lang="ru-RU" sz="1000" dirty="0">
              <a:solidFill>
                <a:srgbClr val="4A4453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73862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240280"/>
            <a:ext cx="2377440" cy="64008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1"/>
                </a:solidFill>
              </a:rPr>
              <a:t>День 1</a:t>
            </a:r>
            <a:endParaRPr lang="ru-RU" sz="1200" b="1" dirty="0">
              <a:solidFill>
                <a:schemeClr val="accent1"/>
              </a:solidFill>
            </a:endParaRPr>
          </a:p>
          <a:p>
            <a:pPr marL="0" indent="0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Настройка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2971800"/>
            <a:ext cx="2377440" cy="310896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50" dirty="0">
                <a:solidFill>
                  <a:schemeClr val="tx1"/>
                </a:solidFill>
              </a:rPr>
              <a:t>L&amp;D или руководитель открывает кабинет</a:t>
            </a:r>
            <a:endParaRPr lang="ru-RU" sz="12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50" dirty="0">
                <a:solidFill>
                  <a:schemeClr val="tx1"/>
                </a:solidFill>
              </a:rPr>
              <a:t>берёт дело из папки или собирает своё под отдел: сфера, роли, характер, сложность</a:t>
            </a:r>
            <a:endParaRPr lang="ru-RU" sz="12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50" dirty="0">
                <a:solidFill>
                  <a:schemeClr val="tx1"/>
                </a:solidFill>
              </a:rPr>
              <a:t>один раз играет его сам</a:t>
            </a:r>
            <a:endParaRPr lang="ru-RU" sz="12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50" dirty="0">
                <a:solidFill>
                  <a:schemeClr val="tx1"/>
                </a:solidFill>
              </a:rPr>
              <a:t>шлёт ссылку в рабочий чат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240280"/>
            <a:ext cx="2377440" cy="64008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1"/>
                </a:solidFill>
              </a:rPr>
              <a:t>Неделя 1</a:t>
            </a:r>
            <a:endParaRPr lang="ru-RU" sz="1200" b="1" dirty="0">
              <a:solidFill>
                <a:schemeClr val="accent1"/>
              </a:solidFill>
            </a:endParaRPr>
          </a:p>
          <a:p>
            <a:pPr marL="0" indent="0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Первые попытки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2971800"/>
            <a:ext cx="2377440" cy="310896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50" dirty="0">
                <a:solidFill>
                  <a:schemeClr val="tx1"/>
                </a:solidFill>
              </a:rPr>
              <a:t>каждый играет 10–15 минут с телефона, без установки и аккаунта</a:t>
            </a:r>
            <a:endParaRPr lang="ru-RU" sz="12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50" dirty="0">
                <a:solidFill>
                  <a:schemeClr val="tx1"/>
                </a:solidFill>
              </a:rPr>
              <a:t>две-три партии на человека: это замер «до»</a:t>
            </a:r>
            <a:endParaRPr lang="ru-RU" sz="12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50" dirty="0">
                <a:solidFill>
                  <a:schemeClr val="tx1"/>
                </a:solidFill>
              </a:rPr>
              <a:t>после партии разбор своих фраз и переигровка с ключевого хода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240280"/>
            <a:ext cx="2377440" cy="64008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1"/>
                </a:solidFill>
              </a:rPr>
              <a:t>Недели 2–3</a:t>
            </a:r>
            <a:endParaRPr lang="ru-RU" sz="1200" b="1" dirty="0">
              <a:solidFill>
                <a:schemeClr val="accent1"/>
              </a:solidFill>
            </a:endParaRPr>
          </a:p>
          <a:p>
            <a:pPr marL="0" indent="0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Разбор и нагрузка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2971800"/>
            <a:ext cx="2377440" cy="310896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50" dirty="0">
                <a:solidFill>
                  <a:schemeClr val="tx1"/>
                </a:solidFill>
              </a:rPr>
              <a:t>руководитель смотрит доску: кто согласился хуже запасного варианта, Парето, типичные ошибки</a:t>
            </a:r>
            <a:endParaRPr lang="ru-RU" sz="12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50" dirty="0">
                <a:solidFill>
                  <a:schemeClr val="tx1"/>
                </a:solidFill>
              </a:rPr>
              <a:t>20 минут на планёрке: «Сделка недели» и лучшие ходы с доски</a:t>
            </a:r>
            <a:endParaRPr lang="ru-RU" sz="12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50" dirty="0">
                <a:solidFill>
                  <a:schemeClr val="tx1"/>
                </a:solidFill>
              </a:rPr>
              <a:t>дальше жёсткая версия или другой характер собеседника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240280"/>
            <a:ext cx="2377440" cy="64008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1"/>
                </a:solidFill>
              </a:rPr>
              <a:t>Неделя 4</a:t>
            </a:r>
            <a:endParaRPr lang="ru-RU" sz="1200" b="1" dirty="0">
              <a:solidFill>
                <a:schemeClr val="accent1"/>
              </a:solidFill>
            </a:endParaRPr>
          </a:p>
          <a:p>
            <a:pPr marL="0" indent="0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Замер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2971800"/>
            <a:ext cx="2377440" cy="310896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50" dirty="0">
                <a:solidFill>
                  <a:schemeClr val="tx1"/>
                </a:solidFill>
              </a:rPr>
              <a:t>то же дело ещё раз: это замер «после»</a:t>
            </a:r>
            <a:endParaRPr lang="ru-RU" sz="12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50" dirty="0">
                <a:solidFill>
                  <a:schemeClr val="tx1"/>
                </a:solidFill>
              </a:rPr>
              <a:t>на доске первая, лучшая и последняя попытка каждого</a:t>
            </a:r>
            <a:endParaRPr lang="ru-RU" sz="12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50" dirty="0">
                <a:solidFill>
                  <a:schemeClr val="tx1"/>
                </a:solidFill>
              </a:rPr>
              <a:t>CSV в отчёт L&amp;D и решение про следующий отдел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5" y="324562"/>
            <a:ext cx="431800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ВНЕДРЯЕМ В КОМПАНИИ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01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914400" cy="403756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02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914400" cy="403913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03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04</a:t>
            </a:r>
            <a:endParaRPr lang="ru-RU" sz="2200" b="1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325880"/>
            <a:ext cx="3399397" cy="42062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325880"/>
            <a:ext cx="3248506" cy="42062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325880"/>
            <a:ext cx="3248506" cy="42062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331720"/>
            <a:ext cx="296563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пилот на 4 недели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2834640"/>
            <a:ext cx="2965633" cy="26060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Один отдел, до 30 человек. Нам он обойдётся до 6 000 ₽: 30 человек × 10 партий × до 19 ₽ на нейросеть и голос.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331720"/>
            <a:ext cx="3034896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за место в месяц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2834640"/>
            <a:ext cx="3034896" cy="26060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Подписка для резидентов и компаний: все дела, своё дело, доска и CSV. При 10 партиях в месяц себестоимость 80–190 ₽, валовая маржа 65–85%. Цена и маржа — наша оценка.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331720"/>
            <a:ext cx="294546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своя установка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2834640"/>
            <a:ext cx="2945464" cy="26060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Для Алабуги и крупных резидентов: сервер в контуре компании (Docker), свой ключ Yandex Cloud, наборы дел под отделы. Установка, поддержка и дела — по договору.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7200"/>
            <a:ext cx="6309360" cy="438912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МОДЕЛЬ И ЭКОНОМИКА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463040"/>
            <a:ext cx="2926080" cy="77724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chemeClr val="accent1"/>
                </a:solidFill>
              </a:rPr>
              <a:t>0 ₽</a:t>
            </a:r>
            <a:endParaRPr lang="ru-RU" sz="40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463040"/>
            <a:ext cx="2926080" cy="77724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chemeClr val="accent1"/>
                </a:solidFill>
              </a:rPr>
              <a:t>590 ₽</a:t>
            </a:r>
            <a:endParaRPr lang="ru-RU" sz="40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463040"/>
            <a:ext cx="2926080" cy="77724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chemeClr val="accent1"/>
                </a:solidFill>
              </a:rPr>
              <a:t>Договор</a:t>
            </a:r>
            <a:endParaRPr lang="ru-RU" sz="4000" b="1" dirty="0">
              <a:solidFill>
                <a:schemeClr val="accent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21792" y="566928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Для сравнения: </a:t>
            </a:r>
            <a:r>
              <a:rPr lang="ru-RU" sz="1200" dirty="0">
                <a:solidFill>
                  <a:schemeClr val="tx1"/>
                </a:solidFill>
              </a:rPr>
              <a:t>двухдневный тренинг по переговорам стоит 43 000 ₽ + НДС на человека (Академия бизнеса Б1). Это шесть лет подписки на одно место. Себестоимость партии — по счётчику расходов на проде.</a:t>
            </a:r>
            <a:endParaRPr lang="ru-RU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22224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8368" y="1572768"/>
            <a:ext cx="4754880" cy="1737360"/>
          </a:xfrm>
          <a:noFill/>
          <a:ln>
            <a:noFill/>
          </a:ln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Пилот: 4 недели</a:t>
            </a:r>
            <a:endParaRPr lang="ru-RU" sz="20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Один отдел резидента ОЭЗ или группа новичков, 20–30 человек. Меряем по доске и CSV: там первая, лучшая и последняя попытка каждого и средний прирост очков при переигровке.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Вовлечённость   </a:t>
            </a:r>
            <a:r>
              <a:rPr lang="ru-RU" sz="1250" dirty="0">
                <a:solidFill>
                  <a:schemeClr val="tx1"/>
                </a:solidFill>
              </a:rPr>
              <a:t>кто сыграл и сколько партий на человека в неделю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Сделка   </a:t>
            </a:r>
            <a:r>
              <a:rPr lang="ru-RU" sz="1250" dirty="0">
                <a:solidFill>
                  <a:schemeClr val="tx1"/>
                </a:solidFill>
              </a:rPr>
              <a:t>доля сделок хуже запасного варианта и средний Парето: первая попытка против последней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Интересы   </a:t>
            </a:r>
            <a:r>
              <a:rPr lang="ru-RU" sz="1250" dirty="0">
                <a:solidFill>
                  <a:schemeClr val="tx1"/>
                </a:solidFill>
              </a:rPr>
              <a:t>сколько интересов собеседника раскрыли и как часто о них спрашивали, против эталона Rackham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Отношения   </a:t>
            </a:r>
            <a:r>
              <a:rPr lang="ru-RU" sz="1250" dirty="0">
                <a:solidFill>
                  <a:schemeClr val="tx1"/>
                </a:solidFill>
              </a:rPr>
              <a:t>с каким доверием собеседник уходит со встречи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Решение   </a:t>
            </a:r>
            <a:r>
              <a:rPr lang="ru-RU" sz="1250" dirty="0">
                <a:solidFill>
                  <a:schemeClr val="tx1"/>
                </a:solidFill>
              </a:rPr>
              <a:t>руководитель продлевает и зовёт второй отдел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280162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ПИЛОТ И МЕТРИКИ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60%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36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участников сыграли три партии и больше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12724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×2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2724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реже соглашаются хуже запасного варианта к последней попытке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394960"/>
            <a:ext cx="4754880" cy="5486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Это наши цели на пилот, а не измеренный результат. Проверим их на первом отделе.</a:t>
            </a:r>
            <a:endParaRPr lang="ru-RU" sz="1000" i="1" dirty="0">
              <a:solidFill>
                <a:srgbClr val="6B6475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5"/>
                </a:solidFill>
              </a:rPr>
              <a:t>Почему Алабуга</a:t>
            </a:r>
            <a:endParaRPr lang="ru-RU" sz="2200" b="1" dirty="0">
              <a:solidFill>
                <a:schemeClr val="accent5"/>
              </a:solidFill>
            </a:endParaRPr>
          </a:p>
        </p:txBody>
      </p:sp>
      <p:pic>
        <p:nvPicPr>
          <p:cNvPr id="4" name="Рисунок 3" descr="p_why_map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11" r="11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097280"/>
            <a:ext cx="4807840" cy="5349240"/>
          </a:xfrm>
        </p:spPr>
        <p:txBody>
          <a:bodyPr anchor="t" lIns="0" tIns="0" rIns="0" bIns="0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00" b="1" dirty="0">
                <a:solidFill>
                  <a:schemeClr val="accent5"/>
                </a:solidFill>
              </a:rPr>
              <a:t xml:space="preserve">Людей много и они новые. </a:t>
            </a:r>
            <a:r>
              <a:rPr lang="ru-RU" sz="1100" dirty="0">
                <a:solidFill>
                  <a:schemeClr val="tx1"/>
                </a:solidFill>
              </a:rPr>
              <a:t>За девять месяцев 2025 года в ОЭЗ создали 11 тыс. рабочих мест, к концу года в ней 72 резидента. Новичкам нужна адаптация, закупкам и продажам — переговоры каждую неделю.</a:t>
            </a:r>
            <a:endParaRPr lang="ru-RU" sz="11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00" b="1" dirty="0">
                <a:solidFill>
                  <a:schemeClr val="accent5"/>
                </a:solidFill>
              </a:rPr>
              <a:t xml:space="preserve">Дела из их жизни. </a:t>
            </a:r>
            <a:r>
              <a:rPr lang="ru-RU" sz="1100" dirty="0">
                <a:solidFill>
                  <a:schemeClr val="tx1"/>
                </a:solidFill>
              </a:rPr>
              <a:t>Тара к запуску линии, оффер робототехнику, клиент уходит к китайскому поставщику. Сюжет «Новенький» — первая неделя в Елабуге и ОЭЗ.</a:t>
            </a:r>
            <a:endParaRPr lang="ru-RU" sz="11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00" b="1" dirty="0">
                <a:solidFill>
                  <a:schemeClr val="accent5"/>
                </a:solidFill>
              </a:rPr>
              <a:t xml:space="preserve">Учить они уже умеют. </a:t>
            </a:r>
            <a:r>
              <a:rPr lang="ru-RU" sz="1100" dirty="0">
                <a:solidFill>
                  <a:schemeClr val="tx1"/>
                </a:solidFill>
              </a:rPr>
              <a:t>Алабуга Политех учит по дуальной модели, корпоративный университет ОЭЗ строил программу на кейсах и деловых играх. Мы добавляем практику между занятиями и цифры на доске.</a:t>
            </a:r>
            <a:endParaRPr lang="ru-RU" sz="11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5"/>
                </a:solidFill>
              </a:rPr>
              <a:t>Как выходим на рынок</a:t>
            </a:r>
            <a:endParaRPr lang="ru-RU" sz="1300" b="1" dirty="0">
              <a:solidFill>
                <a:schemeClr val="accent5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1. </a:t>
            </a:r>
            <a:r>
              <a:rPr lang="ru-RU" sz="1100" dirty="0">
                <a:solidFill>
                  <a:schemeClr val="tx1"/>
                </a:solidFill>
              </a:rPr>
              <a:t>Пилот в одном отделе резидента или в группе новичков.</a:t>
            </a:r>
            <a:endParaRPr lang="ru-RU" sz="11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2. </a:t>
            </a:r>
            <a:r>
              <a:rPr lang="ru-RU" sz="1100" dirty="0">
                <a:solidFill>
                  <a:schemeClr val="tx1"/>
                </a:solidFill>
              </a:rPr>
              <a:t>Через управляющую компанию ОЭЗ — остальным резидентам: один договор, общая папка дел.</a:t>
            </a:r>
            <a:endParaRPr lang="ru-RU" sz="11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3. </a:t>
            </a:r>
            <a:r>
              <a:rPr lang="ru-RU" sz="1100" dirty="0">
                <a:solidFill>
                  <a:schemeClr val="tx1"/>
                </a:solidFill>
              </a:rPr>
              <a:t>Политех и корпоративное обучение: сюжет «Новенький» в программе.</a:t>
            </a:r>
            <a:endParaRPr lang="ru-RU" sz="11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4. </a:t>
            </a:r>
            <a:r>
              <a:rPr lang="ru-RU" sz="1100" dirty="0">
                <a:solidFill>
                  <a:schemeClr val="tx1"/>
                </a:solidFill>
              </a:rPr>
              <a:t>С результатами пилота — к заводам и корпоративным университетам вне ОЭЗ.</a:t>
            </a:r>
            <a:endParaRPr lang="ru-RU" sz="11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Продвижение: </a:t>
            </a:r>
            <a:r>
              <a:rPr lang="ru-RU" sz="1100" dirty="0">
                <a:solidFill>
                  <a:schemeClr val="tx1"/>
                </a:solidFill>
              </a:rPr>
              <a:t>«Сделка недели» в рабочем чате, открытое демо-дело на сайте, тренинговые компании дают тренажёр как домашку между сессиями.</a:t>
            </a:r>
            <a:endParaRPr lang="ru-RU" sz="11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6B6475"/>
                </a:solidFill>
              </a:rPr>
              <a:t>ТАСС и «Реальное время» (2025), TAdviser, polytech.alabuga.ru, mert.tatarstan.ru</a:t>
            </a:r>
            <a:endParaRPr lang="ru-RU" sz="850" i="1" dirty="0">
              <a:solidFill>
                <a:srgbClr val="6B6475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2" name="Rounded Rectangle 21"/>
          <p:cNvSpPr/>
          <p:nvPr/>
        </p:nvSpPr>
        <p:spPr>
          <a:xfrm>
            <a:off x="7315200" y="1024128"/>
            <a:ext cx="4572000" cy="4983480"/>
          </a:xfrm>
          <a:prstGeom prst="roundRect">
            <a:avLst>
              <a:gd name="adj" fmla="val 6000"/>
            </a:avLst>
          </a:prstGeom>
          <a:solidFill>
            <a:srgbClr val="FF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7200"/>
            <a:ext cx="6309360" cy="438912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РИСКИ И КАК ИХ СНИМАЕМ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48640" y="1600200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Нейросеть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48640" y="2468880"/>
            <a:ext cx="3017520" cy="87782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Данные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48640" y="3346704"/>
            <a:ext cx="3017520" cy="83210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«Это же игра»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8640" y="4178808"/>
            <a:ext cx="3017520" cy="86867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Страх оценки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8640" y="5047488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Перенос в работу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3320" y="1143000"/>
            <a:ext cx="338328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6B6475"/>
                </a:solidFill>
              </a:rPr>
              <a:t>Что может пойти не так</a:t>
            </a:r>
            <a:endParaRPr lang="ru-RU" sz="1400" b="1" dirty="0">
              <a:solidFill>
                <a:srgbClr val="6B6475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543800" y="1143000"/>
            <a:ext cx="420624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1"/>
                </a:solidFill>
              </a:rPr>
              <a:t>Как снимаем</a:t>
            </a:r>
            <a:endParaRPr lang="ru-RU" sz="1600" b="1" dirty="0">
              <a:solidFill>
                <a:schemeClr val="accent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703320" y="1600200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4A4453"/>
                </a:solidFill>
              </a:rPr>
              <a:t>модель недоступна или подорожала</a:t>
            </a:r>
            <a:endParaRPr lang="ru-RU" sz="1300" dirty="0">
              <a:solidFill>
                <a:srgbClr val="4A4453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543800" y="1600200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b="1" dirty="0">
                <a:solidFill>
                  <a:schemeClr val="tx1"/>
                </a:solidFill>
              </a:rPr>
              <a:t>итог считает движок, а не модель. Без ключа игра работает офлайн, у бюджета есть потолок</a:t>
            </a:r>
            <a:endParaRPr lang="ru-RU" sz="1250" b="1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703320" y="2468880"/>
            <a:ext cx="338328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4A4453"/>
                </a:solidFill>
              </a:rPr>
              <a:t>безопасность не пустит реплики во внешнее облако</a:t>
            </a:r>
            <a:endParaRPr lang="ru-RU" sz="1300" dirty="0">
              <a:solidFill>
                <a:srgbClr val="4A4453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543800" y="2468880"/>
            <a:ext cx="416052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b="1" dirty="0">
                <a:solidFill>
                  <a:schemeClr val="tx1"/>
                </a:solidFill>
              </a:rPr>
              <a:t>Yandex Cloud в России, установка на сервер компании через Docker</a:t>
            </a:r>
            <a:endParaRPr lang="ru-RU" sz="1250" b="1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703320" y="3346704"/>
            <a:ext cx="338328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4A4453"/>
                </a:solidFill>
              </a:rPr>
              <a:t>руководитель сочтёт пиксели несерьёзными</a:t>
            </a:r>
            <a:endParaRPr lang="ru-RU" sz="1300" dirty="0">
              <a:solidFill>
                <a:srgbClr val="4A4453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43800" y="3346704"/>
            <a:ext cx="416052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b="1" dirty="0">
                <a:solidFill>
                  <a:schemeClr val="tx1"/>
                </a:solidFill>
              </a:rPr>
              <a:t>деловые дела открыты сразу, сюжет по желанию, на доске очки, Парето и CSV</a:t>
            </a:r>
            <a:endParaRPr lang="ru-RU" sz="1250" b="1" dirty="0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703320" y="4178808"/>
            <a:ext cx="338328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4A4453"/>
                </a:solidFill>
              </a:rPr>
              <a:t>сотрудники решат, что доска — это аттестация</a:t>
            </a:r>
            <a:endParaRPr lang="ru-RU" sz="1300" dirty="0">
              <a:solidFill>
                <a:srgbClr val="4A4453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543800" y="4178808"/>
            <a:ext cx="416052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b="1" dirty="0">
                <a:solidFill>
                  <a:schemeClr val="tx1"/>
                </a:solidFill>
              </a:rPr>
              <a:t>на пилоте играют под ником, доска нужна для обучения, а не для премий</a:t>
            </a:r>
            <a:endParaRPr lang="ru-RU" sz="1250" b="1" dirty="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703320" y="5047488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4A4453"/>
                </a:solidFill>
              </a:rPr>
              <a:t>в игре научились, а на встрече нет</a:t>
            </a:r>
            <a:endParaRPr lang="ru-RU" sz="1300" dirty="0">
              <a:solidFill>
                <a:srgbClr val="4A4453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543800" y="5047488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b="1" dirty="0">
                <a:solidFill>
                  <a:schemeClr val="tx1"/>
                </a:solidFill>
              </a:rPr>
              <a:t>дела строим по процессам отдела, прирост меряем на пилоте, потом сверяем с реальными сделками</a:t>
            </a:r>
            <a:endParaRPr lang="ru-RU" sz="125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