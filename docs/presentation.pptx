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24"/>
    <p:sldId id="262" r:id="rId21"/>
    <p:sldId id="370" r:id="rId16"/>
    <p:sldId id="272" r:id="rId30"/>
    <p:sldId id="261" r:id="rId20"/>
    <p:sldId id="374" r:id="rId18"/>
    <p:sldId id="373" r:id="rId15"/>
    <p:sldId id="263" r:id="rId22"/>
    <p:sldId id="270" r:id="rId28"/>
    <p:sldId id="268" r:id="rId25"/>
    <p:sldId id="377" r:id="rId23"/>
    <p:sldId id="371" r:id="rId17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2" Type="http://schemas.openxmlformats.org/officeDocument/2006/relationships/slide" Target="slides/slide12.xml"/><Relationship Id="rId23" Type="http://schemas.openxmlformats.org/officeDocument/2006/relationships/slide" Target="slides/slide18.xml"/><Relationship Id="rId24" Type="http://schemas.openxmlformats.org/officeDocument/2006/relationships/slide" Target="slides/slide17.xml"/><Relationship Id="rId25" Type="http://schemas.openxmlformats.org/officeDocument/2006/relationships/slide" Target="slides/slide14.xml"/><Relationship Id="rId27" Type="http://schemas.openxmlformats.org/officeDocument/2006/relationships/slide" Target="slides/slide16.xml"/><Relationship Id="rId28" Type="http://schemas.openxmlformats.org/officeDocument/2006/relationships/slide" Target="slides/slide13.xml"/><Relationship Id="rId30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6"/>
          <c:y val="0.02"/>
          <c:w val="0.56"/>
          <c:h val="0.8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Средние</c:v>
                </c:pt>
              </c:strCache>
            </c:strRef>
          </c:tx>
          <c:spPr>
            <a:solidFill>
              <a:srgbClr val="FFD6E4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4.2</c:v>
                </c:pt>
                <c:pt idx="2">
                  <c:v>4.1</c:v>
                </c:pt>
                <c:pt idx="3">
                  <c:v>7.8</c:v>
                </c:pt>
                <c:pt idx="4">
                  <c:v>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Сильные переговорщики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6.4</c:v>
                </c:pt>
                <c:pt idx="1">
                  <c:v>7.5</c:v>
                </c:pt>
                <c:pt idx="2">
                  <c:v>9.7</c:v>
                </c:pt>
                <c:pt idx="3">
                  <c:v>12.1</c:v>
                </c:pt>
                <c:pt idx="4">
                  <c:v>21.3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5.0"/>
          <c:min val="0.0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100"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9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anchor="b" wrap="square">
            <a:noAutofit/>
          </a:bodyPr>
          <a:lstStyle/>
          <a:p>
            <a:pPr marL="268288" indent="0"/>
            <a:r>
              <a:rPr lang="ru-RU" sz="1800" b="0" dirty="0"/>
              <a:t>ЛЦТ 2026 · кейс №9 «Арена переговоров»</a:t>
            </a:r>
            <a:endParaRPr lang="ru-RU" sz="1800" b="0" dirty="0"/>
          </a:p>
          <a:p>
            <a:pPr marL="268288" indent="0"/>
            <a:r>
              <a:rPr lang="ru-RU" sz="6000" dirty="0"/>
              <a:t>Переговорка</a:t>
            </a:r>
            <a:endParaRPr lang="ru-RU" sz="6000" dirty="0"/>
          </a:p>
        </p:txBody>
      </p:sp>
      <p:pic>
        <p:nvPicPr>
          <p:cNvPr id="4" name="Рисунок 3" descr="s1_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73" r="173"/>
          <a:stretch>
            <a:fillRect/>
          </a:stretch>
        </p:blipFill>
        <p:spPr>
          <a:xfrm>
            <a:off x="305186" y="329801"/>
            <a:ext cx="5193299" cy="1082589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Autofit/>
          </a:bodyPr>
          <a:lstStyle/>
          <a:p>
            <a:pPr indent="268288"/>
            <a:r>
              <a:rPr lang="ru-RU" dirty="0"/>
              <a:t>Команда «Би 2 Би» · игра-тренажёр деловых переговоров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_meet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Итог считает движок по скрытым таблицам обеих сторон, а нейросеть только размечает реплики и говорит за персонажа. Один и тот же диалог даёт один и тот же разбор, поэтому результаты команды можно сравнивать на одной доске.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Никита Дмитриевич Голубев, продукт и геймдизайн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lang="ru-RU" b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под ЛЦТ: идея игры была у Никиты, Пётр взял методику оценки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учёба: Никита — НИУ ВШЭ; Пётр: —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anchor="b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Переговорка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Пиксельная игра-тренажёр: сотрудник ведёт деловые переговоры с персонажем — закупку, найм, продажу или своё дело. После встречи он видит разбор: сколько взял и что оставил на столе.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3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62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Аналитик и методолог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6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Пётр Александров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502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p_photoB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73" b="173"/>
          <a:stretch>
            <a:fillRect/>
          </a:stretch>
        </p:blipFill>
        <p:spPr>
          <a:xfrm>
            <a:off x="4080348" y="1816054"/>
            <a:ext cx="1722566" cy="1552901"/>
          </a:xfrm>
        </p:spPr>
      </p:pic>
      <p:pic>
        <p:nvPicPr>
          <p:cNvPr id="3" name="Рисунок 2" descr="p_photo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13" b="513"/>
          <a:stretch>
            <a:fillRect/>
          </a:stretch>
        </p:blipFill>
        <p:spPr>
          <a:xfrm>
            <a:off x="6385418" y="1826554"/>
            <a:ext cx="1722566" cy="15424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КОМАНДА «БИ 2 БИ»</a:t>
            </a:r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7311" y="4250028"/>
            <a:ext cx="1894354" cy="1624612"/>
          </a:xfrm>
        </p:spPr>
        <p:txBody>
          <a:bodyPr wrap="square"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Капитан: продукт и геймдизайн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НИУ ВШЭ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731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Голубев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ИСТОРИЯ КОМАНДЫ</a:t>
            </a:r>
            <a:endParaRPr lang="ru-RU" dirty="0"/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728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Никита и Пётр собрались под ЛЦТ-2026. Идея пиксельной игры с живым собеседником была у Никиты с самого начала: YandexGPT и SpeechKit он уже обкатал на своём проекте ПИРС, это социальные истории для детей с РАС. Пётр взял на себя методику: сценарии, таблицы очков и поведенческие индикаторы.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8928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Модели плохо ведут и судят переговоры: якорятся на первой цифре, делят пополам, выбалтывают свою цену. Решения и счёт мы отдали детерминированному движку, модели оставили разметку реплик и речь. OpenAI и Anthropic с российского сервера отвечают 403, поэтому взяли YandexGPT и SpeechKit и сделали офлайн-режим. На плейтестах новичку было тяжело: убрали жаргон, добавили наставника и сюжет. Чтобы собеседник не молчал, пока думает, записали фразы-паузы.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01568"/>
            <a:ext cx="1024128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Кейс Алабуги можно решить игрой, а в игре не страшно ошибаться. Зацепила цифра: в учебных переговорах примерно половина участников не замечает, что по какому-то пункту хочет того же, что и другая сторона (Thompson &amp; Hrebec, 1996). Хотелось, чтобы игрок увидел это в своём разборе.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Веб-игра на React и three.js, сервер на Node 22. Открывается по ссылке на ноутбуке и телефоне.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YandexGPT размечает реплику игрока. Как ответит собеседник, решает детерминированный движок, он же считает итог по скрытым таблицам.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Нейросеть пишет ответ в характере персонажа, SpeechKit озвучивает его живым голосом. Если модель думает дольше секунды, собеседник тянет паузу: «Хм, секунду».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Без ключей игра работает офлайн. На нейросеть и голос — общий лимит 6000 ₽, автотестов 314+.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Пилот в одном отделе резидента ОЭЗ: одно дело на всех, результаты у руководителя на доске.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Сюжет «Новенький» встраиваем в адаптацию молодых специалистов: неделя в Алабуге, по приёму в день.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«Сделка недели» в рабочем чате: все играют одно дело, а на планёрке разбирают лучшие ходы с доски.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Дальше наборы дел под отделы и подписка «за место» для резидентов и их поставщиков.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395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Проблема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Переговорам учат лекциями и редкими ролевыми играми. Попыток мало, разбор идёт на глаз, а свои формулировки почти никто не разбирает.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Закупки   </a:t>
            </a:r>
            <a:r>
              <a:rPr lang="ru-RU" sz="1300" dirty="0">
                <a:solidFill>
                  <a:schemeClr val="tx1"/>
                </a:solidFill>
              </a:rPr>
              <a:t>снабженцы заводов-резидентов и их поставщики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Продажи   </a:t>
            </a:r>
            <a:r>
              <a:rPr lang="ru-RU" sz="1300" dirty="0">
                <a:solidFill>
                  <a:schemeClr val="tx1"/>
                </a:solidFill>
              </a:rPr>
              <a:t>менеджеры по работе с ключевыми клиентами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Найм   </a:t>
            </a:r>
            <a:r>
              <a:rPr lang="ru-RU" sz="1300" dirty="0">
                <a:solidFill>
                  <a:schemeClr val="tx1"/>
                </a:solidFill>
              </a:rPr>
              <a:t>нанимающие руководители и HR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Новички   </a:t>
            </a:r>
            <a:r>
              <a:rPr lang="ru-RU" sz="1300" dirty="0">
                <a:solidFill>
                  <a:schemeClr val="tx1"/>
                </a:solidFill>
              </a:rPr>
              <a:t>молодые специалисты, которые только приехали в ОЭЗ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Заказчик   </a:t>
            </a:r>
            <a:r>
              <a:rPr lang="ru-RU" sz="1300" dirty="0">
                <a:solidFill>
                  <a:schemeClr val="tx1"/>
                </a:solidFill>
              </a:rPr>
              <a:t>HR, L&amp;D и руководители отделов: настраивают дела и смотрят доску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1889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ПРОБЛЕМА И АУДИТОРИЯ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50%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участников учебных переговоров не замечают, что по какому-то пункту хотят того же, что и другая сторона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20%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переговоров заканчиваются сделкой, которая хуже для обеих сторон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32120"/>
            <a:ext cx="4754880" cy="41148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Thompson &amp; Hrebec, 1996: метаанализ 32 исследований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solidFill>
            <a:srgbClr val="FF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ЧЕМ ЛУЧШЕ ОБЫЧНОГО ТРЕНИНГА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Попыток на человека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Кто оценивает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Сравнимость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Разбор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Под свою задачу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Тренинг или ролевая игра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Переговорка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1–2 за сессию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сколько угодно, по 10–15 минут, с телефона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тренер на глаз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движок по скрытым таблицам обеих сторон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нет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одно дело по ссылке: одинаковый ввод даёт одинаковый итог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общий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ваши фразы с цитатами, переиграть можно с любого хода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долго и дорого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своё дело по форме за 10–20 секунд</a:t>
            </a:r>
            <a:endParaRPr lang="ru-RU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78942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p_phone1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52" r="52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p_phone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52" r="52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p_phone3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52" r="52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p_phone4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52" r="52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1. Бриф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Кто вы, кто напротив, чего хотите и что будет без сделки.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2. Разговор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10–12 реплик текстом или голосом, собеседник отвечает вслух. После хода плашка: что сработало, что помешало.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3. Блокнот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Условия собираете на столе и сразу видите, сколько каждое даёт вам.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4. Разбор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Сколько взяли и что осталось на столе. Переиграть можно с ключевого хода.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3688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ОДНА ВСТРЕЧА: ПУТЬ ИГРОКА</a:t>
            </a:r>
            <a:endParaRPr lang="ru-RU" sz="2000" b="1" dirty="0">
              <a:solidFill>
                <a:srgbClr val="FFFFFF"/>
              </a:solidFill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500786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3" name="Рисунок 2" descr="p_story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4" b="14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4" name="Рисунок 3" descr="p_story_gallery.pn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17" r="17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5" name="Рисунок 4" descr="p_story_big.pn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102" b="102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anchor="ctr" lIns="182880" tIns="54864" rIns="182880" bIns="54864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«Сюжет». </a:t>
            </a:r>
            <a:r>
              <a:rPr lang="ru-RU" sz="1200" dirty="0">
                <a:solidFill>
                  <a:schemeClr val="tx1"/>
                </a:solidFill>
              </a:rPr>
              <a:t>Неделя новенького в Алабуге на карте Елабуги и ОЭЗ: общага, остановка у ларька, магазин, три рабочих дела и ночь перед запуском линии. В каждой главе один приём, движок и разбор те же, что в деловых делах.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Катсцены. </a:t>
            </a:r>
            <a:r>
              <a:rPr lang="ru-RU" sz="1200" dirty="0">
                <a:solidFill>
                  <a:schemeClr val="tx1"/>
                </a:solidFill>
              </a:rPr>
              <a:t>Между главами пиксельные ролики на 18–40 секунд: автобус вдоль Камы, памятка от HR в телефоне, дорога на завод. Все ролики собраны в галерее.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«Для жюри». </a:t>
            </a:r>
            <a:r>
              <a:rPr lang="ru-RU" sz="1200" dirty="0">
                <a:solidFill>
                  <a:schemeClr val="tx1"/>
                </a:solidFill>
              </a:rPr>
              <a:t>Кнопка на титуле или /?jury: всё открыто сразу, без катсцен. Путь кейса в четыре шага: настроить, провести, разбор, команда.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Звук. </a:t>
            </a:r>
            <a:r>
              <a:rPr lang="ru-RU" sz="1200" dirty="0">
                <a:solidFill>
                  <a:schemeClr val="tx1"/>
                </a:solidFill>
              </a:rPr>
              <a:t>Музыка и фоны комнат из открытых библиотек под лицензией CC0.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58724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СЮЖЕТ И РЕЖИМ «ДЛЯ ЖЮРИ»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65176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деловых дела и своё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54680"/>
            <a:ext cx="2965633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«Оффер для робототехника» (найм), «Тара к запуску» (закупки), «Удержать клиента» (продажи). После первой сделки открывается жёсткая версия. Своё дело собирается по форме, ещё 7 глав — в сюжете.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65176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решений на каждый ход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54680"/>
            <a:ext cx="3034896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Принять, встречное, рассказать о своём интересе, держать позицию, одёрнуть за тон или уйти. Выбор зависит от того, что вы узнали и что предложили. За мат первый раз одёрнет, второй раз уйдёт.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65176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финалов у каждого дела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54680"/>
            <a:ext cx="2945464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От «Сделки, о которой расскажут» до «Хлопнул дверью» и «Время вышло». В разборе видно, какие финалы открыты, а какие ждут за другими решениями. Звания и навыки копятся в «Личном деле».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МЕХАНИКА И СЦЕНАРИИ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3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6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8</a:t>
            </a:r>
            <a:endParaRPr lang="ru-RU" sz="5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Как считаем сделку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p_deal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6" r="16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88720"/>
            <a:ext cx="4807840" cy="51206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В договоре пять пунктов. У каждой стороны своя скрытая таблица очков и свой запасной вариант — то, что будет без сделки.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Пункты бывают трёх видов: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делимые: </a:t>
            </a:r>
            <a:r>
              <a:rPr lang="ru-RU" sz="1200" dirty="0">
                <a:solidFill>
                  <a:schemeClr val="tx1"/>
                </a:solidFill>
              </a:rPr>
              <a:t>цена, оклад. Что одному плюс, другому минус;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разменные: </a:t>
            </a:r>
            <a:r>
              <a:rPr lang="ru-RU" sz="1200" dirty="0">
                <a:solidFill>
                  <a:schemeClr val="tx1"/>
                </a:solidFill>
              </a:rPr>
              <a:t>одной стороне важно, другой почти всё равно;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совместимые: </a:t>
            </a:r>
            <a:r>
              <a:rPr lang="ru-RU" sz="1200" dirty="0">
                <a:solidFill>
                  <a:schemeClr val="tx1"/>
                </a:solidFill>
              </a:rPr>
              <a:t>обе хотят одного и того же, но не знают об этом.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Кто давит и делит пополам, получает середину. Кто расспрашивает и предлагает «если вы…, то мы…», находит сделку, где выигрывают оба. В «Таре к запуску» всё посередине даёт 103 очка на двоих, а лучший размен — 144 очка.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Разбор показывает очки против запасного варианта, эффективность по Парето и сколько осталось на столе. Справа карта всех сделок дела: жёлтая граница Парето, красная точка — ваша сделка.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34111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16 приёмов, у каждого цитата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55264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Нейросеть ищет в реплике приёмы из закрытого списка. Без цитаты приём не засчитывается, правила-регулярки перепроверяют.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Одна мерка для всех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418716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Разметка идёт при температуре 0 и кэшируется, в движке нет случайности. Та же история ходов даёт тот же разбор байт в байт.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Проверили пересказом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374652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Те же ходы другими словами: 72 и 72 очка, Парето 100%, доверие 61 и 62. Оценки «7 из 10» от нейросети нет.</a:t>
            </a:r>
            <a:endParaRPr lang="ru-RU" sz="1150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417320"/>
          <a:ext cx="57607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92048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СЧИТАЕМ ПОВЕДЕНИЕ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1051560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</a:rPr>
              <a:t>Что сильные переговорщики делают чаще средних, % высказываний</a:t>
            </a:r>
            <a:endParaRPr lang="ru-RU" sz="12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5852160"/>
            <a:ext cx="56692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FFD6E3"/>
                </a:solidFill>
              </a:rPr>
              <a:t>Rackham &amp; Carlisle, 1978: 49 переговорщиков, 103 реальные сессии. Этот профиль — эталон в разборе и на доске команды.</a:t>
            </a:r>
            <a:endParaRPr lang="ru-RU" sz="1000" dirty="0">
              <a:solidFill>
                <a:srgbClr val="FFD6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223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Своё дело за 10–20 секунд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Сфера, ваша роль, кто напротив и чего добивается, характер и сложность. Историю пишет нейросеть, таблицы очков строит движок и проверяет, что договориться можно и есть что обменять.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Доска команды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Руководитель выбирает дело и шлёт ссылку в рабочий чат. На доске очки каждого против запасного варианта, Парето, доверие, финалы и типичные ошибки команды. Есть выгрузка в CSV.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5" name="Рисунок 4" descr="p_form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" r="3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p_boar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0" b="5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023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КАБИНЕТ РУКОВОДИТЕЛЯ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460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460993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Движок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решает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62996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читает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2021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1. Разметка реплики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5.1 находит в реплике игрока приёмы из списка в 16, сделанное предложение и нарушения тона. Температура 0, ответ кэшируется по хэшу реплики.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10017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2. Решение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Движок сдвигает доверие и напряжение и выбирает одно из шести действий. Уступает по кривой Faratin (1998) и никогда не опускается ниже своей альтернативы.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8012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3. Ответ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Модель пишет реплику в характере персонажа, SpeechKit озвучивает её живым голосом. Если модель думает дольше секунды, звучит фраза-пауза. Реплику, которая спорит с движком, выбрасываем.</a:t>
            </a:r>
            <a:endParaRPr lang="ru-RU" sz="1200" dirty="0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26036" y="2011680"/>
            <a:ext cx="2434957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58988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говорит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27254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УСТРОЕН ХОД</a:t>
            </a:r>
            <a:endParaRPr lang="ru-RU" sz="2000" b="1" dirty="0">
              <a:solidFill>
                <a:srgbClr val="FFFFFF"/>
              </a:solidFill>
            </a:endParaRP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924033" y="2011680"/>
            <a:ext cx="2434955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74861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Почему Яндекс. </a:t>
            </a:r>
            <a:r>
              <a:rPr lang="ru-RU" sz="1100" dirty="0">
                <a:solidFill>
                  <a:srgbClr val="FFFFFF"/>
                </a:solidFill>
              </a:rPr>
              <a:t>Работает из России и оплачивается в рублях. OpenAI и Anthropic с нашего сервера отвечают 403.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372857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Офлайн. </a:t>
            </a:r>
            <a:r>
              <a:rPr lang="ru-RU" sz="1100" dirty="0">
                <a:solidFill>
                  <a:srgbClr val="FFFFFF"/>
                </a:solidFill>
              </a:rPr>
              <a:t>Нет ключа или модель молчит 25 секунд — ход доигрывают правила и заготовки, игра не встаёт.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70853" y="5504688"/>
            <a:ext cx="301752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Бюджет. </a:t>
            </a:r>
            <a:r>
              <a:rPr lang="ru-RU" sz="1100" dirty="0">
                <a:solidFill>
                  <a:srgbClr val="FFFFFF"/>
                </a:solidFill>
              </a:rPr>
              <a:t>Общий лимит 6000 ₽ на нейросеть и голос: с 80% включается YandexGPT Lite, со 100% — офлайн. Автотестов 314+.</a:t>
            </a:r>
            <a:endParaRPr lang="ru-RU" sz="11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86689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Уже работает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 деловых дела и сюжет из 7 глав с катсценами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своё дело по форме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3D-встреча и классический 2D-вид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живой голос, фразы-паузы, голосовой ввод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разбор с картой сделок и перемоткой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руководителя, доска, CSV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«Для жюри», офлайн, телефон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86000"/>
            <a:ext cx="237744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Пока нет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аккаунтов: доска открывается по секретной ссылке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ручного редактора таблиц очков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переговоров человека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выгрузки в LMS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86000"/>
            <a:ext cx="237744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Дальше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редактор дела для L&amp;D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наборы дел под отделы резидентов ОЭЗ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выгрузка в LMS: xAPI, SCORM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«команда против команды»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по отделу на доске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Мерить на пилоте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сделок хуже запасного варианта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среднюю эффективность по Парето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раскрытых интересов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от первой к третьей попытке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44626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ГРАНИЦЫ MVP И ЧТО ДАЛЬШЕ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16_tit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" b="27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Ссылка для жюри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arena-peregovorov.ru/?jury. Доступ — в описании решения.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Запасной вход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Логин и пароль — в описании решения. Работает в браузере на ноутбуке и телефоне.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Код и запуск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github.com/57lol/arena-peregovorov, репозиторий публичный. npm ci и npm run dev — без ключей игра работает офлайн.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293" y="324562"/>
            <a:ext cx="9321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13" name="Picture 12" descr="qr_publ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960120"/>
            <a:ext cx="2240280" cy="2240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41080" y="3310128"/>
            <a:ext cx="32461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arena-peregovorov.ru</a:t>
            </a:r>
            <a:endParaRPr lang="ru-RU" sz="1600" b="1" dirty="0">
              <a:solidFill>
                <a:schemeClr val="accent1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наведите камеру телефона</a:t>
            </a:r>
            <a:endParaRPr lang="ru-RU" sz="1100" dirty="0">
              <a:solidFill>
                <a:srgbClr val="4A4453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234440"/>
            <a:ext cx="3108960" cy="3108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Проверка за 5 минут</a:t>
            </a:r>
            <a:endParaRPr lang="ru-RU" sz="22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«Для жюри» → Настроить → Провести → Разбор → Команда. Сюжет и катсцены — по желанию.</a:t>
            </a: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100" i="1" dirty="0">
                <a:solidFill>
                  <a:srgbClr val="4A4453"/>
                </a:solidFill>
              </a:rPr>
              <a:t>Сайт закрыт, чтобы посторонние не выжигали лимит нейросети.</a:t>
            </a:r>
            <a:endParaRPr lang="ru-RU" sz="1100" i="1" dirty="0">
              <a:solidFill>
                <a:srgbClr val="4A44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604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18337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ПРОВЕРИТЬ ЗА 5 МИНУТ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2920" y="1188720"/>
            <a:ext cx="64008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accent5"/>
                </a:solidFill>
              </a:rPr>
              <a:t>Маршрут: «Для жюри» и четыре шага</a:t>
            </a:r>
            <a:endParaRPr lang="ru-RU" sz="1800" b="1" dirty="0">
              <a:solidFill>
                <a:schemeClr val="accent5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18288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182880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80160" y="178308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«Настроить» </a:t>
            </a:r>
            <a:r>
              <a:rPr lang="ru-RU" sz="1250" dirty="0">
                <a:solidFill>
                  <a:schemeClr val="tx1"/>
                </a:solidFill>
              </a:rPr>
              <a:t>своё дело по форме: сфера, роли и цели сторон, характер собеседника. Историю пишет нейросеть, таблицы очков строит движок.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02920" y="26517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65176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80160" y="260604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«Провести» </a:t>
            </a:r>
            <a:r>
              <a:rPr lang="ru-RU" sz="1250" dirty="0">
                <a:solidFill>
                  <a:schemeClr val="tx1"/>
                </a:solidFill>
              </a:rPr>
              <a:t>встреча по делу «Тара к запуску»: 10–12 реплик текстом или голосом, собеседник отвечает вслух.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02920" y="347472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47472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280160" y="342900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«Разбор» </a:t>
            </a:r>
            <a:r>
              <a:rPr lang="ru-RU" sz="1250" dirty="0">
                <a:solidFill>
                  <a:schemeClr val="tx1"/>
                </a:solidFill>
              </a:rPr>
              <a:t>готовая встреча, которую движок сыграл за секунду: итог, карта сделок, перемотка с ключевого хода.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02920" y="429768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429768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4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80160" y="425196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«Команда» </a:t>
            </a:r>
            <a:r>
              <a:rPr lang="ru-RU" sz="1250" dirty="0">
                <a:solidFill>
                  <a:schemeClr val="tx1"/>
                </a:solidFill>
              </a:rPr>
              <a:t>кабинет руководителя: ссылка для команды и доска результатов с выгрузкой в CSV.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02920" y="5138928"/>
            <a:ext cx="64465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accent1"/>
                </a:solidFill>
              </a:rPr>
              <a:t xml:space="preserve">По желанию: </a:t>
            </a:r>
            <a:r>
              <a:rPr lang="ru-RU" sz="1250" dirty="0">
                <a:solidFill>
                  <a:schemeClr val="tx1"/>
                </a:solidFill>
              </a:rPr>
              <a:t>«Сюжет» на титуле — неделя новенького с катсценами; все ролики — в галерее «Катсцены».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315200" y="1188720"/>
            <a:ext cx="4526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371600"/>
            <a:ext cx="2057400" cy="20574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452360" y="3566160"/>
            <a:ext cx="4251960" cy="1920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Режим для жюри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arena-peregovorov.ru/?jury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tx1"/>
                </a:solidFill>
              </a:rPr>
              <a:t>Доступ — в описании решения</a:t>
            </a:r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89520" y="4754880"/>
            <a:ext cx="3977639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Если собеседник отвечает заготовками — исчерпан демо-бюджет нейросети (6000 ₽). Игра, разбор и оценка работают так же, в игре об этом есть плашка.</a:t>
            </a:r>
            <a:endParaRPr lang="ru-RU" sz="1000" i="1" dirty="0">
              <a:solidFill>
                <a:srgbClr val="6B6475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02920" y="5760720"/>
            <a:ext cx="539496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Код: </a:t>
            </a:r>
            <a:r>
              <a:rPr lang="ru-RU" sz="1100" dirty="0">
                <a:solidFill>
                  <a:schemeClr val="tx1"/>
                </a:solidFill>
              </a:rPr>
              <a:t>github.com/57lol/arena-peregovorov, репозиторий публичный. Локально: npm ci и npm run dev, без ключей игра работает офлайн.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172200" y="576072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Почему сайт закрыт: </a:t>
            </a:r>
            <a:r>
              <a:rPr lang="ru-RU" sz="1100" dirty="0">
                <a:solidFill>
                  <a:schemeClr val="tx1"/>
                </a:solidFill>
              </a:rPr>
              <a:t>чтобы посторонние не выжигали лимит нейросети. Доступ для экспертов — в описании решения.</a:t>
            </a:r>
            <a:endParaRPr lang="ru-RU"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Собеседник говорит вслух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Ответ озвучивает Yandex SpeechKit. У каждого персонажа свой голос, а эмоция из движка меняет подачу: довольный говорит теплее, раздражённый строже.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Фразы-паузы   </a:t>
            </a:r>
            <a:r>
              <a:rPr lang="ru-RU" sz="1250" dirty="0">
                <a:solidFill>
                  <a:schemeClr val="tx1"/>
                </a:solidFill>
              </a:rPr>
              <a:t>если ответ дольше секунды, собеседник говорит «Хм, секунду» или «Сейчас прикину»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Голосовой ввод   </a:t>
            </a:r>
            <a:r>
              <a:rPr lang="ru-RU" sz="1250" dirty="0">
                <a:solidFill>
                  <a:schemeClr val="tx1"/>
                </a:solidFill>
              </a:rPr>
              <a:t>речь распознаёт SpeechKit, текст можно поправить перед отправкой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Музыка   </a:t>
            </a:r>
            <a:r>
              <a:rPr lang="ru-RU" sz="1250" dirty="0">
                <a:solidFill>
                  <a:schemeClr val="tx1"/>
                </a:solidFill>
              </a:rPr>
              <a:t>три темы: титул, карта и катсцены. Всё под CC0, авторы указаны в LICENSES.md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Фон комнат   </a:t>
            </a:r>
            <a:r>
              <a:rPr lang="ru-RU" sz="1250" dirty="0">
                <a:solidFill>
                  <a:schemeClr val="tx1"/>
                </a:solidFill>
              </a:rPr>
              <a:t>офис, цех, магазин, улица, общага и автобус, плюс шаги и шелест бумаг, тоже CC0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Лаборатория   </a:t>
            </a:r>
            <a:r>
              <a:rPr lang="ru-RU" sz="1250" dirty="0">
                <a:solidFill>
                  <a:schemeClr val="tx1"/>
                </a:solidFill>
              </a:rPr>
              <a:t>/?lab: те же дела, но собеседника ведёт другая модель (Lite, GPT, Claude, GigaChat) и другой голос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48" y="324562"/>
            <a:ext cx="213487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ГОЛОС И ЗВУК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6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живых голосов livetts, самой «живой» модели SpeechKit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9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фраз-пауз на каждый голос: записаны заранее и звучат без задержки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394960"/>
            <a:ext cx="4754880" cy="5486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Нейросеть и голос делят общий лимит 6000 ₽: с 80% включается YandexGPT Lite, со 100% — офлайн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