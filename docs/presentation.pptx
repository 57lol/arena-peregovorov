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2" r:id="rId21"/>
    <p:sldId id="370" r:id="rId16"/>
    <p:sldId id="272" r:id="rId30"/>
    <p:sldId id="261" r:id="rId20"/>
    <p:sldId id="374" r:id="rId18"/>
    <p:sldId id="373" r:id="rId15"/>
    <p:sldId id="263" r:id="rId22"/>
    <p:sldId id="270" r:id="rId28"/>
    <p:sldId id="268" r:id="rId25"/>
    <p:sldId id="371" r:id="rId17"/>
    <p:sldId id="269" r:id="rId27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5" Type="http://schemas.openxmlformats.org/officeDocument/2006/relationships/slide" Target="slides/slide11.xml"/><Relationship Id="rId16" Type="http://schemas.openxmlformats.org/officeDocument/2006/relationships/slide" Target="slides/slide7.xml"/><Relationship Id="rId17" Type="http://schemas.openxmlformats.org/officeDocument/2006/relationships/slide" Target="slides/slide15.xml"/><Relationship Id="rId18" Type="http://schemas.openxmlformats.org/officeDocument/2006/relationships/slide" Target="slides/slide10.xml"/><Relationship Id="rId20" Type="http://schemas.openxmlformats.org/officeDocument/2006/relationships/slide" Target="slides/slide9.xml"/><Relationship Id="rId21" Type="http://schemas.openxmlformats.org/officeDocument/2006/relationships/slide" Target="slides/slide6.xml"/><Relationship Id="rId22" Type="http://schemas.openxmlformats.org/officeDocument/2006/relationships/slide" Target="slides/slide12.xml"/><Relationship Id="rId25" Type="http://schemas.openxmlformats.org/officeDocument/2006/relationships/slide" Target="slides/slide14.xml"/><Relationship Id="rId27" Type="http://schemas.openxmlformats.org/officeDocument/2006/relationships/slide" Target="slides/slide16.xml"/><Relationship Id="rId28" Type="http://schemas.openxmlformats.org/officeDocument/2006/relationships/slide" Target="slides/slide13.xml"/><Relationship Id="rId30" Type="http://schemas.openxmlformats.org/officeDocument/2006/relationships/slide" Target="slides/slide8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Сильные переговорщики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Объявление хода</c:v>
                </c:pt>
                <c:pt idx="1">
                  <c:v>Резюме</c:v>
                </c:pt>
                <c:pt idx="2">
                  <c:v>Проверка понимания</c:v>
                </c:pt>
                <c:pt idx="3">
                  <c:v>Свои приоритеты вслух</c:v>
                </c:pt>
                <c:pt idx="4">
                  <c:v>Вопросы об интересах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6.4</c:v>
                </c:pt>
                <c:pt idx="1">
                  <c:v>7.5</c:v>
                </c:pt>
                <c:pt idx="2">
                  <c:v>9.7</c:v>
                </c:pt>
                <c:pt idx="3">
                  <c:v>12.1</c:v>
                </c:pt>
                <c:pt idx="4">
                  <c:v>21.3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Средние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Объявление хода</c:v>
                </c:pt>
                <c:pt idx="1">
                  <c:v>Резюме</c:v>
                </c:pt>
                <c:pt idx="2">
                  <c:v>Проверка понимания</c:v>
                </c:pt>
                <c:pt idx="3">
                  <c:v>Свои приоритеты вслух</c:v>
                </c:pt>
                <c:pt idx="4">
                  <c:v>Вопросы об интересах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1.2</c:v>
                </c:pt>
                <c:pt idx="1">
                  <c:v>4.2</c:v>
                </c:pt>
                <c:pt idx="2">
                  <c:v>4.1</c:v>
                </c:pt>
                <c:pt idx="3">
                  <c:v>7.8</c:v>
                </c:pt>
                <c:pt idx="4">
                  <c:v>9.6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numFmt formatCode="0.0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1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25.0"/>
        </c:scaling>
        <c:delete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 anchor="b" wrap="square">
            <a:noAutofit/>
          </a:bodyPr>
          <a:lstStyle/>
          <a:p>
            <a:pPr marL="268288" indent="0"/>
            <a:r>
              <a:rPr lang="ru-RU" sz="1800" b="0" dirty="0"/>
              <a:t>ЛЦТ 2026 · кейс №9 «Арена переговоров»</a:t>
            </a:r>
            <a:endParaRPr lang="ru-RU" sz="1800" b="0" dirty="0"/>
          </a:p>
          <a:p>
            <a:pPr marL="268288" indent="0"/>
            <a:r>
              <a:rPr lang="ru-RU" sz="6000" dirty="0"/>
              <a:t>Переговорка</a:t>
            </a:r>
            <a:endParaRPr lang="ru-RU" sz="6000" dirty="0"/>
          </a:p>
        </p:txBody>
      </p:sp>
      <p:pic>
        <p:nvPicPr>
          <p:cNvPr id="4" name="Рисунок 3" descr="s1_logo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l="173" r="173"/>
          <a:stretch>
            <a:fillRect/>
          </a:stretch>
        </p:blipFill>
        <p:spPr/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 wrap="square">
            <a:noAutofit/>
          </a:bodyPr>
          <a:lstStyle/>
          <a:p>
            <a:pPr indent="268288"/>
            <a:r>
              <a:rPr lang="ru-RU" dirty="0"/>
              <a:t>Команда «Би 2 Би» · игра-тренажёр деловых переговоров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s2_meeting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4" b="14"/>
          <a:stretch>
            <a:fillRect/>
          </a:stretch>
        </p:blipFill>
        <p:spPr/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4173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Итог считает движок по скрытым таблицам обеих сторон. Нейросеть только размечает реплики и говорит за персонажа. Поэтому один и тот же диалог даёт один и тот же разбор, а результаты команды можно сравнивать на одной доске.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Капитан: </a:t>
            </a:r>
            <a:r>
              <a:rPr lang="ru-RU" dirty="0">
                <a:solidFill>
                  <a:schemeClr val="tx1"/>
                </a:solidFill>
              </a:rPr>
              <a:t>Никита Дмитриевич Голубев, продукт и геймдизайн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Краткое описание: </a:t>
            </a:r>
            <a:endParaRPr lang="ru-RU" b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собрались под ЛЦТ: у Никиты была идея игры, Пётр взял методику оценки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Никита учится в НИУ ВШЭ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Город и регион: </a:t>
            </a:r>
            <a:r>
              <a:rPr lang="ru-RU" dirty="0">
                <a:solidFill>
                  <a:schemeClr val="tx1"/>
                </a:solidFill>
              </a:rPr>
              <a:t>Москва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 anchor="b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Переговорка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6002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Пиксельная игра, где сотрудник ведёт деловые переговоры с персонажем: закупка, найм, продажа или своё дело. После встречи он видит разбор: сколько взял и что оставил на столе.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Аналитик и методолог: сценарии, методика оценки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Ник: —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Телефон: —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Учёба и работа: —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Пётр Александров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" name="Рисунок 1" descr="photo_A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4925" b="4925"/>
          <a:stretch>
            <a:fillRect/>
          </a:stretch>
        </p:blipFill>
        <p:spPr/>
      </p:pic>
      <p:pic>
        <p:nvPicPr>
          <p:cNvPr id="3" name="Рисунок 2" descr="photo_B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14171" b="14171"/>
          <a:stretch>
            <a:fillRect/>
          </a:stretch>
        </p:blipFill>
        <p:spPr/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 wrap="square"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КОМАНДА «БИ 2 БИ»</a:t>
            </a:r>
            <a:endParaRPr lang="ru-RU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 wrap="square">
            <a:no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Капитан: продукт и геймдизайн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Ник: —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Телефон: —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НИУ ВШЭ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Никита Голубев</a:t>
            </a:r>
            <a:endParaRPr lang="ru-RU" sz="16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 wrap="square"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ИСТОРИЯ КОМАНДЫ</a:t>
            </a:r>
            <a:endParaRPr lang="ru-RU" dirty="0"/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10241280" cy="1097280"/>
          </a:xfrm>
        </p:spPr>
        <p:txBody>
          <a:bodyPr wrap="square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Никита и Пётр собрались под ЛЦТ-2026. Идея пиксельной игры с живым собеседником была у Никиты с самого начала: YandexGPT и SpeechKit он уже обкатал на своём проекте ПИРС, это социальные истории для детей с РАС. Пётр взял на себя методику: сценарии, таблицы очков и поведенческие индикаторы.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75504"/>
            <a:ext cx="10241280" cy="11887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Модели плохо ведут и судят переговоры: якорятся на первой цифре, делят пополам, выбалтывают свою цену. Решения и счёт мы отдали детерминированному движку, модели оставили разметку реплик и речь. OpenAI и Anthropic с российского сервера отвечают 403, поэтому взяли YandexGPT и SpeechKit и сделали офлайн-режим. После первых плейтестов стало ясно, что новичку тяжело: убрали из интерфейса жаргон, добавили наставника и сюжет с катсценами.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01568"/>
            <a:ext cx="1024128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Кейс Алабуги можно решить игрой, а в игре не страшно ошибаться. Зацепила цифра: в учебных переговорах люди примерно в половине случаев не замечают, что хотят того же, что и другая сторона (Thompson &amp; Hrebec, 1996). Хотелось, чтобы игрок увидел это сам в своём разборе, а не услышал на лекции.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 anchor="t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Веб-игра на React и three.js, сервер на Node 22. Открывается по ссылке, на ноутбуке и телефоне.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YandexGPT размечает реплику игрока: какие приёмы, какое предложение, нет ли грубости.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Детерминированный движок решает, как ответит собеседник, и считает итог по скрытым таблицам.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Нейросеть озвучивает это решение в характере персонажа, SpeechKit даёт голос. Без ключей игра работает офлайн.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 anchor="t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Пилот в одном отделе резидента ОЭЗ: одно дело на всех, результаты у руководителя на доске.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Сюжет «Новенький» встраиваем в адаптацию молодых специалистов: неделя в Алабуге, по приёму в день.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«Сделка недели» в рабочем чате: ссылка на дело, лучшие результаты на доске, разбор на планёрке.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Дальше наборы дел под отделы и подписка «за место» для резидентов и их поставщиков.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  <a:endParaRPr lang="ru-RU" sz="20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424865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8368" y="1664208"/>
            <a:ext cx="4754880" cy="1737360"/>
          </a:xfrm>
          <a:noFill/>
          <a:ln>
            <a:noFill/>
          </a:ln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Проблема</a:t>
            </a:r>
            <a:endParaRPr lang="ru-RU" sz="20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Переговорам учат лекциями и редкими ролевыми играми. Попыток мало, разбор идёт на глаз, а свои формулировки почти никто не разбирает.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Закупки   </a:t>
            </a:r>
            <a:r>
              <a:rPr lang="ru-RU" sz="1300" dirty="0">
                <a:solidFill>
                  <a:schemeClr val="tx1"/>
                </a:solidFill>
              </a:rPr>
              <a:t>снабженцы заводов-резидентов и их поставщики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Продажи   </a:t>
            </a:r>
            <a:r>
              <a:rPr lang="ru-RU" sz="1300" dirty="0">
                <a:solidFill>
                  <a:schemeClr val="tx1"/>
                </a:solidFill>
              </a:rPr>
              <a:t>менеджеры по работе с ключевыми клиентами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Найм   </a:t>
            </a:r>
            <a:r>
              <a:rPr lang="ru-RU" sz="1300" dirty="0">
                <a:solidFill>
                  <a:schemeClr val="tx1"/>
                </a:solidFill>
              </a:rPr>
              <a:t>нанимающие руководители и HR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Новички   </a:t>
            </a:r>
            <a:r>
              <a:rPr lang="ru-RU" sz="1300" dirty="0">
                <a:solidFill>
                  <a:schemeClr val="tx1"/>
                </a:solidFill>
              </a:rPr>
              <a:t>молодые специалисты, которые только приехали в ОЭЗ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Заказчик   </a:t>
            </a:r>
            <a:r>
              <a:rPr lang="ru-RU" sz="1300" dirty="0">
                <a:solidFill>
                  <a:schemeClr val="tx1"/>
                </a:solidFill>
              </a:rPr>
              <a:t>HR, L&amp;D и руководители отделов: настраивают дела и смотрят доску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324562"/>
            <a:ext cx="395605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ПРОБЛЕМА И АУДИТОРИЯ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836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50%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368" y="4069080"/>
            <a:ext cx="2240280" cy="10972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учебных переговоров: стороны не замечают, что по какому-то пункту хотят одного и того же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12724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20%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27248" y="4069080"/>
            <a:ext cx="2240280" cy="10972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заканчиваются сделкой, которая хуже для обеих сторон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532120"/>
            <a:ext cx="4754880" cy="41148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1" dirty="0">
                <a:solidFill>
                  <a:srgbClr val="6B6475"/>
                </a:solidFill>
              </a:rPr>
              <a:t>Thompson &amp; Hrebec, 1996: метаанализ 32 исследований</a:t>
            </a:r>
            <a:endParaRPr lang="ru-RU" sz="1000" i="1" dirty="0">
              <a:solidFill>
                <a:srgbClr val="6B647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/>
          <p:cNvSpPr/>
          <p:nvPr/>
        </p:nvSpPr>
        <p:spPr>
          <a:xfrm>
            <a:off x="7315200" y="1024128"/>
            <a:ext cx="4572000" cy="4983480"/>
          </a:xfrm>
          <a:prstGeom prst="roundRect">
            <a:avLst>
              <a:gd name="adj" fmla="val 6000"/>
            </a:avLst>
          </a:prstGeom>
          <a:effectLst/>
          <a:solidFill>
            <a:srgbClr val="FFD6E3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457200"/>
            <a:ext cx="8686800" cy="442374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ЧЕМ ЛУЧШЕ ОБЫЧНОГО ТРЕНИНГА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48640" y="1600200"/>
            <a:ext cx="3017520" cy="868680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Попыток на человека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48640" y="2468880"/>
            <a:ext cx="3017520" cy="877824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Кто оценивает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48640" y="3346704"/>
            <a:ext cx="3017520" cy="832104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Сравнимость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8640" y="4178808"/>
            <a:ext cx="3017520" cy="86867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Разбор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48640" y="5047488"/>
            <a:ext cx="3017520" cy="868680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Под свою задачу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3320" y="1143000"/>
            <a:ext cx="3383280" cy="3840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6B6475"/>
                </a:solidFill>
              </a:rPr>
              <a:t>Тренинг или ролевая игра</a:t>
            </a:r>
            <a:endParaRPr lang="ru-RU" sz="1400" b="1" dirty="0">
              <a:solidFill>
                <a:srgbClr val="6B6475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543800" y="1143000"/>
            <a:ext cx="4206240" cy="3840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1"/>
                </a:solidFill>
              </a:rPr>
              <a:t>Переговорка</a:t>
            </a:r>
            <a:endParaRPr lang="ru-RU" sz="1600" b="1" dirty="0">
              <a:solidFill>
                <a:schemeClr val="accent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703320" y="1600200"/>
            <a:ext cx="338328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1–2 за сессию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543800" y="1600200"/>
            <a:ext cx="416052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сколько угодно, по 10–15 минут, с телефона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703320" y="2468880"/>
            <a:ext cx="3383280" cy="8778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тренер на глаз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543800" y="2468880"/>
            <a:ext cx="4160520" cy="8778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движок по скрытым таблицам обеих сторон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703320" y="3346704"/>
            <a:ext cx="3383280" cy="8321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нет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543800" y="3346704"/>
            <a:ext cx="4160520" cy="8321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одно дело по ссылке: одинаковый ввод даёт одинаковый итог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703320" y="4178808"/>
            <a:ext cx="3383280" cy="86867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общий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543800" y="4178808"/>
            <a:ext cx="4160520" cy="86867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ваши фразы с цитатами, переиграть можно с любого хода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703320" y="5047488"/>
            <a:ext cx="338328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долго и дорого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543800" y="5047488"/>
            <a:ext cx="416052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своё дело по форме за 10–20 секунд</a:t>
            </a:r>
            <a:endParaRPr lang="ru-RU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479856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s8_phone1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52" r="52"/>
          <a:stretch>
            <a:fillRect/>
          </a:stretch>
        </p:blipFill>
        <p:spPr/>
      </p:pic>
      <p:pic>
        <p:nvPicPr>
          <p:cNvPr id="3" name="Рисунок 2" descr="s8_phone2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 l="52" r="52"/>
          <a:stretch>
            <a:fillRect/>
          </a:stretch>
        </p:blipFill>
        <p:spPr/>
      </p:pic>
      <p:pic>
        <p:nvPicPr>
          <p:cNvPr id="4" name="Рисунок 3" descr="s8_phone3.png"/>
          <p:cNvPicPr>
            <a:picLocks noGrp="1" noChangeAspect="1"/>
          </p:cNvPicPr>
          <p:nvPr>
            <p:ph type="pic" sz="quarter" idx="16"/>
          </p:nvPr>
        </p:nvPicPr>
        <p:blipFill>
          <a:blip r:embed="rId6"/>
          <a:srcRect l="52" r="52"/>
          <a:stretch>
            <a:fillRect/>
          </a:stretch>
        </p:blipFill>
        <p:spPr/>
      </p:pic>
      <p:pic>
        <p:nvPicPr>
          <p:cNvPr id="5" name="Рисунок 4" descr="s8_phone4.png"/>
          <p:cNvPicPr>
            <a:picLocks noGrp="1" noChangeAspect="1"/>
          </p:cNvPicPr>
          <p:nvPr>
            <p:ph type="pic" sz="quarter" idx="17"/>
          </p:nvPr>
        </p:nvPicPr>
        <p:blipFill>
          <a:blip r:embed="rId7"/>
          <a:srcRect l="52" r="52"/>
          <a:stretch>
            <a:fillRect/>
          </a:stretch>
        </p:blipFill>
        <p:spPr/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1. Бриф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Кто вы, кто напротив, чего хотите и что будет без сделки.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2. Разговор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10–12 реплик текстом или голосом. После хода плашка: что сработало, что помешало.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3. Блокнот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Условия собираете на столе и сразу видите, сколько каждое даёт вам.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4. Разбор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Сколько взяли, что осталось на столе. Переиграть можно с ключевого хода.</a:t>
            </a:r>
            <a:endParaRPr lang="ru-RU" sz="1100" dirty="0">
              <a:solidFill>
                <a:schemeClr val="tx1"/>
              </a:solidFill>
            </a:endParaRPr>
          </a:p>
        </p:txBody>
      </p: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31250022-45D9-F12D-3C47-EF28765F4C31}"/>
              </a:ext>
            </a:extLst>
          </p:cNvPr>
          <p:cNvGrpSpPr/>
          <p:nvPr/>
        </p:nvGrpSpPr>
        <p:grpSpPr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>
              <a:extLst>
                <a:ext uri="{FF2B5EF4-FFF2-40B4-BE49-F238E27FC236}">
                  <a16:creationId xmlns:a16="http://schemas.microsoft.com/office/drawing/2014/main" id="{24AEA150-DD4F-B078-FF83-FEE03143696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4" name="Полилиния: фигура 14">
              <a:extLst>
                <a:ext uri="{FF2B5EF4-FFF2-40B4-BE49-F238E27FC236}">
                  <a16:creationId xmlns:a16="http://schemas.microsoft.com/office/drawing/2014/main" id="{99E94FA1-5BB5-0D58-4BBD-DE5C76358423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5" name="Полилиния: фигура 15">
              <a:extLst>
                <a:ext uri="{FF2B5EF4-FFF2-40B4-BE49-F238E27FC236}">
                  <a16:creationId xmlns:a16="http://schemas.microsoft.com/office/drawing/2014/main" id="{EC571396-05D0-35C1-5295-C7D257F4D92F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6" name="Полилиния: фигура 16">
              <a:extLst>
                <a:ext uri="{FF2B5EF4-FFF2-40B4-BE49-F238E27FC236}">
                  <a16:creationId xmlns:a16="http://schemas.microsoft.com/office/drawing/2014/main" id="{9B732ADF-E9DA-13D4-42DD-BC54854010DA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7" name="Полилиния: фигура 17">
              <a:extLst>
                <a:ext uri="{FF2B5EF4-FFF2-40B4-BE49-F238E27FC236}">
                  <a16:creationId xmlns:a16="http://schemas.microsoft.com/office/drawing/2014/main" id="{0678F81A-528D-A550-D258-6BBE42EEC68D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8" name="Полилиния: фигура 18">
              <a:extLst>
                <a:ext uri="{FF2B5EF4-FFF2-40B4-BE49-F238E27FC236}">
                  <a16:creationId xmlns:a16="http://schemas.microsoft.com/office/drawing/2014/main" id="{25414295-E7C9-1A32-CA87-C03CF520D7C8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9" name="Полилиния: фигура 19">
              <a:extLst>
                <a:ext uri="{FF2B5EF4-FFF2-40B4-BE49-F238E27FC236}">
                  <a16:creationId xmlns:a16="http://schemas.microsoft.com/office/drawing/2014/main" id="{E8A820F9-852B-9D6F-4958-7115D82B78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0" name="Полилиния: фигура 20">
              <a:extLst>
                <a:ext uri="{FF2B5EF4-FFF2-40B4-BE49-F238E27FC236}">
                  <a16:creationId xmlns:a16="http://schemas.microsoft.com/office/drawing/2014/main" id="{A1CF9CF3-386D-EAF7-4826-6711831475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1" name="Полилиния: фигура 21">
              <a:extLst>
                <a:ext uri="{FF2B5EF4-FFF2-40B4-BE49-F238E27FC236}">
                  <a16:creationId xmlns:a16="http://schemas.microsoft.com/office/drawing/2014/main" id="{96508A4E-34F4-C72C-8A4A-3D35D6C3DB3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2" name="Полилиния: фигура 22">
              <a:extLst>
                <a:ext uri="{FF2B5EF4-FFF2-40B4-BE49-F238E27FC236}">
                  <a16:creationId xmlns:a16="http://schemas.microsoft.com/office/drawing/2014/main" id="{51EB21C3-71D0-415B-6856-697384359B8F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3" name="Полилиния: фигура 23">
              <a:extLst>
                <a:ext uri="{FF2B5EF4-FFF2-40B4-BE49-F238E27FC236}">
                  <a16:creationId xmlns:a16="http://schemas.microsoft.com/office/drawing/2014/main" id="{0466A1BA-47FF-C618-565D-0CBFDCEEC700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4" name="Полилиния: фигура 24">
              <a:extLst>
                <a:ext uri="{FF2B5EF4-FFF2-40B4-BE49-F238E27FC236}">
                  <a16:creationId xmlns:a16="http://schemas.microsoft.com/office/drawing/2014/main" id="{75E55049-DE9B-98AC-BB13-FCA1570B68F3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5" name="Полилиния: фигура 25">
              <a:extLst>
                <a:ext uri="{FF2B5EF4-FFF2-40B4-BE49-F238E27FC236}">
                  <a16:creationId xmlns:a16="http://schemas.microsoft.com/office/drawing/2014/main" id="{CF905F48-77CA-03E7-97ED-1F92F9A828BD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6" name="Полилиния: фигура 26">
              <a:extLst>
                <a:ext uri="{FF2B5EF4-FFF2-40B4-BE49-F238E27FC236}">
                  <a16:creationId xmlns:a16="http://schemas.microsoft.com/office/drawing/2014/main" id="{CEBF0B75-055D-4965-772F-47AD1E433B6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7" name="Полилиния: фигура 27">
              <a:extLst>
                <a:ext uri="{FF2B5EF4-FFF2-40B4-BE49-F238E27FC236}">
                  <a16:creationId xmlns:a16="http://schemas.microsoft.com/office/drawing/2014/main" id="{F00C9732-1E60-E852-DA70-EE392525EF29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8" name="Полилиния: фигура 28">
              <a:extLst>
                <a:ext uri="{FF2B5EF4-FFF2-40B4-BE49-F238E27FC236}">
                  <a16:creationId xmlns:a16="http://schemas.microsoft.com/office/drawing/2014/main" id="{5AFC5E81-BD49-8854-AE72-7FFF0DE9D257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9" name="Полилиния: фигура 29">
              <a:extLst>
                <a:ext uri="{FF2B5EF4-FFF2-40B4-BE49-F238E27FC236}">
                  <a16:creationId xmlns:a16="http://schemas.microsoft.com/office/drawing/2014/main" id="{476EA956-DA6E-38F4-E41E-39CD4275DD9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0" name="Полилиния: фигура 30">
              <a:extLst>
                <a:ext uri="{FF2B5EF4-FFF2-40B4-BE49-F238E27FC236}">
                  <a16:creationId xmlns:a16="http://schemas.microsoft.com/office/drawing/2014/main" id="{38BA4330-968A-CD08-C32A-1AB62BA4060E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1" name="Полилиния: фигура 31">
              <a:extLst>
                <a:ext uri="{FF2B5EF4-FFF2-40B4-BE49-F238E27FC236}">
                  <a16:creationId xmlns:a16="http://schemas.microsoft.com/office/drawing/2014/main" id="{139C8CA0-F4D9-106C-2539-EAC9FFE03A98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42" name="Рисунок 141">
              <a:extLst>
                <a:ext uri="{FF2B5EF4-FFF2-40B4-BE49-F238E27FC236}">
                  <a16:creationId xmlns:a16="http://schemas.microsoft.com/office/drawing/2014/main" id="{B710F069-E351-BE87-1018-2661A76A8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>
              <a:extLst>
                <a:ext uri="{FF2B5EF4-FFF2-40B4-BE49-F238E27FC236}">
                  <a16:creationId xmlns:a16="http://schemas.microsoft.com/office/drawing/2014/main" id="{71E4939B-0E00-8909-8012-C8043D8DCAD7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4" name="Полилиния: фигура 34">
              <a:extLst>
                <a:ext uri="{FF2B5EF4-FFF2-40B4-BE49-F238E27FC236}">
                  <a16:creationId xmlns:a16="http://schemas.microsoft.com/office/drawing/2014/main" id="{5C4DB02A-9E60-644A-BD04-122262EA9C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5" name="Полилиния: фигура 35">
              <a:extLst>
                <a:ext uri="{FF2B5EF4-FFF2-40B4-BE49-F238E27FC236}">
                  <a16:creationId xmlns:a16="http://schemas.microsoft.com/office/drawing/2014/main" id="{A8C103F3-04F0-28A6-D985-85A41641334F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6" name="Полилиния: фигура 36">
              <a:extLst>
                <a:ext uri="{FF2B5EF4-FFF2-40B4-BE49-F238E27FC236}">
                  <a16:creationId xmlns:a16="http://schemas.microsoft.com/office/drawing/2014/main" id="{672B7A39-41AC-BB07-5409-21F650DF0E89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47" name="Группа 146">
            <a:extLst>
              <a:ext uri="{FF2B5EF4-FFF2-40B4-BE49-F238E27FC236}">
                <a16:creationId xmlns:a16="http://schemas.microsoft.com/office/drawing/2014/main" id="{6F6876AF-B1D2-D1B1-91CC-C9E4B6B41445}"/>
              </a:ext>
            </a:extLst>
          </p:cNvPr>
          <p:cNvGrpSpPr/>
          <p:nvPr/>
        </p:nvGrpSpPr>
        <p:grpSpPr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>
              <a:extLst>
                <a:ext uri="{FF2B5EF4-FFF2-40B4-BE49-F238E27FC236}">
                  <a16:creationId xmlns:a16="http://schemas.microsoft.com/office/drawing/2014/main" id="{E8AC8241-89F5-74DB-F469-C2BA9BE0C024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49" name="Полилиния: фигура 14">
              <a:extLst>
                <a:ext uri="{FF2B5EF4-FFF2-40B4-BE49-F238E27FC236}">
                  <a16:creationId xmlns:a16="http://schemas.microsoft.com/office/drawing/2014/main" id="{84434B8C-47C7-6BE9-D4B7-0B893BCC5BD5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0" name="Полилиния: фигура 15">
              <a:extLst>
                <a:ext uri="{FF2B5EF4-FFF2-40B4-BE49-F238E27FC236}">
                  <a16:creationId xmlns:a16="http://schemas.microsoft.com/office/drawing/2014/main" id="{5263283D-705A-5613-18ED-E80BDE52AFCA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1" name="Полилиния: фигура 16">
              <a:extLst>
                <a:ext uri="{FF2B5EF4-FFF2-40B4-BE49-F238E27FC236}">
                  <a16:creationId xmlns:a16="http://schemas.microsoft.com/office/drawing/2014/main" id="{744D4512-D838-3AD8-499E-05E6B87490C1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2" name="Полилиния: фигура 17">
              <a:extLst>
                <a:ext uri="{FF2B5EF4-FFF2-40B4-BE49-F238E27FC236}">
                  <a16:creationId xmlns:a16="http://schemas.microsoft.com/office/drawing/2014/main" id="{57B1D57F-7138-34E6-ADEF-6E34A735ABB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3" name="Полилиния: фигура 18">
              <a:extLst>
                <a:ext uri="{FF2B5EF4-FFF2-40B4-BE49-F238E27FC236}">
                  <a16:creationId xmlns:a16="http://schemas.microsoft.com/office/drawing/2014/main" id="{F820A8CD-CB50-CF85-631E-0D2ABB0DA0AE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4" name="Полилиния: фигура 19">
              <a:extLst>
                <a:ext uri="{FF2B5EF4-FFF2-40B4-BE49-F238E27FC236}">
                  <a16:creationId xmlns:a16="http://schemas.microsoft.com/office/drawing/2014/main" id="{E04E2701-FE1E-5CC3-36AF-B4B9D29FD242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5" name="Полилиния: фигура 20">
              <a:extLst>
                <a:ext uri="{FF2B5EF4-FFF2-40B4-BE49-F238E27FC236}">
                  <a16:creationId xmlns:a16="http://schemas.microsoft.com/office/drawing/2014/main" id="{8CD1AA2D-A392-D1E3-DF78-0AEA26501D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6" name="Полилиния: фигура 21">
              <a:extLst>
                <a:ext uri="{FF2B5EF4-FFF2-40B4-BE49-F238E27FC236}">
                  <a16:creationId xmlns:a16="http://schemas.microsoft.com/office/drawing/2014/main" id="{2C59B60B-FC7B-96E9-43B4-E6248B35E7F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7" name="Полилиния: фигура 22">
              <a:extLst>
                <a:ext uri="{FF2B5EF4-FFF2-40B4-BE49-F238E27FC236}">
                  <a16:creationId xmlns:a16="http://schemas.microsoft.com/office/drawing/2014/main" id="{C1F8F87E-2226-19FB-7129-485EFF2952F3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8" name="Полилиния: фигура 23">
              <a:extLst>
                <a:ext uri="{FF2B5EF4-FFF2-40B4-BE49-F238E27FC236}">
                  <a16:creationId xmlns:a16="http://schemas.microsoft.com/office/drawing/2014/main" id="{19CF104F-7F1A-9575-3974-58D1C393CB8C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9" name="Полилиния: фигура 24">
              <a:extLst>
                <a:ext uri="{FF2B5EF4-FFF2-40B4-BE49-F238E27FC236}">
                  <a16:creationId xmlns:a16="http://schemas.microsoft.com/office/drawing/2014/main" id="{08D91672-4E5C-7BA4-1CE5-A30F3A8D8B90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0" name="Полилиния: фигура 25">
              <a:extLst>
                <a:ext uri="{FF2B5EF4-FFF2-40B4-BE49-F238E27FC236}">
                  <a16:creationId xmlns:a16="http://schemas.microsoft.com/office/drawing/2014/main" id="{0E644CEA-C8F9-E939-4113-FFB9CC6A10CB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1" name="Полилиния: фигура 26">
              <a:extLst>
                <a:ext uri="{FF2B5EF4-FFF2-40B4-BE49-F238E27FC236}">
                  <a16:creationId xmlns:a16="http://schemas.microsoft.com/office/drawing/2014/main" id="{A9463AC2-3CBD-AD7F-C2FC-3E6B8898F61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2" name="Полилиния: фигура 27">
              <a:extLst>
                <a:ext uri="{FF2B5EF4-FFF2-40B4-BE49-F238E27FC236}">
                  <a16:creationId xmlns:a16="http://schemas.microsoft.com/office/drawing/2014/main" id="{A0B742DC-234C-DFDF-1731-F5483C135F77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3" name="Полилиния: фигура 28">
              <a:extLst>
                <a:ext uri="{FF2B5EF4-FFF2-40B4-BE49-F238E27FC236}">
                  <a16:creationId xmlns:a16="http://schemas.microsoft.com/office/drawing/2014/main" id="{295E8F4E-2D3F-0442-68E4-45516C2C0F7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4" name="Полилиния: фигура 29">
              <a:extLst>
                <a:ext uri="{FF2B5EF4-FFF2-40B4-BE49-F238E27FC236}">
                  <a16:creationId xmlns:a16="http://schemas.microsoft.com/office/drawing/2014/main" id="{EC3523CB-F469-D234-C98C-68A35D5DC1EE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5" name="Полилиния: фигура 30">
              <a:extLst>
                <a:ext uri="{FF2B5EF4-FFF2-40B4-BE49-F238E27FC236}">
                  <a16:creationId xmlns:a16="http://schemas.microsoft.com/office/drawing/2014/main" id="{C1E692C9-11C7-FD16-0691-269E9730C0D7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6" name="Полилиния: фигура 31">
              <a:extLst>
                <a:ext uri="{FF2B5EF4-FFF2-40B4-BE49-F238E27FC236}">
                  <a16:creationId xmlns:a16="http://schemas.microsoft.com/office/drawing/2014/main" id="{8A8BCBC3-F8B9-E268-FA91-BE0B91504CB7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67" name="Рисунок 166">
              <a:extLst>
                <a:ext uri="{FF2B5EF4-FFF2-40B4-BE49-F238E27FC236}">
                  <a16:creationId xmlns:a16="http://schemas.microsoft.com/office/drawing/2014/main" id="{275DD60F-C19A-9738-1499-379E38B89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>
              <a:extLst>
                <a:ext uri="{FF2B5EF4-FFF2-40B4-BE49-F238E27FC236}">
                  <a16:creationId xmlns:a16="http://schemas.microsoft.com/office/drawing/2014/main" id="{0C1A32E6-71CE-D73A-D08C-E614CC7D3E3D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9" name="Полилиния: фигура 34">
              <a:extLst>
                <a:ext uri="{FF2B5EF4-FFF2-40B4-BE49-F238E27FC236}">
                  <a16:creationId xmlns:a16="http://schemas.microsoft.com/office/drawing/2014/main" id="{F634A189-F19F-9C70-5515-9E924535DC9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0" name="Полилиния: фигура 35">
              <a:extLst>
                <a:ext uri="{FF2B5EF4-FFF2-40B4-BE49-F238E27FC236}">
                  <a16:creationId xmlns:a16="http://schemas.microsoft.com/office/drawing/2014/main" id="{FEC821A6-0C1B-A5D1-4EE3-7BC96AF6DC8D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1" name="Полилиния: фигура 36">
              <a:extLst>
                <a:ext uri="{FF2B5EF4-FFF2-40B4-BE49-F238E27FC236}">
                  <a16:creationId xmlns:a16="http://schemas.microsoft.com/office/drawing/2014/main" id="{DCBB9EDB-AF53-F46A-71B2-6496483F87B8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72" name="Группа 171">
            <a:extLst>
              <a:ext uri="{FF2B5EF4-FFF2-40B4-BE49-F238E27FC236}">
                <a16:creationId xmlns:a16="http://schemas.microsoft.com/office/drawing/2014/main" id="{28B88200-E25B-E61C-1E68-2D2C2B01BCE5}"/>
              </a:ext>
            </a:extLst>
          </p:cNvPr>
          <p:cNvGrpSpPr/>
          <p:nvPr/>
        </p:nvGrpSpPr>
        <p:grpSpPr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>
              <a:extLst>
                <a:ext uri="{FF2B5EF4-FFF2-40B4-BE49-F238E27FC236}">
                  <a16:creationId xmlns:a16="http://schemas.microsoft.com/office/drawing/2014/main" id="{A9CDA20E-DC0B-7574-8A53-2FE5A69E3137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4" name="Полилиния: фигура 14">
              <a:extLst>
                <a:ext uri="{FF2B5EF4-FFF2-40B4-BE49-F238E27FC236}">
                  <a16:creationId xmlns:a16="http://schemas.microsoft.com/office/drawing/2014/main" id="{C6EDF764-F67B-E72A-96F7-9AD40839714F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5" name="Полилиния: фигура 15">
              <a:extLst>
                <a:ext uri="{FF2B5EF4-FFF2-40B4-BE49-F238E27FC236}">
                  <a16:creationId xmlns:a16="http://schemas.microsoft.com/office/drawing/2014/main" id="{3FAA0615-8C83-2C58-58C1-270E46BD11DD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6" name="Полилиния: фигура 16">
              <a:extLst>
                <a:ext uri="{FF2B5EF4-FFF2-40B4-BE49-F238E27FC236}">
                  <a16:creationId xmlns:a16="http://schemas.microsoft.com/office/drawing/2014/main" id="{6DA7610E-8695-F698-FBE5-F1EA1A34BCA3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7" name="Полилиния: фигура 17">
              <a:extLst>
                <a:ext uri="{FF2B5EF4-FFF2-40B4-BE49-F238E27FC236}">
                  <a16:creationId xmlns:a16="http://schemas.microsoft.com/office/drawing/2014/main" id="{C2B0886E-C1A1-F8FB-DE0A-7E00B1A7012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8" name="Полилиния: фигура 18">
              <a:extLst>
                <a:ext uri="{FF2B5EF4-FFF2-40B4-BE49-F238E27FC236}">
                  <a16:creationId xmlns:a16="http://schemas.microsoft.com/office/drawing/2014/main" id="{F6E82E9D-82A0-F318-F846-F9AA582ADCE6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9" name="Полилиния: фигура 19">
              <a:extLst>
                <a:ext uri="{FF2B5EF4-FFF2-40B4-BE49-F238E27FC236}">
                  <a16:creationId xmlns:a16="http://schemas.microsoft.com/office/drawing/2014/main" id="{6CD40789-5D3D-6EE9-2675-745C2BDC65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0" name="Полилиния: фигура 20">
              <a:extLst>
                <a:ext uri="{FF2B5EF4-FFF2-40B4-BE49-F238E27FC236}">
                  <a16:creationId xmlns:a16="http://schemas.microsoft.com/office/drawing/2014/main" id="{158DFE1D-B6C8-7D8D-1E07-17C4E0EEF55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1" name="Полилиния: фигура 21">
              <a:extLst>
                <a:ext uri="{FF2B5EF4-FFF2-40B4-BE49-F238E27FC236}">
                  <a16:creationId xmlns:a16="http://schemas.microsoft.com/office/drawing/2014/main" id="{D8DEFA81-42B3-5DA3-7630-FDBDF31D670E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2" name="Полилиния: фигура 22">
              <a:extLst>
                <a:ext uri="{FF2B5EF4-FFF2-40B4-BE49-F238E27FC236}">
                  <a16:creationId xmlns:a16="http://schemas.microsoft.com/office/drawing/2014/main" id="{BB1811A3-3629-FDD8-6775-7826417B17BB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3" name="Полилиния: фигура 23">
              <a:extLst>
                <a:ext uri="{FF2B5EF4-FFF2-40B4-BE49-F238E27FC236}">
                  <a16:creationId xmlns:a16="http://schemas.microsoft.com/office/drawing/2014/main" id="{0C885996-2D3E-94A9-F80B-759C2B77BEFD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4" name="Полилиния: фигура 24">
              <a:extLst>
                <a:ext uri="{FF2B5EF4-FFF2-40B4-BE49-F238E27FC236}">
                  <a16:creationId xmlns:a16="http://schemas.microsoft.com/office/drawing/2014/main" id="{7A637849-F366-366B-2B72-613C030A10ED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5" name="Полилиния: фигура 25">
              <a:extLst>
                <a:ext uri="{FF2B5EF4-FFF2-40B4-BE49-F238E27FC236}">
                  <a16:creationId xmlns:a16="http://schemas.microsoft.com/office/drawing/2014/main" id="{110EFEA7-7F4A-95B8-43B8-6F88654392F3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6" name="Полилиния: фигура 26">
              <a:extLst>
                <a:ext uri="{FF2B5EF4-FFF2-40B4-BE49-F238E27FC236}">
                  <a16:creationId xmlns:a16="http://schemas.microsoft.com/office/drawing/2014/main" id="{6775B6E1-3AE7-DCB7-993C-A3BB57DEB079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7" name="Полилиния: фигура 27">
              <a:extLst>
                <a:ext uri="{FF2B5EF4-FFF2-40B4-BE49-F238E27FC236}">
                  <a16:creationId xmlns:a16="http://schemas.microsoft.com/office/drawing/2014/main" id="{A1B076D4-6F0A-6994-8304-90264BE47B6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8" name="Полилиния: фигура 28">
              <a:extLst>
                <a:ext uri="{FF2B5EF4-FFF2-40B4-BE49-F238E27FC236}">
                  <a16:creationId xmlns:a16="http://schemas.microsoft.com/office/drawing/2014/main" id="{03D70E49-6A46-60F0-235C-230EB8697FFF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9" name="Полилиния: фигура 29">
              <a:extLst>
                <a:ext uri="{FF2B5EF4-FFF2-40B4-BE49-F238E27FC236}">
                  <a16:creationId xmlns:a16="http://schemas.microsoft.com/office/drawing/2014/main" id="{638DC947-2E6A-E1E4-48C6-C82F296AF48F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0" name="Полилиния: фигура 30">
              <a:extLst>
                <a:ext uri="{FF2B5EF4-FFF2-40B4-BE49-F238E27FC236}">
                  <a16:creationId xmlns:a16="http://schemas.microsoft.com/office/drawing/2014/main" id="{2133978C-A68D-962F-7B3F-8C121D583304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1" name="Полилиния: фигура 31">
              <a:extLst>
                <a:ext uri="{FF2B5EF4-FFF2-40B4-BE49-F238E27FC236}">
                  <a16:creationId xmlns:a16="http://schemas.microsoft.com/office/drawing/2014/main" id="{E7337AD2-C975-8EEA-309F-C9BEC7D9B80A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92" name="Рисунок 191">
              <a:extLst>
                <a:ext uri="{FF2B5EF4-FFF2-40B4-BE49-F238E27FC236}">
                  <a16:creationId xmlns:a16="http://schemas.microsoft.com/office/drawing/2014/main" id="{EBC94221-5003-CC9C-1BA6-39584F78B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>
              <a:extLst>
                <a:ext uri="{FF2B5EF4-FFF2-40B4-BE49-F238E27FC236}">
                  <a16:creationId xmlns:a16="http://schemas.microsoft.com/office/drawing/2014/main" id="{D717B4FB-A27A-CAA6-3D77-01AD01672953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4" name="Полилиния: фигура 34">
              <a:extLst>
                <a:ext uri="{FF2B5EF4-FFF2-40B4-BE49-F238E27FC236}">
                  <a16:creationId xmlns:a16="http://schemas.microsoft.com/office/drawing/2014/main" id="{34C8B6EF-76B0-66A8-48F8-451128B8EF5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5" name="Полилиния: фигура 35">
              <a:extLst>
                <a:ext uri="{FF2B5EF4-FFF2-40B4-BE49-F238E27FC236}">
                  <a16:creationId xmlns:a16="http://schemas.microsoft.com/office/drawing/2014/main" id="{C4E22E47-5653-9FC4-E418-B13F750799A0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6" name="Полилиния: фигура 36">
              <a:extLst>
                <a:ext uri="{FF2B5EF4-FFF2-40B4-BE49-F238E27FC236}">
                  <a16:creationId xmlns:a16="http://schemas.microsoft.com/office/drawing/2014/main" id="{288CF8AC-8E86-147B-676C-4A0A4618F6E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97" name="Группа 196">
            <a:extLst>
              <a:ext uri="{FF2B5EF4-FFF2-40B4-BE49-F238E27FC236}">
                <a16:creationId xmlns:a16="http://schemas.microsoft.com/office/drawing/2014/main" id="{09B9B184-25F2-7359-333D-5EB9A60B8EFD}"/>
              </a:ext>
            </a:extLst>
          </p:cNvPr>
          <p:cNvGrpSpPr/>
          <p:nvPr/>
        </p:nvGrpSpPr>
        <p:grpSpPr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>
              <a:extLst>
                <a:ext uri="{FF2B5EF4-FFF2-40B4-BE49-F238E27FC236}">
                  <a16:creationId xmlns:a16="http://schemas.microsoft.com/office/drawing/2014/main" id="{E3F377FC-00D5-EF59-5B13-016CF3D10D8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9" name="Полилиния: фигура 14">
              <a:extLst>
                <a:ext uri="{FF2B5EF4-FFF2-40B4-BE49-F238E27FC236}">
                  <a16:creationId xmlns:a16="http://schemas.microsoft.com/office/drawing/2014/main" id="{FC792052-29C1-6D35-7F6B-79A599C639D7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0" name="Полилиния: фигура 15">
              <a:extLst>
                <a:ext uri="{FF2B5EF4-FFF2-40B4-BE49-F238E27FC236}">
                  <a16:creationId xmlns:a16="http://schemas.microsoft.com/office/drawing/2014/main" id="{E5A98475-EA25-67D6-4D5F-15BF00331AEB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1" name="Полилиния: фигура 16">
              <a:extLst>
                <a:ext uri="{FF2B5EF4-FFF2-40B4-BE49-F238E27FC236}">
                  <a16:creationId xmlns:a16="http://schemas.microsoft.com/office/drawing/2014/main" id="{81E5799A-EDA9-923F-4306-CDB07B346B8B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2" name="Полилиния: фигура 17">
              <a:extLst>
                <a:ext uri="{FF2B5EF4-FFF2-40B4-BE49-F238E27FC236}">
                  <a16:creationId xmlns:a16="http://schemas.microsoft.com/office/drawing/2014/main" id="{C8C06C37-DF23-F749-53E7-43DD5F9A34DA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3" name="Полилиния: фигура 18">
              <a:extLst>
                <a:ext uri="{FF2B5EF4-FFF2-40B4-BE49-F238E27FC236}">
                  <a16:creationId xmlns:a16="http://schemas.microsoft.com/office/drawing/2014/main" id="{18AB0B4B-8AF4-3CED-546E-8A0EDD0343AA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4" name="Полилиния: фигура 19">
              <a:extLst>
                <a:ext uri="{FF2B5EF4-FFF2-40B4-BE49-F238E27FC236}">
                  <a16:creationId xmlns:a16="http://schemas.microsoft.com/office/drawing/2014/main" id="{A09F4E37-B8CD-2EF9-2BDD-679C42F718DF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5" name="Полилиния: фигура 20">
              <a:extLst>
                <a:ext uri="{FF2B5EF4-FFF2-40B4-BE49-F238E27FC236}">
                  <a16:creationId xmlns:a16="http://schemas.microsoft.com/office/drawing/2014/main" id="{9D8C252F-C832-C60B-67B3-B6D013188DB3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6" name="Полилиния: фигура 21">
              <a:extLst>
                <a:ext uri="{FF2B5EF4-FFF2-40B4-BE49-F238E27FC236}">
                  <a16:creationId xmlns:a16="http://schemas.microsoft.com/office/drawing/2014/main" id="{FA7900B1-7A25-63CF-0588-70A25C00B663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7" name="Полилиния: фигура 22">
              <a:extLst>
                <a:ext uri="{FF2B5EF4-FFF2-40B4-BE49-F238E27FC236}">
                  <a16:creationId xmlns:a16="http://schemas.microsoft.com/office/drawing/2014/main" id="{EFB55E02-77C2-7DAA-FBBD-AAD9F92F0831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8" name="Полилиния: фигура 23">
              <a:extLst>
                <a:ext uri="{FF2B5EF4-FFF2-40B4-BE49-F238E27FC236}">
                  <a16:creationId xmlns:a16="http://schemas.microsoft.com/office/drawing/2014/main" id="{30535304-E628-32AB-C6BA-19E520C656BF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9" name="Полилиния: фигура 24">
              <a:extLst>
                <a:ext uri="{FF2B5EF4-FFF2-40B4-BE49-F238E27FC236}">
                  <a16:creationId xmlns:a16="http://schemas.microsoft.com/office/drawing/2014/main" id="{78104E2D-A620-47E2-40F3-A995004EE446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0" name="Полилиния: фигура 25">
              <a:extLst>
                <a:ext uri="{FF2B5EF4-FFF2-40B4-BE49-F238E27FC236}">
                  <a16:creationId xmlns:a16="http://schemas.microsoft.com/office/drawing/2014/main" id="{8EB92C67-7F68-803C-FB9E-2D13E650E6A1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1" name="Полилиния: фигура 26">
              <a:extLst>
                <a:ext uri="{FF2B5EF4-FFF2-40B4-BE49-F238E27FC236}">
                  <a16:creationId xmlns:a16="http://schemas.microsoft.com/office/drawing/2014/main" id="{3E0B4E90-F08C-B5ED-761E-838F2F9D531E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2" name="Полилиния: фигура 27">
              <a:extLst>
                <a:ext uri="{FF2B5EF4-FFF2-40B4-BE49-F238E27FC236}">
                  <a16:creationId xmlns:a16="http://schemas.microsoft.com/office/drawing/2014/main" id="{B6C8B631-B5E5-473B-FD01-2491F51BF4AA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3" name="Полилиния: фигура 28">
              <a:extLst>
                <a:ext uri="{FF2B5EF4-FFF2-40B4-BE49-F238E27FC236}">
                  <a16:creationId xmlns:a16="http://schemas.microsoft.com/office/drawing/2014/main" id="{380F7E94-40B3-49EA-38A2-A4683915276E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4" name="Полилиния: фигура 29">
              <a:extLst>
                <a:ext uri="{FF2B5EF4-FFF2-40B4-BE49-F238E27FC236}">
                  <a16:creationId xmlns:a16="http://schemas.microsoft.com/office/drawing/2014/main" id="{F9385ADB-6D1B-C79D-F5BB-B03F408AFC6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5" name="Полилиния: фигура 30">
              <a:extLst>
                <a:ext uri="{FF2B5EF4-FFF2-40B4-BE49-F238E27FC236}">
                  <a16:creationId xmlns:a16="http://schemas.microsoft.com/office/drawing/2014/main" id="{00D97A09-43D0-4152-831C-C7744B4FE7E6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6" name="Полилиния: фигура 31">
              <a:extLst>
                <a:ext uri="{FF2B5EF4-FFF2-40B4-BE49-F238E27FC236}">
                  <a16:creationId xmlns:a16="http://schemas.microsoft.com/office/drawing/2014/main" id="{83CFD5B5-DF45-F681-5596-E631C837531E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217" name="Рисунок 216">
              <a:extLst>
                <a:ext uri="{FF2B5EF4-FFF2-40B4-BE49-F238E27FC236}">
                  <a16:creationId xmlns:a16="http://schemas.microsoft.com/office/drawing/2014/main" id="{5AED15A4-4D29-1A14-4213-148543BBC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>
              <a:extLst>
                <a:ext uri="{FF2B5EF4-FFF2-40B4-BE49-F238E27FC236}">
                  <a16:creationId xmlns:a16="http://schemas.microsoft.com/office/drawing/2014/main" id="{D613CEB1-BB3C-206D-6D01-E1CB7887B429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9" name="Полилиния: фигура 34">
              <a:extLst>
                <a:ext uri="{FF2B5EF4-FFF2-40B4-BE49-F238E27FC236}">
                  <a16:creationId xmlns:a16="http://schemas.microsoft.com/office/drawing/2014/main" id="{69F35FD4-E9E3-2671-1E63-C0ECA01A6C97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0" name="Полилиния: фигура 35">
              <a:extLst>
                <a:ext uri="{FF2B5EF4-FFF2-40B4-BE49-F238E27FC236}">
                  <a16:creationId xmlns:a16="http://schemas.microsoft.com/office/drawing/2014/main" id="{6DDAF0B9-15C9-D0FE-7E34-9051A84DDBB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1" name="Полилиния: фигура 36">
              <a:extLst>
                <a:ext uri="{FF2B5EF4-FFF2-40B4-BE49-F238E27FC236}">
                  <a16:creationId xmlns:a16="http://schemas.microsoft.com/office/drawing/2014/main" id="{BB968C32-6E31-7C3C-54D5-B0EED92672B1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324562"/>
            <a:ext cx="450596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ОДНА ВСТРЕЧА: ПУТЬ ИГРОКА</a:t>
            </a:r>
            <a:endParaRPr lang="ru-RU" sz="20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686358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3" name="Рисунок 2" descr="s9_map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14" b="14"/>
          <a:stretch>
            <a:fillRect/>
          </a:stretch>
        </p:blipFill>
        <p:spPr/>
      </p:pic>
      <p:pic>
        <p:nvPicPr>
          <p:cNvPr id="4" name="Рисунок 3" descr="s9_jury.png"/>
          <p:cNvPicPr>
            <a:picLocks noGrp="1" noChangeAspect="1"/>
          </p:cNvPicPr>
          <p:nvPr>
            <p:ph type="pic" sz="quarter" idx="11"/>
          </p:nvPr>
        </p:nvPicPr>
        <p:blipFill>
          <a:blip r:embed="rId5"/>
          <a:srcRect l="98" r="98"/>
          <a:stretch>
            <a:fillRect/>
          </a:stretch>
        </p:blipFill>
        <p:spPr/>
      </p:pic>
      <p:pic>
        <p:nvPicPr>
          <p:cNvPr id="5" name="Рисунок 4" descr="s9_cut.png"/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t="93" b="93"/>
          <a:stretch>
            <a:fillRect/>
          </a:stretch>
        </p:blipFill>
        <p:spPr/>
      </p:pic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 anchor="ctr" lIns="182880" tIns="73152" rIns="182880" bIns="73152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Неделя в Алабуге на карте Елабуги и ОЭЗ. </a:t>
            </a:r>
            <a:r>
              <a:rPr lang="ru-RU" sz="1200" dirty="0">
                <a:solidFill>
                  <a:schemeClr val="tx1"/>
                </a:solidFill>
              </a:rPr>
              <a:t>Вы новенький: общага, остановка у ларька, магазин, три рабочих дела и ночь перед запуском линии. В каждой главе один приём, движок и разбор те же, что в деловых делах.</a:t>
            </a:r>
            <a:endParaRPr lang="ru-RU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Катсцены. </a:t>
            </a:r>
            <a:r>
              <a:rPr lang="ru-RU" sz="1200" dirty="0">
                <a:solidFill>
                  <a:schemeClr val="tx1"/>
                </a:solidFill>
              </a:rPr>
              <a:t>Между главами пиксельные ролики на 18–40 секунд: автобус вдоль Камы, памятка в телефоне, дорога на завод.</a:t>
            </a:r>
            <a:endParaRPr lang="ru-RU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«Для жюри». </a:t>
            </a:r>
            <a:r>
              <a:rPr lang="ru-RU" sz="1200" dirty="0">
                <a:solidFill>
                  <a:schemeClr val="tx1"/>
                </a:solidFill>
              </a:rPr>
              <a:t>Кнопка на титуле или /?jury: всё открыто без катсцен, путь кейса в четыре шага — настроить, провести, разбор, команда.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324562"/>
            <a:ext cx="657098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СЮЖЕТ «НОВЕНЬКИЙ» И РЕЖИМ ДЛЯ ЖЮРИ</a:t>
            </a:r>
            <a:endParaRPr lang="ru-RU" sz="20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651760"/>
            <a:ext cx="2965634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деловых дела и своё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54680"/>
            <a:ext cx="2965633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«Оффер для робототехника» (найм), «Тара к запуску» (закупки), «Удержать клиента» (продажи). После первой сделки открывается жёсткая версия. Своё дело собирается по форме.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651760"/>
            <a:ext cx="3034896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решений на каждый ход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54680"/>
            <a:ext cx="3034896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Принять, встречное, рассказать о своём интересе, держать позицию, одёрнуть за тон или уйти. Выбор зависит от того, что вы узнали и что предложили. За мат первый раз одёрнет, второй раз уйдёт.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651760"/>
            <a:ext cx="2945464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финалов у каждого дела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54680"/>
            <a:ext cx="2945464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От «Сделки, о которой расскажут» до «Хлопнул дверью» и «Время вышло». В разборе видно, какие финалы открыты, а какие ждут за другими решениями. Звания и навыки копятся в «Личном деле».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457200"/>
            <a:ext cx="8686800" cy="37613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МЕХАНИКА И СЦЕНАРИИ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3</a:t>
            </a:r>
            <a:endParaRPr lang="ru-RU" sz="5400" b="1" dirty="0">
              <a:solidFill>
                <a:schemeClr val="accent1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6</a:t>
            </a:r>
            <a:endParaRPr lang="ru-RU" sz="5400" b="1" dirty="0">
              <a:solidFill>
                <a:schemeClr val="accent1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8</a:t>
            </a:r>
            <a:endParaRPr lang="ru-RU" sz="54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5"/>
                </a:solidFill>
              </a:rPr>
              <a:t>Как считаем сделку</a:t>
            </a:r>
            <a:endParaRPr lang="ru-RU" sz="2200" b="1" dirty="0">
              <a:solidFill>
                <a:schemeClr val="accent5"/>
              </a:solidFill>
            </a:endParaRPr>
          </a:p>
        </p:txBody>
      </p:sp>
      <p:pic>
        <p:nvPicPr>
          <p:cNvPr id="4" name="Рисунок 3" descr="s11_map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14" r="14"/>
          <a:stretch>
            <a:fillRect/>
          </a:stretch>
        </p:blipFill>
        <p:spPr/>
      </p:pic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88720"/>
            <a:ext cx="4807840" cy="5120640"/>
          </a:xfrm>
        </p:spPr>
        <p:txBody>
          <a:bodyPr anchor="t" lIns="0" tIns="0" rIns="0" bIns="0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В договоре пять пунктов. У каждой стороны своя скрытая таблица очков и свой запасной вариант: то, что будет без сделки.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Пункты трёх видов: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делимые: </a:t>
            </a:r>
            <a:r>
              <a:rPr lang="ru-RU" sz="1200" dirty="0">
                <a:solidFill>
                  <a:schemeClr val="tx1"/>
                </a:solidFill>
              </a:rPr>
              <a:t>цена, оклад. Что одному плюс, другому минус;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разменные: </a:t>
            </a:r>
            <a:r>
              <a:rPr lang="ru-RU" sz="1200" dirty="0">
                <a:solidFill>
                  <a:schemeClr val="tx1"/>
                </a:solidFill>
              </a:rPr>
              <a:t>одной стороне важно, другой почти всё равно;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совместимые: </a:t>
            </a:r>
            <a:r>
              <a:rPr lang="ru-RU" sz="1200" dirty="0">
                <a:solidFill>
                  <a:schemeClr val="tx1"/>
                </a:solidFill>
              </a:rPr>
              <a:t>обе хотят одного и того же, но не знают об этом.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Кто давит и делит пополам, получает середину. Кто расспрашивает и меняет «если вы…, то мы…», находит сделку, где выигрывают оба. В «Таре к запуску» всё посередине даёт 103 очка на двоих, лучший размен — 144.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Разбор показывает очки против запасного варианта, эффективность по Парето и сколько осталось на столе. Справа карта всех сделок дела: жёлтая граница Парето, красная точка — ваша сделка.</a:t>
            </a:r>
            <a:endParaRPr lang="ru-RU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35025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16 приёмов, у каждого цитата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552647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Нейросеть ищет в реплике приёмы из закрытого списка. Без цитаты приём не засчитывается, правила-регулярки перепроверяют.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Одна мерка для всех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418717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Разметка идёт при температуре 0 и кэшируется, в движке нет случайности. Та же история ходов даёт тот же разбор байт в байт.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Проверили пересказом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374652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Те же ходы другими словами: 72 и 72 очка, Парето 100%, доверие 61 и 62. Оценки «7 из 10» от нейросети нет.</a:t>
            </a:r>
            <a:endParaRPr lang="ru-RU" sz="1150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7472" y="1325880"/>
          <a:ext cx="576072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324562"/>
            <a:ext cx="405765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КАК СЧИТАЕМ ПОВЕДЕНИЕ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1480" y="1024128"/>
            <a:ext cx="566928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FFFF"/>
                </a:solidFill>
              </a:rPr>
              <a:t>Что сильные переговорщики делают чаще средних, % высказываний</a:t>
            </a:r>
            <a:endParaRPr lang="ru-RU" sz="1200" b="1" dirty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11480" y="5852160"/>
            <a:ext cx="566928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FFD6E3"/>
                </a:solidFill>
              </a:rPr>
              <a:t>Rackham &amp; Carlisle, 1978: 49 переговорщиков, 103 реальные сессии. Этот профиль — эталон в разборе и на доске команды.</a:t>
            </a:r>
            <a:endParaRPr lang="ru-RU" sz="1000" dirty="0">
              <a:solidFill>
                <a:srgbClr val="FFD6E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633653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www.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lider</a:t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.com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www.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lider</a:t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.com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0" y="4224528"/>
            <a:ext cx="0" cy="19202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Своё дело за 10–20 секунд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Сфера, ваша роль, кто напротив и чего добивается, характер и сложность. Историю пишет нейросеть, таблицы очков строит движок и проверяет, что договориться можно и есть что обменять.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4224528"/>
            <a:ext cx="0" cy="19202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Доска команды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Руководитель выбирает дело и шлёт ссылку в рабочий чат. На доске очки каждого против запасного варианта, Парето, доверие, финалы, типичные ошибки и профиль против эталона. Есть выгрузка в CSV.</a:t>
            </a:r>
            <a:endParaRPr lang="ru-RU" sz="1200" dirty="0">
              <a:solidFill>
                <a:schemeClr val="tx1"/>
              </a:solidFill>
            </a:endParaRPr>
          </a:p>
        </p:txBody>
      </p:sp>
      <p:pic>
        <p:nvPicPr>
          <p:cNvPr id="5" name="Рисунок 4" descr="s13_form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3" r="3"/>
          <a:stretch>
            <a:fillRect/>
          </a:stretch>
        </p:blipFill>
        <p:spPr/>
      </p:pic>
      <p:pic>
        <p:nvPicPr>
          <p:cNvPr id="6" name="Рисунок 5" descr="s13_board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50" b="50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324562"/>
            <a:ext cx="6043929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НАСТРОЙКА И КАБИНЕТ РУКОВОДИТЕЛЯ</a:t>
            </a:r>
            <a:endParaRPr lang="ru-RU" sz="20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772210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27432" tIns="27432" rIns="27432" bIns="27432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Движок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>решает</a:t>
            </a:r>
            <a:endParaRPr lang="ru-RU" sz="1300" b="1" dirty="0">
              <a:solidFill>
                <a:schemeClr val="accent1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27432" tIns="27432" rIns="27432" bIns="27432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Нейросеть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>читает</a:t>
            </a:r>
            <a:endParaRPr lang="ru-RU" sz="1300" b="1" dirty="0">
              <a:solidFill>
                <a:schemeClr val="accent1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00400"/>
            <a:ext cx="3264113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1. Разметка реплики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YandexGPT 5.1 находит в реплике игрока приёмы из списка в 16, сделанное предложение и нарушения тона. Температура 0, ответ кэшируется по хэшу реплики.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00400"/>
            <a:ext cx="3264113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2. Решение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Движок сдвигает доверие и напряжение и выбирает одно из шести действий. Уступает по кривой Faratin (1998) и никогда не опускается ниже своей альтернативы.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00400"/>
            <a:ext cx="3264113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3. Ответ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YandexGPT пишет ответ в характере персонажа, SpeechKit озвучивает. Реплику, которая спорит с движком, выбрасываем. Резервной цены модель не знает.</a:t>
            </a:r>
            <a:endParaRPr lang="ru-RU" sz="1200" dirty="0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27432" tIns="27432" rIns="27432" bIns="27432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Нейросеть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>говорит</a:t>
            </a:r>
            <a:endParaRPr lang="ru-RU" sz="1300" b="1" dirty="0">
              <a:solidFill>
                <a:schemeClr val="accent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324562"/>
            <a:ext cx="742950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ТЕХНИКА: ДВИЖОК РЕШАЕТ, НЕЙРОСЕТЬ ГОВОРИТ</a:t>
            </a:r>
            <a:endParaRPr lang="ru-RU" sz="2000" b="1" dirty="0">
              <a:solidFill>
                <a:srgbClr val="FFFFFF"/>
              </a:solidFill>
            </a:endParaRP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75488" y="5559552"/>
            <a:ext cx="361188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Почему Яндекс. </a:t>
            </a:r>
            <a:r>
              <a:rPr lang="ru-RU" sz="1100" dirty="0">
                <a:solidFill>
                  <a:srgbClr val="FFFFFF"/>
                </a:solidFill>
              </a:rPr>
              <a:t>Работает из России и оплачивается в рублях. OpenAI и Anthropic с нашего сервера отвечают 403.</a:t>
            </a:r>
            <a:endParaRPr lang="ru-RU" sz="1100" dirty="0">
              <a:solidFill>
                <a:srgbClr val="FFFFFF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4370832" y="5559552"/>
            <a:ext cx="361188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Офлайн. </a:t>
            </a:r>
            <a:r>
              <a:rPr lang="ru-RU" sz="1100" dirty="0">
                <a:solidFill>
                  <a:srgbClr val="FFFFFF"/>
                </a:solidFill>
              </a:rPr>
              <a:t>Нет ключа или модель молчит 25 секунд: ход доигрывают правила и заготовки, игра не встаёт.</a:t>
            </a:r>
            <a:endParaRPr lang="ru-RU" sz="1100" dirty="0">
              <a:solidFill>
                <a:srgbClr val="FFFFFF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275320" y="5559552"/>
            <a:ext cx="306324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Бюджет. </a:t>
            </a:r>
            <a:r>
              <a:rPr lang="ru-RU" sz="1100" dirty="0">
                <a:solidFill>
                  <a:srgbClr val="FFFFFF"/>
                </a:solidFill>
              </a:rPr>
              <a:t>150 ₽ в сутки: с 80% включается YandexGPT Lite, со 100% офлайн. 314 автотестов.</a:t>
            </a:r>
            <a:endParaRPr lang="ru-RU" sz="11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87603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286000"/>
            <a:ext cx="237744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Уже работает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3 деловых дела и сюжет из 7 глав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своё дело по форме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3D-встреча и классический 2D-вид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голос: озвучка и распознавание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разбор с картой сделок и перемоткой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кабинет руководителя, доска, CSV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офлайн-режим и телефон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286000"/>
            <a:ext cx="2377440" cy="403756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Пока нет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аккаунтов: доска открывается по секретной ссылке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ручного редактора таблиц очков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переговоров человека с человеком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выгрузки в LMS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286000"/>
            <a:ext cx="2377440" cy="403913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Дальше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редактор дела для L&amp;D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наборы дел под отделы резидентов ОЭЗ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выгрузка в LMS: xAPI, SCORM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режим «команда против команды»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прирост по отделу на доске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286000"/>
            <a:ext cx="237744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Мерить на пилоте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долю сделок хуже запасного варианта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среднюю эффективность по Парето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долю раскрытых интересов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прирост от первой к третьей попытке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324562"/>
            <a:ext cx="4583429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ГРАНИЦЫ MVP И ЧТО ДАЛЬШЕ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91440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01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914400" cy="403756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02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914400" cy="403913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03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91440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04</a:t>
            </a:r>
            <a:endParaRPr lang="ru-RU" sz="22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201168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2" name="Рисунок 1" descr="s16_title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27" b="27"/>
          <a:stretch>
            <a:fillRect/>
          </a:stretch>
        </p:blipFill>
        <p:spPr/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Сайт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https://arena-peregovorov.ru. Работает в браузере на ноутбуке и телефоне, микрофон нужен только для голоса.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Для жюри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Кнопка на титуле или /?jury. Четыре шага: своё дело, встреча, готовый разбор, доска команды.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Локально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npm ci, затем npm run dev. Без ключей игра работает офлайн: реплики разбирают правила, собеседник отвечает заготовками.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324562"/>
            <a:ext cx="106934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ДЕМО</a:t>
            </a:r>
            <a:endParaRPr lang="ru-RU" sz="2000" b="1" dirty="0">
              <a:solidFill>
                <a:srgbClr val="FFFFFF"/>
              </a:solidFill>
            </a:endParaRPr>
          </a:p>
        </p:txBody>
      </p:sp>
      <p:pic>
        <p:nvPicPr>
          <p:cNvPr id="13" name="Picture 12" descr="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960120"/>
            <a:ext cx="2331720" cy="2331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78240" y="3401568"/>
            <a:ext cx="3017520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1"/>
                </a:solidFill>
              </a:rPr>
              <a:t>arena-peregovorov.ru</a:t>
            </a:r>
            <a:endParaRPr lang="ru-RU" sz="1600" b="1" dirty="0">
              <a:solidFill>
                <a:schemeClr val="accent1"/>
              </a:solidFill>
            </a:endParaRPr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4A4453"/>
                </a:solidFill>
              </a:rPr>
              <a:t>наведите камеру телефона</a:t>
            </a:r>
            <a:endParaRPr lang="ru-RU" sz="1100" dirty="0">
              <a:solidFill>
                <a:srgbClr val="4A4453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1234440"/>
            <a:ext cx="3108960" cy="2926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5"/>
                </a:solidFill>
              </a:rPr>
              <a:t>Сыграйте одну встречу</a:t>
            </a:r>
            <a:endParaRPr lang="ru-RU" sz="22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Пятнадцать минут, без регистрации и установки. В конце разбор ваших же фраз.</a:t>
            </a:r>
            <a:endParaRPr lang="ru-RU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