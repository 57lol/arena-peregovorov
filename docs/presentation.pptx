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24"/>
    <p:sldId id="262" r:id="rId21"/>
    <p:sldId id="370" r:id="rId16"/>
    <p:sldId id="272" r:id="rId30"/>
    <p:sldId id="261" r:id="rId20"/>
    <p:sldId id="374" r:id="rId18"/>
    <p:sldId id="373" r:id="rId15"/>
    <p:sldId id="263" r:id="rId22"/>
    <p:sldId id="270" r:id="rId28"/>
    <p:sldId id="268" r:id="rId25"/>
    <p:sldId id="377" r:id="rId23"/>
    <p:sldId id="371" r:id="rId17"/>
    <p:sldId id="269" r:id="rId27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5" Type="http://schemas.openxmlformats.org/officeDocument/2006/relationships/slide" Target="slides/slide11.xml"/><Relationship Id="rId16" Type="http://schemas.openxmlformats.org/officeDocument/2006/relationships/slide" Target="slides/slide7.xml"/><Relationship Id="rId17" Type="http://schemas.openxmlformats.org/officeDocument/2006/relationships/slide" Target="slides/slide15.xml"/><Relationship Id="rId18" Type="http://schemas.openxmlformats.org/officeDocument/2006/relationships/slide" Target="slides/slide10.xml"/><Relationship Id="rId20" Type="http://schemas.openxmlformats.org/officeDocument/2006/relationships/slide" Target="slides/slide9.xml"/><Relationship Id="rId21" Type="http://schemas.openxmlformats.org/officeDocument/2006/relationships/slide" Target="slides/slide6.xml"/><Relationship Id="rId22" Type="http://schemas.openxmlformats.org/officeDocument/2006/relationships/slide" Target="slides/slide12.xml"/><Relationship Id="rId23" Type="http://schemas.openxmlformats.org/officeDocument/2006/relationships/slide" Target="slides/slide18.xml"/><Relationship Id="rId24" Type="http://schemas.openxmlformats.org/officeDocument/2006/relationships/slide" Target="slides/slide17.xml"/><Relationship Id="rId25" Type="http://schemas.openxmlformats.org/officeDocument/2006/relationships/slide" Target="slides/slide14.xml"/><Relationship Id="rId27" Type="http://schemas.openxmlformats.org/officeDocument/2006/relationships/slide" Target="slides/slide16.xml"/><Relationship Id="rId28" Type="http://schemas.openxmlformats.org/officeDocument/2006/relationships/slide" Target="slides/slide13.xml"/><Relationship Id="rId30" Type="http://schemas.openxmlformats.org/officeDocument/2006/relationships/slide" Target="slides/slide8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36"/>
          <c:y val="0.02"/>
          <c:w val="0.56"/>
          <c:h val="0.8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Средние</c:v>
                </c:pt>
              </c:strCache>
            </c:strRef>
          </c:tx>
          <c:spPr>
            <a:solidFill>
              <a:srgbClr val="FFD6E4"/>
            </a:solidFill>
            <a:ln w="63500"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Объявляют свой ход</c:v>
                </c:pt>
                <c:pt idx="1">
                  <c:v>Подводят итог</c:v>
                </c:pt>
                <c:pt idx="2">
                  <c:v>Проверяют понимание</c:v>
                </c:pt>
                <c:pt idx="3">
                  <c:v>Делятся своими мыслями</c:v>
                </c:pt>
                <c:pt idx="4">
                  <c:v>Спрашивают об интересах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1.2</c:v>
                </c:pt>
                <c:pt idx="1">
                  <c:v>4.2</c:v>
                </c:pt>
                <c:pt idx="2">
                  <c:v>4.1</c:v>
                </c:pt>
                <c:pt idx="3">
                  <c:v>7.8</c:v>
                </c:pt>
                <c:pt idx="4">
                  <c:v>9.6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Сильные переговорщики</c:v>
                </c:pt>
              </c:strCache>
            </c:strRef>
          </c:tx>
          <c:spPr>
            <a:solidFill>
              <a:srgbClr val="FF0053"/>
            </a:solidFill>
            <a:ln w="63500"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Объявляют свой ход</c:v>
                </c:pt>
                <c:pt idx="1">
                  <c:v>Подводят итог</c:v>
                </c:pt>
                <c:pt idx="2">
                  <c:v>Проверяют понимание</c:v>
                </c:pt>
                <c:pt idx="3">
                  <c:v>Делятся своими мыслями</c:v>
                </c:pt>
                <c:pt idx="4">
                  <c:v>Спрашивают об интересах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6.4</c:v>
                </c:pt>
                <c:pt idx="1">
                  <c:v>7.5</c:v>
                </c:pt>
                <c:pt idx="2">
                  <c:v>9.7</c:v>
                </c:pt>
                <c:pt idx="3">
                  <c:v>12.1</c:v>
                </c:pt>
                <c:pt idx="4">
                  <c:v>21.3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numFmt formatCode="0.0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25.0"/>
          <c:min val="0.0"/>
        </c:scaling>
        <c:delete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100"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Relationship Id="rId3" Type="http://schemas.openxmlformats.org/officeDocument/2006/relationships/image" Target="../media/image32.png"/><Relationship Id="rId4" Type="http://schemas.openxmlformats.org/officeDocument/2006/relationships/image" Target="../media/image19.png"/><Relationship Id="rId5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 anchor="b" wrap="square">
            <a:noAutofit/>
          </a:bodyPr>
          <a:lstStyle/>
          <a:p>
            <a:pPr marL="268288" indent="0"/>
            <a:r>
              <a:rPr lang="ru-RU" sz="1800" b="0" dirty="0"/>
              <a:t>ЛЦТ 2026 · кейс №9 «Арена переговоров»</a:t>
            </a:r>
            <a:endParaRPr lang="ru-RU" sz="1800" b="0" dirty="0"/>
          </a:p>
          <a:p>
            <a:pPr marL="268288" indent="0"/>
            <a:r>
              <a:rPr lang="ru-RU" sz="6000" dirty="0"/>
              <a:t>Переговорка</a:t>
            </a:r>
            <a:endParaRPr lang="ru-RU" sz="6000" dirty="0"/>
          </a:p>
        </p:txBody>
      </p:sp>
      <p:pic>
        <p:nvPicPr>
          <p:cNvPr id="4" name="Рисунок 3" descr="s1_logo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 l="173" r="173"/>
          <a:stretch>
            <a:fillRect/>
          </a:stretch>
        </p:blipFill>
        <p:spPr>
          <a:xfrm>
            <a:off x="305186" y="329801"/>
            <a:ext cx="5193299" cy="1082589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 wrap="square">
            <a:noAutofit/>
          </a:bodyPr>
          <a:lstStyle/>
          <a:p>
            <a:pPr indent="268288"/>
            <a:r>
              <a:rPr lang="ru-RU" dirty="0"/>
              <a:t>Команда «Би 2 Би» · игра-тренажёр деловых переговоров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Рисунок 1" descr="s2_meeting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14" b="14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4173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Итог считает движок по скрытым таблицам обеих сторон, а нейросеть только размечает реплики и говорит за персонажа. Один и тот же диалог даёт один и тот же разбор, поэтому результаты команды можно сравнивать на одной доске.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Капитан: </a:t>
            </a:r>
            <a:r>
              <a:rPr lang="ru-RU" dirty="0">
                <a:solidFill>
                  <a:schemeClr val="tx1"/>
                </a:solidFill>
              </a:rPr>
              <a:t>Никита Дмитриевич Голубев, продукт и геймдизайн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Кол-во участников: </a:t>
            </a:r>
            <a:r>
              <a:rPr lang="ru-RU" dirty="0">
                <a:solidFill>
                  <a:schemeClr val="tx1"/>
                </a:solidFill>
              </a:rPr>
              <a:t>2 человека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</a:t>
            </a:r>
            <a:endParaRPr lang="ru-RU" b="1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собрались под ЛЦТ: идея игры была у Никиты, Пётр взял методику оценки</a:t>
            </a:r>
            <a:endParaRPr lang="ru-RU" i="1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учёба: Никита — НИУ ВШЭ; Пётр: —</a:t>
            </a:r>
            <a:endParaRPr lang="ru-RU" i="1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Город и регион: </a:t>
            </a:r>
            <a:r>
              <a:rPr lang="ru-RU" dirty="0">
                <a:solidFill>
                  <a:schemeClr val="tx1"/>
                </a:solidFill>
              </a:rPr>
              <a:t>Москва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 anchor="b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chemeClr val="accent5"/>
                </a:solidFill>
              </a:rPr>
              <a:t>Переговорка</a:t>
            </a:r>
            <a:endParaRPr lang="ru-RU" sz="2400" b="1" dirty="0">
              <a:solidFill>
                <a:schemeClr val="accent5"/>
              </a:solidFill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6002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Пиксельная игра-тренажёр: сотрудник ведёт деловые переговоры с персонажем — закупку, найм, продажу или своё дело. После встречи он видит разбор: сколько взял и что оставил на столе.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6150345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322629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Аналитик и методолог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Ник: —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Телефон: —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Учёба: —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322628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b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Пётр Александров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845027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" name="Рисунок 1" descr="p_photoA.pn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176" b="176"/>
          <a:stretch>
            <a:fillRect/>
          </a:stretch>
        </p:blipFill>
        <p:spPr>
          <a:xfrm>
            <a:off x="4080348" y="1816054"/>
            <a:ext cx="1722566" cy="1552901"/>
          </a:xfrm>
        </p:spPr>
      </p:pic>
      <p:pic>
        <p:nvPicPr>
          <p:cNvPr id="3" name="Рисунок 2" descr="p_photoB.pn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510" b="510"/>
          <a:stretch>
            <a:fillRect/>
          </a:stretch>
        </p:blipFill>
        <p:spPr>
          <a:xfrm>
            <a:off x="6385418" y="1826554"/>
            <a:ext cx="1722566" cy="1542401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 wrap="square"/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КОМАНДА «БИ 2 БИ»</a:t>
            </a:r>
            <a:endParaRPr lang="ru-RU" dirty="0"/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017311" y="4250028"/>
            <a:ext cx="1894354" cy="1624612"/>
          </a:xfrm>
        </p:spPr>
        <p:txBody>
          <a:bodyPr wrap="square">
            <a:no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Капитан: продукт и геймдизайн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Ник: —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Телефон: —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Учёба: НИУ ВШЭ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4017310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b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Никита Голубев</a:t>
            </a:r>
            <a:endParaRPr lang="ru-RU" sz="16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 wrap="square"/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ИСТОРИЯ КОМАНДЫ</a:t>
            </a:r>
            <a:endParaRPr lang="ru-RU" dirty="0"/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10241280" cy="1097280"/>
          </a:xfrm>
        </p:spPr>
        <p:txBody>
          <a:bodyPr wrap="square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Никита и Пётр собрались под ЛЦТ-2026. Идея пиксельной игры с живым собеседником была у Никиты с самого начала: YandexGPT и SpeechKit он уже обкатал на своём проекте ПИРС, это социальные истории для детей с РАС. Пётр взял на себя методику: сценарии, таблицы очков и поведенческие индикаторы.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8928"/>
            <a:ext cx="10241280" cy="11887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Модели плохо ведут и судят переговоры: якорятся на первой цифре, делят пополам, выбалтывают свою цену. Решения и счёт мы отдали детерминированному движку, модели оставили разметку реплик и речь. OpenAI и Anthropic с российского сервера отвечают 403, поэтому взяли YandexGPT и SpeechKit и сделали офлайн-режим. На плейтестах новичку было тяжело: убрали жаргон, добавили наставника и сюжет. Чтобы собеседник не молчал, пока думает, записали фразы-паузы.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01568"/>
            <a:ext cx="10241280" cy="960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Кейс Алабуги можно решить игрой, а в игре не страшно ошибаться. Зацепила цифра: в учебных переговорах примерно половина участников не замечает, что по какому-то пункту хочет того же, что и другая сторона (Thompson &amp; Hrebec, 1996). Хотелось, чтобы игрок увидел это в своём разборе.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 anchor="t" wrap="square">
            <a:noAutofit/>
          </a:bodyPr>
          <a:lstStyle/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Веб-игра на React и three.js, сервер на Node 22. Открывается по ссылке на ноутбуке и телефоне.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YandexGPT размечает реплику игрока. Как ответит собеседник, решает детерминированный движок, он же считает итог по скрытым таблицам.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Нейросеть пишет ответ в характере персонажа, SpeechKit озвучивает его живым голосом. Пока модель думает, собеседник тянет паузу: «Хм, секунду».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Без ключей игра работает офлайн. На модель — не больше 150 ₽ в сутки, автотестов 314+.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 anchor="t" wrap="square">
            <a:noAutofit/>
          </a:bodyPr>
          <a:lstStyle/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Пилот в одном отделе резидента ОЭЗ: одно дело на всех, результаты у руководителя на доске.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Сюжет «Новенький» встраиваем в адаптацию молодых специалистов: неделя в Алабуге, по приёму в день.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«Сделка недели» в рабочем чате: все играют одно дело, а на планёрке разбирают лучшие ходы с доски.</a:t>
            </a:r>
            <a:endParaRPr lang="ru-RU" sz="14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400" dirty="0">
                <a:solidFill>
                  <a:schemeClr val="tx1"/>
                </a:solidFill>
              </a:rPr>
              <a:t>Дальше наборы дел под отделы и подписка «за место» для резидентов и их поставщиков.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  <a:endParaRPr lang="ru-RU" sz="20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4239514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8368" y="1664208"/>
            <a:ext cx="4754880" cy="1737360"/>
          </a:xfrm>
          <a:noFill/>
          <a:ln>
            <a:noFill/>
          </a:ln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chemeClr val="accent5"/>
                </a:solidFill>
              </a:rPr>
              <a:t>Проблема</a:t>
            </a:r>
            <a:endParaRPr lang="ru-RU" sz="20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tx1"/>
                </a:solidFill>
              </a:rPr>
              <a:t>Переговорам учат лекциями и редкими ролевыми играми. Попыток мало, разбор идёт на глаз, а свои формулировки почти никто не разбирает.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Закупки   </a:t>
            </a:r>
            <a:r>
              <a:rPr lang="ru-RU" sz="1300" dirty="0">
                <a:solidFill>
                  <a:schemeClr val="tx1"/>
                </a:solidFill>
              </a:rPr>
              <a:t>снабженцы заводов-резидентов и их поставщики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Продажи   </a:t>
            </a:r>
            <a:r>
              <a:rPr lang="ru-RU" sz="1300" dirty="0">
                <a:solidFill>
                  <a:schemeClr val="tx1"/>
                </a:solidFill>
              </a:rPr>
              <a:t>менеджеры по работе с ключевыми клиентами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Найм   </a:t>
            </a:r>
            <a:r>
              <a:rPr lang="ru-RU" sz="1300" dirty="0">
                <a:solidFill>
                  <a:schemeClr val="tx1"/>
                </a:solidFill>
              </a:rPr>
              <a:t>нанимающие руководители и HR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Новички   </a:t>
            </a:r>
            <a:r>
              <a:rPr lang="ru-RU" sz="1300" dirty="0">
                <a:solidFill>
                  <a:schemeClr val="tx1"/>
                </a:solidFill>
              </a:rPr>
              <a:t>молодые специалисты, которые только приехали в ОЭЗ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Заказчик   </a:t>
            </a:r>
            <a:r>
              <a:rPr lang="ru-RU" sz="1300" dirty="0">
                <a:solidFill>
                  <a:schemeClr val="tx1"/>
                </a:solidFill>
              </a:rPr>
              <a:t>HR, L&amp;D и руководители отделов: настраивают дела и смотрят доску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381889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ПРОБЛЕМА И АУДИТОРИЯ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58368" y="3246120"/>
            <a:ext cx="2286000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dirty="0">
                <a:solidFill>
                  <a:schemeClr val="accent1"/>
                </a:solidFill>
              </a:rPr>
              <a:t>50%</a:t>
            </a:r>
            <a:endParaRPr lang="ru-RU" sz="4800" b="1" dirty="0">
              <a:solidFill>
                <a:schemeClr val="accent1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8368" y="4069080"/>
            <a:ext cx="2240280" cy="12801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участников учебных переговоров не замечают, что по какому-то пункту хотят того же, что и другая сторона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127248" y="3246120"/>
            <a:ext cx="2286000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dirty="0">
                <a:solidFill>
                  <a:schemeClr val="accent1"/>
                </a:solidFill>
              </a:rPr>
              <a:t>20%</a:t>
            </a:r>
            <a:endParaRPr lang="ru-RU" sz="4800" b="1" dirty="0">
              <a:solidFill>
                <a:schemeClr val="accent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127248" y="4069080"/>
            <a:ext cx="2240280" cy="12801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переговоров заканчиваются сделкой, которая хуже для обеих сторон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58368" y="5532120"/>
            <a:ext cx="4754880" cy="41148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i="1" dirty="0">
                <a:solidFill>
                  <a:srgbClr val="6B6475"/>
                </a:solidFill>
              </a:rPr>
              <a:t>Thompson &amp; Hrebec, 1996: метаанализ 32 исследований</a:t>
            </a:r>
            <a:endParaRPr lang="ru-RU" sz="1000" i="1" dirty="0">
              <a:solidFill>
                <a:srgbClr val="6B647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/>
          <p:cNvSpPr/>
          <p:nvPr/>
        </p:nvSpPr>
        <p:spPr>
          <a:xfrm>
            <a:off x="7315200" y="1024128"/>
            <a:ext cx="4572000" cy="4983480"/>
          </a:xfrm>
          <a:prstGeom prst="roundRect">
            <a:avLst>
              <a:gd name="adj" fmla="val 6000"/>
            </a:avLst>
          </a:prstGeom>
          <a:solidFill>
            <a:srgbClr val="FF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457200"/>
            <a:ext cx="6309360" cy="438912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chemeClr val="accent5"/>
                </a:solidFill>
              </a:rPr>
              <a:t>ЧЕМ ЛУЧШЕ ОБЫЧНОГО ТРЕНИНГА</a:t>
            </a:r>
            <a:endParaRPr lang="ru-RU" sz="2400" b="1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48640" y="1600200"/>
            <a:ext cx="3017520" cy="868680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Попыток на человека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48640" y="2468880"/>
            <a:ext cx="3017520" cy="877824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Кто оценивает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48640" y="3346704"/>
            <a:ext cx="3017520" cy="832104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Сравнимость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8640" y="4178808"/>
            <a:ext cx="3017520" cy="86867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Разбор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48640" y="5047488"/>
            <a:ext cx="3017520" cy="868680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Под свою задачу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703320" y="1143000"/>
            <a:ext cx="3383280" cy="38404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6B6475"/>
                </a:solidFill>
              </a:rPr>
              <a:t>Тренинг или ролевая игра</a:t>
            </a:r>
            <a:endParaRPr lang="ru-RU" sz="1400" b="1" dirty="0">
              <a:solidFill>
                <a:srgbClr val="6B6475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543800" y="1143000"/>
            <a:ext cx="4206240" cy="384048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1"/>
                </a:solidFill>
              </a:rPr>
              <a:t>Переговорка</a:t>
            </a:r>
            <a:endParaRPr lang="ru-RU" sz="1600" b="1" dirty="0">
              <a:solidFill>
                <a:schemeClr val="accent1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703320" y="1600200"/>
            <a:ext cx="338328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1–2 за сессию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543800" y="1600200"/>
            <a:ext cx="416052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сколько угодно, по 10–15 минут, с телефона</a:t>
            </a:r>
            <a:endParaRPr lang="ru-RU" sz="1400" b="1" dirty="0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703320" y="2468880"/>
            <a:ext cx="3383280" cy="8778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тренер на глаз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543800" y="2468880"/>
            <a:ext cx="4160520" cy="8778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движок по скрытым таблицам обеих сторон</a:t>
            </a:r>
            <a:endParaRPr lang="ru-RU" sz="1400" b="1" dirty="0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703320" y="3346704"/>
            <a:ext cx="3383280" cy="8321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нет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543800" y="3346704"/>
            <a:ext cx="4160520" cy="8321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одно дело по ссылке: одинаковый ввод даёт одинаковый итог</a:t>
            </a:r>
            <a:endParaRPr lang="ru-RU" sz="1400" b="1" dirty="0">
              <a:solidFill>
                <a:schemeClr val="tx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703320" y="4178808"/>
            <a:ext cx="3383280" cy="868679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общий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543800" y="4178808"/>
            <a:ext cx="4160520" cy="868679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ваши фразы с цитатами, переиграть можно с любого хода</a:t>
            </a:r>
            <a:endParaRPr lang="ru-RU" sz="1400" b="1" dirty="0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703320" y="5047488"/>
            <a:ext cx="338328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4A4453"/>
                </a:solidFill>
              </a:rPr>
              <a:t>долго и дорого</a:t>
            </a:r>
            <a:endParaRPr lang="ru-RU" sz="1400" dirty="0">
              <a:solidFill>
                <a:srgbClr val="4A4453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543800" y="5047488"/>
            <a:ext cx="4160520" cy="8686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tx1"/>
                </a:solidFill>
              </a:rPr>
              <a:t>своё дело по форме за 10–20 секунд</a:t>
            </a:r>
            <a:endParaRPr lang="ru-RU" sz="1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372E3068-986E-9BBB-5D18-64091C039ECC}"/>
              </a:ext>
            </a:extLst>
          </p:cNvPr>
          <p:cNvSpPr/>
          <p:nvPr/>
        </p:nvSpPr>
        <p:spPr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B8BFB44-8926-1FDF-4E57-C5ADDA0407C0}"/>
              </a:ext>
            </a:extLst>
          </p:cNvPr>
          <p:cNvSpPr/>
          <p:nvPr/>
        </p:nvSpPr>
        <p:spPr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87E602FF-7E26-F668-96F3-CBB1BFAE5C17}"/>
              </a:ext>
            </a:extLst>
          </p:cNvPr>
          <p:cNvSpPr/>
          <p:nvPr/>
        </p:nvSpPr>
        <p:spPr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DB4A97A4-D44E-1F60-1759-1E959FA4D289}"/>
              </a:ext>
            </a:extLst>
          </p:cNvPr>
          <p:cNvSpPr/>
          <p:nvPr/>
        </p:nvSpPr>
        <p:spPr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F7C252A-35BF-DB93-9627-7E3B7BBEB1F9}"/>
              </a:ext>
            </a:extLst>
          </p:cNvPr>
          <p:cNvSpPr/>
          <p:nvPr/>
        </p:nvSpPr>
        <p:spPr>
          <a:xfrm>
            <a:off x="346075" y="324562"/>
            <a:ext cx="478942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2" name="Рисунок 1" descr="p_phone1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l="52" r="52"/>
          <a:stretch>
            <a:fillRect/>
          </a:stretch>
        </p:blipFill>
        <p:spPr>
          <a:xfrm>
            <a:off x="1044995" y="1139854"/>
            <a:ext cx="1726214" cy="3657600"/>
          </a:xfrm>
        </p:spPr>
      </p:pic>
      <p:pic>
        <p:nvPicPr>
          <p:cNvPr id="3" name="Рисунок 2" descr="p_phone2.png"/>
          <p:cNvPicPr>
            <a:picLocks noGrp="1" noChangeAspect="1"/>
          </p:cNvPicPr>
          <p:nvPr>
            <p:ph type="pic" sz="quarter" idx="15"/>
          </p:nvPr>
        </p:nvPicPr>
        <p:blipFill>
          <a:blip r:embed="rId5"/>
          <a:srcRect l="52" r="52"/>
          <a:stretch>
            <a:fillRect/>
          </a:stretch>
        </p:blipFill>
        <p:spPr>
          <a:xfrm>
            <a:off x="3770385" y="1139854"/>
            <a:ext cx="1726214" cy="3657600"/>
          </a:xfrm>
        </p:spPr>
      </p:pic>
      <p:pic>
        <p:nvPicPr>
          <p:cNvPr id="4" name="Рисунок 3" descr="p_phone3.png"/>
          <p:cNvPicPr>
            <a:picLocks noGrp="1" noChangeAspect="1"/>
          </p:cNvPicPr>
          <p:nvPr>
            <p:ph type="pic" sz="quarter" idx="16"/>
          </p:nvPr>
        </p:nvPicPr>
        <p:blipFill>
          <a:blip r:embed="rId6"/>
          <a:srcRect l="52" r="52"/>
          <a:stretch>
            <a:fillRect/>
          </a:stretch>
        </p:blipFill>
        <p:spPr>
          <a:xfrm>
            <a:off x="6752863" y="1144729"/>
            <a:ext cx="1726214" cy="3657600"/>
          </a:xfrm>
        </p:spPr>
      </p:pic>
      <p:pic>
        <p:nvPicPr>
          <p:cNvPr id="5" name="Рисунок 4" descr="p_phone4.png"/>
          <p:cNvPicPr>
            <a:picLocks noGrp="1" noChangeAspect="1"/>
          </p:cNvPicPr>
          <p:nvPr>
            <p:ph type="pic" sz="quarter" idx="17"/>
          </p:nvPr>
        </p:nvPicPr>
        <p:blipFill>
          <a:blip r:embed="rId7"/>
          <a:srcRect l="52" r="52"/>
          <a:stretch>
            <a:fillRect/>
          </a:stretch>
        </p:blipFill>
        <p:spPr>
          <a:xfrm>
            <a:off x="9621936" y="1120110"/>
            <a:ext cx="1726214" cy="3657600"/>
          </a:xfrm>
        </p:spPr>
      </p:pic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A7D045A-A8EF-4758-822A-D4C79AEC50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29</a:t>
            </a:fld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E888D882-21EA-4859-AD0B-F83535D571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9155" y="5035451"/>
            <a:ext cx="2658088" cy="1271340"/>
          </a:xfrm>
        </p:spPr>
        <p:txBody>
          <a:bodyPr anchor="t" lIns="109728" tIns="91440" rIns="91440" bIns="4572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1. Бриф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chemeClr val="tx1"/>
                </a:solidFill>
              </a:rPr>
              <a:t>Кто вы, кто напротив, чего хотите и что будет без сделки.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4512A82-0FB0-43DF-93BA-4AAE010B0E7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302624" y="5035451"/>
            <a:ext cx="2706185" cy="1271340"/>
          </a:xfrm>
        </p:spPr>
        <p:txBody>
          <a:bodyPr anchor="t" lIns="109728" tIns="91440" rIns="91440" bIns="4572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2. Разговор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chemeClr val="tx1"/>
                </a:solidFill>
              </a:rPr>
              <a:t>10–12 реплик текстом или голосом, собеседник отвечает вслух. После хода плашка: что сработало, что помешало.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F3FD380F-869A-4817-B010-68C40DCD76C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04192" y="5035451"/>
            <a:ext cx="2728103" cy="1271340"/>
          </a:xfrm>
        </p:spPr>
        <p:txBody>
          <a:bodyPr anchor="t" lIns="109728" tIns="91440" rIns="91440" bIns="4572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3. Блокнот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chemeClr val="tx1"/>
                </a:solidFill>
              </a:rPr>
              <a:t>Условия собираете на столе и сразу видите, сколько каждое даёт вам.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B78F308C-1886-4E54-A21C-8947C5BAC39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5035451"/>
            <a:ext cx="2739248" cy="1271340"/>
          </a:xfrm>
        </p:spPr>
        <p:txBody>
          <a:bodyPr anchor="t" lIns="109728" tIns="91440" rIns="91440" bIns="4572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4. Разбор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chemeClr val="tx1"/>
                </a:solidFill>
              </a:rPr>
              <a:t>Сколько взяли и что осталось на столе. Переиграть можно с ключевого хода.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B78984E-BF6A-592D-77E7-74F307B32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5" y="324562"/>
            <a:ext cx="436880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ОДНА ВСТРЕЧА: ПУТЬ ИГРОКА</a:t>
            </a:r>
            <a:endParaRPr lang="ru-RU" sz="2000" b="1" dirty="0">
              <a:solidFill>
                <a:srgbClr val="FFFFFF"/>
              </a:solidFill>
            </a:endParaRPr>
          </a:p>
        </p:txBody>
      </p:sp>
      <p:grpSp>
        <p:nvGrpSpPr>
          <p:cNvPr id="122" name="Группа 121">
            <a:extLst>
              <a:ext uri="{FF2B5EF4-FFF2-40B4-BE49-F238E27FC236}">
                <a16:creationId xmlns:a16="http://schemas.microsoft.com/office/drawing/2014/main" id="{31250022-45D9-F12D-3C47-EF28765F4C31}"/>
              </a:ext>
            </a:extLst>
          </p:cNvPr>
          <p:cNvGrpSpPr/>
          <p:nvPr/>
        </p:nvGrpSpPr>
        <p:grpSpPr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123" name="Полилиния: фигура 13">
              <a:extLst>
                <a:ext uri="{FF2B5EF4-FFF2-40B4-BE49-F238E27FC236}">
                  <a16:creationId xmlns:a16="http://schemas.microsoft.com/office/drawing/2014/main" id="{24AEA150-DD4F-B078-FF83-FEE03143696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4" name="Полилиния: фигура 14">
              <a:extLst>
                <a:ext uri="{FF2B5EF4-FFF2-40B4-BE49-F238E27FC236}">
                  <a16:creationId xmlns:a16="http://schemas.microsoft.com/office/drawing/2014/main" id="{99E94FA1-5BB5-0D58-4BBD-DE5C76358423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25" name="Полилиния: фигура 15">
              <a:extLst>
                <a:ext uri="{FF2B5EF4-FFF2-40B4-BE49-F238E27FC236}">
                  <a16:creationId xmlns:a16="http://schemas.microsoft.com/office/drawing/2014/main" id="{EC571396-05D0-35C1-5295-C7D257F4D92F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6" name="Полилиния: фигура 16">
              <a:extLst>
                <a:ext uri="{FF2B5EF4-FFF2-40B4-BE49-F238E27FC236}">
                  <a16:creationId xmlns:a16="http://schemas.microsoft.com/office/drawing/2014/main" id="{9B732ADF-E9DA-13D4-42DD-BC54854010DA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7" name="Полилиния: фигура 17">
              <a:extLst>
                <a:ext uri="{FF2B5EF4-FFF2-40B4-BE49-F238E27FC236}">
                  <a16:creationId xmlns:a16="http://schemas.microsoft.com/office/drawing/2014/main" id="{0678F81A-528D-A550-D258-6BBE42EEC68D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8" name="Полилиния: фигура 18">
              <a:extLst>
                <a:ext uri="{FF2B5EF4-FFF2-40B4-BE49-F238E27FC236}">
                  <a16:creationId xmlns:a16="http://schemas.microsoft.com/office/drawing/2014/main" id="{25414295-E7C9-1A32-CA87-C03CF520D7C8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9" name="Полилиния: фигура 19">
              <a:extLst>
                <a:ext uri="{FF2B5EF4-FFF2-40B4-BE49-F238E27FC236}">
                  <a16:creationId xmlns:a16="http://schemas.microsoft.com/office/drawing/2014/main" id="{E8A820F9-852B-9D6F-4958-7115D82B78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0" name="Полилиния: фигура 20">
              <a:extLst>
                <a:ext uri="{FF2B5EF4-FFF2-40B4-BE49-F238E27FC236}">
                  <a16:creationId xmlns:a16="http://schemas.microsoft.com/office/drawing/2014/main" id="{A1CF9CF3-386D-EAF7-4826-6711831475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1" name="Полилиния: фигура 21">
              <a:extLst>
                <a:ext uri="{FF2B5EF4-FFF2-40B4-BE49-F238E27FC236}">
                  <a16:creationId xmlns:a16="http://schemas.microsoft.com/office/drawing/2014/main" id="{96508A4E-34F4-C72C-8A4A-3D35D6C3DB3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2" name="Полилиния: фигура 22">
              <a:extLst>
                <a:ext uri="{FF2B5EF4-FFF2-40B4-BE49-F238E27FC236}">
                  <a16:creationId xmlns:a16="http://schemas.microsoft.com/office/drawing/2014/main" id="{51EB21C3-71D0-415B-6856-697384359B8F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3" name="Полилиния: фигура 23">
              <a:extLst>
                <a:ext uri="{FF2B5EF4-FFF2-40B4-BE49-F238E27FC236}">
                  <a16:creationId xmlns:a16="http://schemas.microsoft.com/office/drawing/2014/main" id="{0466A1BA-47FF-C618-565D-0CBFDCEEC700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4" name="Полилиния: фигура 24">
              <a:extLst>
                <a:ext uri="{FF2B5EF4-FFF2-40B4-BE49-F238E27FC236}">
                  <a16:creationId xmlns:a16="http://schemas.microsoft.com/office/drawing/2014/main" id="{75E55049-DE9B-98AC-BB13-FCA1570B68F3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5" name="Полилиния: фигура 25">
              <a:extLst>
                <a:ext uri="{FF2B5EF4-FFF2-40B4-BE49-F238E27FC236}">
                  <a16:creationId xmlns:a16="http://schemas.microsoft.com/office/drawing/2014/main" id="{CF905F48-77CA-03E7-97ED-1F92F9A828BD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6" name="Полилиния: фигура 26">
              <a:extLst>
                <a:ext uri="{FF2B5EF4-FFF2-40B4-BE49-F238E27FC236}">
                  <a16:creationId xmlns:a16="http://schemas.microsoft.com/office/drawing/2014/main" id="{CEBF0B75-055D-4965-772F-47AD1E433B6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7" name="Полилиния: фигура 27">
              <a:extLst>
                <a:ext uri="{FF2B5EF4-FFF2-40B4-BE49-F238E27FC236}">
                  <a16:creationId xmlns:a16="http://schemas.microsoft.com/office/drawing/2014/main" id="{F00C9732-1E60-E852-DA70-EE392525EF29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8" name="Полилиния: фигура 28">
              <a:extLst>
                <a:ext uri="{FF2B5EF4-FFF2-40B4-BE49-F238E27FC236}">
                  <a16:creationId xmlns:a16="http://schemas.microsoft.com/office/drawing/2014/main" id="{5AFC5E81-BD49-8854-AE72-7FFF0DE9D257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9" name="Полилиния: фигура 29">
              <a:extLst>
                <a:ext uri="{FF2B5EF4-FFF2-40B4-BE49-F238E27FC236}">
                  <a16:creationId xmlns:a16="http://schemas.microsoft.com/office/drawing/2014/main" id="{476EA956-DA6E-38F4-E41E-39CD4275DD9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0" name="Полилиния: фигура 30">
              <a:extLst>
                <a:ext uri="{FF2B5EF4-FFF2-40B4-BE49-F238E27FC236}">
                  <a16:creationId xmlns:a16="http://schemas.microsoft.com/office/drawing/2014/main" id="{38BA4330-968A-CD08-C32A-1AB62BA4060E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1" name="Полилиния: фигура 31">
              <a:extLst>
                <a:ext uri="{FF2B5EF4-FFF2-40B4-BE49-F238E27FC236}">
                  <a16:creationId xmlns:a16="http://schemas.microsoft.com/office/drawing/2014/main" id="{139C8CA0-F4D9-106C-2539-EAC9FFE03A98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42" name="Рисунок 141">
              <a:extLst>
                <a:ext uri="{FF2B5EF4-FFF2-40B4-BE49-F238E27FC236}">
                  <a16:creationId xmlns:a16="http://schemas.microsoft.com/office/drawing/2014/main" id="{B710F069-E351-BE87-1018-2661A76A8F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43" name="Полилиния: фигура 33">
              <a:extLst>
                <a:ext uri="{FF2B5EF4-FFF2-40B4-BE49-F238E27FC236}">
                  <a16:creationId xmlns:a16="http://schemas.microsoft.com/office/drawing/2014/main" id="{71E4939B-0E00-8909-8012-C8043D8DCAD7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4" name="Полилиния: фигура 34">
              <a:extLst>
                <a:ext uri="{FF2B5EF4-FFF2-40B4-BE49-F238E27FC236}">
                  <a16:creationId xmlns:a16="http://schemas.microsoft.com/office/drawing/2014/main" id="{5C4DB02A-9E60-644A-BD04-122262EA9CF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5" name="Полилиния: фигура 35">
              <a:extLst>
                <a:ext uri="{FF2B5EF4-FFF2-40B4-BE49-F238E27FC236}">
                  <a16:creationId xmlns:a16="http://schemas.microsoft.com/office/drawing/2014/main" id="{A8C103F3-04F0-28A6-D985-85A41641334F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6" name="Полилиния: фигура 36">
              <a:extLst>
                <a:ext uri="{FF2B5EF4-FFF2-40B4-BE49-F238E27FC236}">
                  <a16:creationId xmlns:a16="http://schemas.microsoft.com/office/drawing/2014/main" id="{672B7A39-41AC-BB07-5409-21F650DF0E89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47" name="Группа 146">
            <a:extLst>
              <a:ext uri="{FF2B5EF4-FFF2-40B4-BE49-F238E27FC236}">
                <a16:creationId xmlns:a16="http://schemas.microsoft.com/office/drawing/2014/main" id="{6F6876AF-B1D2-D1B1-91CC-C9E4B6B41445}"/>
              </a:ext>
            </a:extLst>
          </p:cNvPr>
          <p:cNvGrpSpPr/>
          <p:nvPr/>
        </p:nvGrpSpPr>
        <p:grpSpPr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148" name="Полилиния: фигура 13">
              <a:extLst>
                <a:ext uri="{FF2B5EF4-FFF2-40B4-BE49-F238E27FC236}">
                  <a16:creationId xmlns:a16="http://schemas.microsoft.com/office/drawing/2014/main" id="{E8AC8241-89F5-74DB-F469-C2BA9BE0C024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49" name="Полилиния: фигура 14">
              <a:extLst>
                <a:ext uri="{FF2B5EF4-FFF2-40B4-BE49-F238E27FC236}">
                  <a16:creationId xmlns:a16="http://schemas.microsoft.com/office/drawing/2014/main" id="{84434B8C-47C7-6BE9-D4B7-0B893BCC5BD5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50" name="Полилиния: фигура 15">
              <a:extLst>
                <a:ext uri="{FF2B5EF4-FFF2-40B4-BE49-F238E27FC236}">
                  <a16:creationId xmlns:a16="http://schemas.microsoft.com/office/drawing/2014/main" id="{5263283D-705A-5613-18ED-E80BDE52AFCA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1" name="Полилиния: фигура 16">
              <a:extLst>
                <a:ext uri="{FF2B5EF4-FFF2-40B4-BE49-F238E27FC236}">
                  <a16:creationId xmlns:a16="http://schemas.microsoft.com/office/drawing/2014/main" id="{744D4512-D838-3AD8-499E-05E6B87490C1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2" name="Полилиния: фигура 17">
              <a:extLst>
                <a:ext uri="{FF2B5EF4-FFF2-40B4-BE49-F238E27FC236}">
                  <a16:creationId xmlns:a16="http://schemas.microsoft.com/office/drawing/2014/main" id="{57B1D57F-7138-34E6-ADEF-6E34A735ABB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3" name="Полилиния: фигура 18">
              <a:extLst>
                <a:ext uri="{FF2B5EF4-FFF2-40B4-BE49-F238E27FC236}">
                  <a16:creationId xmlns:a16="http://schemas.microsoft.com/office/drawing/2014/main" id="{F820A8CD-CB50-CF85-631E-0D2ABB0DA0AE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4" name="Полилиния: фигура 19">
              <a:extLst>
                <a:ext uri="{FF2B5EF4-FFF2-40B4-BE49-F238E27FC236}">
                  <a16:creationId xmlns:a16="http://schemas.microsoft.com/office/drawing/2014/main" id="{E04E2701-FE1E-5CC3-36AF-B4B9D29FD242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5" name="Полилиния: фигура 20">
              <a:extLst>
                <a:ext uri="{FF2B5EF4-FFF2-40B4-BE49-F238E27FC236}">
                  <a16:creationId xmlns:a16="http://schemas.microsoft.com/office/drawing/2014/main" id="{8CD1AA2D-A392-D1E3-DF78-0AEA26501DA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6" name="Полилиния: фигура 21">
              <a:extLst>
                <a:ext uri="{FF2B5EF4-FFF2-40B4-BE49-F238E27FC236}">
                  <a16:creationId xmlns:a16="http://schemas.microsoft.com/office/drawing/2014/main" id="{2C59B60B-FC7B-96E9-43B4-E6248B35E7F8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7" name="Полилиния: фигура 22">
              <a:extLst>
                <a:ext uri="{FF2B5EF4-FFF2-40B4-BE49-F238E27FC236}">
                  <a16:creationId xmlns:a16="http://schemas.microsoft.com/office/drawing/2014/main" id="{C1F8F87E-2226-19FB-7129-485EFF2952F3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8" name="Полилиния: фигура 23">
              <a:extLst>
                <a:ext uri="{FF2B5EF4-FFF2-40B4-BE49-F238E27FC236}">
                  <a16:creationId xmlns:a16="http://schemas.microsoft.com/office/drawing/2014/main" id="{19CF104F-7F1A-9575-3974-58D1C393CB8C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9" name="Полилиния: фигура 24">
              <a:extLst>
                <a:ext uri="{FF2B5EF4-FFF2-40B4-BE49-F238E27FC236}">
                  <a16:creationId xmlns:a16="http://schemas.microsoft.com/office/drawing/2014/main" id="{08D91672-4E5C-7BA4-1CE5-A30F3A8D8B90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0" name="Полилиния: фигура 25">
              <a:extLst>
                <a:ext uri="{FF2B5EF4-FFF2-40B4-BE49-F238E27FC236}">
                  <a16:creationId xmlns:a16="http://schemas.microsoft.com/office/drawing/2014/main" id="{0E644CEA-C8F9-E939-4113-FFB9CC6A10CB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1" name="Полилиния: фигура 26">
              <a:extLst>
                <a:ext uri="{FF2B5EF4-FFF2-40B4-BE49-F238E27FC236}">
                  <a16:creationId xmlns:a16="http://schemas.microsoft.com/office/drawing/2014/main" id="{A9463AC2-3CBD-AD7F-C2FC-3E6B8898F615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2" name="Полилиния: фигура 27">
              <a:extLst>
                <a:ext uri="{FF2B5EF4-FFF2-40B4-BE49-F238E27FC236}">
                  <a16:creationId xmlns:a16="http://schemas.microsoft.com/office/drawing/2014/main" id="{A0B742DC-234C-DFDF-1731-F5483C135F77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3" name="Полилиния: фигура 28">
              <a:extLst>
                <a:ext uri="{FF2B5EF4-FFF2-40B4-BE49-F238E27FC236}">
                  <a16:creationId xmlns:a16="http://schemas.microsoft.com/office/drawing/2014/main" id="{295E8F4E-2D3F-0442-68E4-45516C2C0F73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4" name="Полилиния: фигура 29">
              <a:extLst>
                <a:ext uri="{FF2B5EF4-FFF2-40B4-BE49-F238E27FC236}">
                  <a16:creationId xmlns:a16="http://schemas.microsoft.com/office/drawing/2014/main" id="{EC3523CB-F469-D234-C98C-68A35D5DC1EE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5" name="Полилиния: фигура 30">
              <a:extLst>
                <a:ext uri="{FF2B5EF4-FFF2-40B4-BE49-F238E27FC236}">
                  <a16:creationId xmlns:a16="http://schemas.microsoft.com/office/drawing/2014/main" id="{C1E692C9-11C7-FD16-0691-269E9730C0D7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6" name="Полилиния: фигура 31">
              <a:extLst>
                <a:ext uri="{FF2B5EF4-FFF2-40B4-BE49-F238E27FC236}">
                  <a16:creationId xmlns:a16="http://schemas.microsoft.com/office/drawing/2014/main" id="{8A8BCBC3-F8B9-E268-FA91-BE0B91504CB7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67" name="Рисунок 166">
              <a:extLst>
                <a:ext uri="{FF2B5EF4-FFF2-40B4-BE49-F238E27FC236}">
                  <a16:creationId xmlns:a16="http://schemas.microsoft.com/office/drawing/2014/main" id="{275DD60F-C19A-9738-1499-379E38B893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68" name="Полилиния: фигура 33">
              <a:extLst>
                <a:ext uri="{FF2B5EF4-FFF2-40B4-BE49-F238E27FC236}">
                  <a16:creationId xmlns:a16="http://schemas.microsoft.com/office/drawing/2014/main" id="{0C1A32E6-71CE-D73A-D08C-E614CC7D3E3D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9" name="Полилиния: фигура 34">
              <a:extLst>
                <a:ext uri="{FF2B5EF4-FFF2-40B4-BE49-F238E27FC236}">
                  <a16:creationId xmlns:a16="http://schemas.microsoft.com/office/drawing/2014/main" id="{F634A189-F19F-9C70-5515-9E924535DC9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0" name="Полилиния: фигура 35">
              <a:extLst>
                <a:ext uri="{FF2B5EF4-FFF2-40B4-BE49-F238E27FC236}">
                  <a16:creationId xmlns:a16="http://schemas.microsoft.com/office/drawing/2014/main" id="{FEC821A6-0C1B-A5D1-4EE3-7BC96AF6DC8D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1" name="Полилиния: фигура 36">
              <a:extLst>
                <a:ext uri="{FF2B5EF4-FFF2-40B4-BE49-F238E27FC236}">
                  <a16:creationId xmlns:a16="http://schemas.microsoft.com/office/drawing/2014/main" id="{DCBB9EDB-AF53-F46A-71B2-6496483F87B8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72" name="Группа 171">
            <a:extLst>
              <a:ext uri="{FF2B5EF4-FFF2-40B4-BE49-F238E27FC236}">
                <a16:creationId xmlns:a16="http://schemas.microsoft.com/office/drawing/2014/main" id="{28B88200-E25B-E61C-1E68-2D2C2B01BCE5}"/>
              </a:ext>
            </a:extLst>
          </p:cNvPr>
          <p:cNvGrpSpPr/>
          <p:nvPr/>
        </p:nvGrpSpPr>
        <p:grpSpPr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173" name="Полилиния: фигура 13">
              <a:extLst>
                <a:ext uri="{FF2B5EF4-FFF2-40B4-BE49-F238E27FC236}">
                  <a16:creationId xmlns:a16="http://schemas.microsoft.com/office/drawing/2014/main" id="{A9CDA20E-DC0B-7574-8A53-2FE5A69E3137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4" name="Полилиния: фигура 14">
              <a:extLst>
                <a:ext uri="{FF2B5EF4-FFF2-40B4-BE49-F238E27FC236}">
                  <a16:creationId xmlns:a16="http://schemas.microsoft.com/office/drawing/2014/main" id="{C6EDF764-F67B-E72A-96F7-9AD40839714F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75" name="Полилиния: фигура 15">
              <a:extLst>
                <a:ext uri="{FF2B5EF4-FFF2-40B4-BE49-F238E27FC236}">
                  <a16:creationId xmlns:a16="http://schemas.microsoft.com/office/drawing/2014/main" id="{3FAA0615-8C83-2C58-58C1-270E46BD11DD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6" name="Полилиния: фигура 16">
              <a:extLst>
                <a:ext uri="{FF2B5EF4-FFF2-40B4-BE49-F238E27FC236}">
                  <a16:creationId xmlns:a16="http://schemas.microsoft.com/office/drawing/2014/main" id="{6DA7610E-8695-F698-FBE5-F1EA1A34BCA3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7" name="Полилиния: фигура 17">
              <a:extLst>
                <a:ext uri="{FF2B5EF4-FFF2-40B4-BE49-F238E27FC236}">
                  <a16:creationId xmlns:a16="http://schemas.microsoft.com/office/drawing/2014/main" id="{C2B0886E-C1A1-F8FB-DE0A-7E00B1A70124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8" name="Полилиния: фигура 18">
              <a:extLst>
                <a:ext uri="{FF2B5EF4-FFF2-40B4-BE49-F238E27FC236}">
                  <a16:creationId xmlns:a16="http://schemas.microsoft.com/office/drawing/2014/main" id="{F6E82E9D-82A0-F318-F846-F9AA582ADCE6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79" name="Полилиния: фигура 19">
              <a:extLst>
                <a:ext uri="{FF2B5EF4-FFF2-40B4-BE49-F238E27FC236}">
                  <a16:creationId xmlns:a16="http://schemas.microsoft.com/office/drawing/2014/main" id="{6CD40789-5D3D-6EE9-2675-745C2BDC6538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0" name="Полилиния: фигура 20">
              <a:extLst>
                <a:ext uri="{FF2B5EF4-FFF2-40B4-BE49-F238E27FC236}">
                  <a16:creationId xmlns:a16="http://schemas.microsoft.com/office/drawing/2014/main" id="{158DFE1D-B6C8-7D8D-1E07-17C4E0EEF550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1" name="Полилиния: фигура 21">
              <a:extLst>
                <a:ext uri="{FF2B5EF4-FFF2-40B4-BE49-F238E27FC236}">
                  <a16:creationId xmlns:a16="http://schemas.microsoft.com/office/drawing/2014/main" id="{D8DEFA81-42B3-5DA3-7630-FDBDF31D670E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2" name="Полилиния: фигура 22">
              <a:extLst>
                <a:ext uri="{FF2B5EF4-FFF2-40B4-BE49-F238E27FC236}">
                  <a16:creationId xmlns:a16="http://schemas.microsoft.com/office/drawing/2014/main" id="{BB1811A3-3629-FDD8-6775-7826417B17BB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3" name="Полилиния: фигура 23">
              <a:extLst>
                <a:ext uri="{FF2B5EF4-FFF2-40B4-BE49-F238E27FC236}">
                  <a16:creationId xmlns:a16="http://schemas.microsoft.com/office/drawing/2014/main" id="{0C885996-2D3E-94A9-F80B-759C2B77BEFD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4" name="Полилиния: фигура 24">
              <a:extLst>
                <a:ext uri="{FF2B5EF4-FFF2-40B4-BE49-F238E27FC236}">
                  <a16:creationId xmlns:a16="http://schemas.microsoft.com/office/drawing/2014/main" id="{7A637849-F366-366B-2B72-613C030A10ED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5" name="Полилиния: фигура 25">
              <a:extLst>
                <a:ext uri="{FF2B5EF4-FFF2-40B4-BE49-F238E27FC236}">
                  <a16:creationId xmlns:a16="http://schemas.microsoft.com/office/drawing/2014/main" id="{110EFEA7-7F4A-95B8-43B8-6F88654392F3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6" name="Полилиния: фигура 26">
              <a:extLst>
                <a:ext uri="{FF2B5EF4-FFF2-40B4-BE49-F238E27FC236}">
                  <a16:creationId xmlns:a16="http://schemas.microsoft.com/office/drawing/2014/main" id="{6775B6E1-3AE7-DCB7-993C-A3BB57DEB079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7" name="Полилиния: фигура 27">
              <a:extLst>
                <a:ext uri="{FF2B5EF4-FFF2-40B4-BE49-F238E27FC236}">
                  <a16:creationId xmlns:a16="http://schemas.microsoft.com/office/drawing/2014/main" id="{A1B076D4-6F0A-6994-8304-90264BE47B6C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8" name="Полилиния: фигура 28">
              <a:extLst>
                <a:ext uri="{FF2B5EF4-FFF2-40B4-BE49-F238E27FC236}">
                  <a16:creationId xmlns:a16="http://schemas.microsoft.com/office/drawing/2014/main" id="{03D70E49-6A46-60F0-235C-230EB8697FFF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9" name="Полилиния: фигура 29">
              <a:extLst>
                <a:ext uri="{FF2B5EF4-FFF2-40B4-BE49-F238E27FC236}">
                  <a16:creationId xmlns:a16="http://schemas.microsoft.com/office/drawing/2014/main" id="{638DC947-2E6A-E1E4-48C6-C82F296AF48F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0" name="Полилиния: фигура 30">
              <a:extLst>
                <a:ext uri="{FF2B5EF4-FFF2-40B4-BE49-F238E27FC236}">
                  <a16:creationId xmlns:a16="http://schemas.microsoft.com/office/drawing/2014/main" id="{2133978C-A68D-962F-7B3F-8C121D583304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1" name="Полилиния: фигура 31">
              <a:extLst>
                <a:ext uri="{FF2B5EF4-FFF2-40B4-BE49-F238E27FC236}">
                  <a16:creationId xmlns:a16="http://schemas.microsoft.com/office/drawing/2014/main" id="{E7337AD2-C975-8EEA-309F-C9BEC7D9B80A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192" name="Рисунок 191">
              <a:extLst>
                <a:ext uri="{FF2B5EF4-FFF2-40B4-BE49-F238E27FC236}">
                  <a16:creationId xmlns:a16="http://schemas.microsoft.com/office/drawing/2014/main" id="{EBC94221-5003-CC9C-1BA6-39584F78B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93" name="Полилиния: фигура 33">
              <a:extLst>
                <a:ext uri="{FF2B5EF4-FFF2-40B4-BE49-F238E27FC236}">
                  <a16:creationId xmlns:a16="http://schemas.microsoft.com/office/drawing/2014/main" id="{D717B4FB-A27A-CAA6-3D77-01AD01672953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4" name="Полилиния: фигура 34">
              <a:extLst>
                <a:ext uri="{FF2B5EF4-FFF2-40B4-BE49-F238E27FC236}">
                  <a16:creationId xmlns:a16="http://schemas.microsoft.com/office/drawing/2014/main" id="{34C8B6EF-76B0-66A8-48F8-451128B8EF55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5" name="Полилиния: фигура 35">
              <a:extLst>
                <a:ext uri="{FF2B5EF4-FFF2-40B4-BE49-F238E27FC236}">
                  <a16:creationId xmlns:a16="http://schemas.microsoft.com/office/drawing/2014/main" id="{C4E22E47-5653-9FC4-E418-B13F750799A0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96" name="Полилиния: фигура 36">
              <a:extLst>
                <a:ext uri="{FF2B5EF4-FFF2-40B4-BE49-F238E27FC236}">
                  <a16:creationId xmlns:a16="http://schemas.microsoft.com/office/drawing/2014/main" id="{288CF8AC-8E86-147B-676C-4A0A4618F6E0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97" name="Группа 196">
            <a:extLst>
              <a:ext uri="{FF2B5EF4-FFF2-40B4-BE49-F238E27FC236}">
                <a16:creationId xmlns:a16="http://schemas.microsoft.com/office/drawing/2014/main" id="{09B9B184-25F2-7359-333D-5EB9A60B8EFD}"/>
              </a:ext>
            </a:extLst>
          </p:cNvPr>
          <p:cNvGrpSpPr/>
          <p:nvPr/>
        </p:nvGrpSpPr>
        <p:grpSpPr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198" name="Полилиния: фигура 13">
              <a:extLst>
                <a:ext uri="{FF2B5EF4-FFF2-40B4-BE49-F238E27FC236}">
                  <a16:creationId xmlns:a16="http://schemas.microsoft.com/office/drawing/2014/main" id="{E3F377FC-00D5-EF59-5B13-016CF3D10D8E}"/>
                </a:ext>
              </a:extLst>
            </p:cNvPr>
            <p:cNvSpPr/>
            <p:nvPr/>
          </p:nvSpPr>
          <p:spPr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199" name="Полилиния: фигура 14">
              <a:extLst>
                <a:ext uri="{FF2B5EF4-FFF2-40B4-BE49-F238E27FC236}">
                  <a16:creationId xmlns:a16="http://schemas.microsoft.com/office/drawing/2014/main" id="{FC792052-29C1-6D35-7F6B-79A599C639D7}"/>
                </a:ext>
              </a:extLst>
            </p:cNvPr>
            <p:cNvSpPr/>
            <p:nvPr/>
          </p:nvSpPr>
          <p:spPr>
            <a:xfrm>
              <a:off x="5274850" y="1574276"/>
              <a:ext cx="1704975" cy="295275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0" name="Полилиния: фигура 15">
              <a:extLst>
                <a:ext uri="{FF2B5EF4-FFF2-40B4-BE49-F238E27FC236}">
                  <a16:creationId xmlns:a16="http://schemas.microsoft.com/office/drawing/2014/main" id="{E5A98475-EA25-67D6-4D5F-15BF00331AEB}"/>
                </a:ext>
              </a:extLst>
            </p:cNvPr>
            <p:cNvSpPr/>
            <p:nvPr/>
          </p:nvSpPr>
          <p:spPr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1" name="Полилиния: фигура 16">
              <a:extLst>
                <a:ext uri="{FF2B5EF4-FFF2-40B4-BE49-F238E27FC236}">
                  <a16:creationId xmlns:a16="http://schemas.microsoft.com/office/drawing/2014/main" id="{81E5799A-EDA9-923F-4306-CDB07B346B8B}"/>
                </a:ext>
              </a:extLst>
            </p:cNvPr>
            <p:cNvSpPr/>
            <p:nvPr/>
          </p:nvSpPr>
          <p:spPr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 dirty="0"/>
            </a:p>
          </p:txBody>
        </p:sp>
        <p:sp>
          <p:nvSpPr>
            <p:cNvPr id="202" name="Полилиния: фигура 17">
              <a:extLst>
                <a:ext uri="{FF2B5EF4-FFF2-40B4-BE49-F238E27FC236}">
                  <a16:creationId xmlns:a16="http://schemas.microsoft.com/office/drawing/2014/main" id="{C8C06C37-DF23-F749-53E7-43DD5F9A34DA}"/>
                </a:ext>
              </a:extLst>
            </p:cNvPr>
            <p:cNvSpPr/>
            <p:nvPr/>
          </p:nvSpPr>
          <p:spPr>
            <a:xfrm>
              <a:off x="5274850" y="4979578"/>
              <a:ext cx="1704975" cy="295275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3" name="Полилиния: фигура 18">
              <a:extLst>
                <a:ext uri="{FF2B5EF4-FFF2-40B4-BE49-F238E27FC236}">
                  <a16:creationId xmlns:a16="http://schemas.microsoft.com/office/drawing/2014/main" id="{18AB0B4B-8AF4-3CED-546E-8A0EDD0343AA}"/>
                </a:ext>
              </a:extLst>
            </p:cNvPr>
            <p:cNvSpPr/>
            <p:nvPr/>
          </p:nvSpPr>
          <p:spPr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4" name="Полилиния: фигура 19">
              <a:extLst>
                <a:ext uri="{FF2B5EF4-FFF2-40B4-BE49-F238E27FC236}">
                  <a16:creationId xmlns:a16="http://schemas.microsoft.com/office/drawing/2014/main" id="{A09F4E37-B8CD-2EF9-2BDD-679C42F718DF}"/>
                </a:ext>
              </a:extLst>
            </p:cNvPr>
            <p:cNvSpPr/>
            <p:nvPr/>
          </p:nvSpPr>
          <p:spPr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5" name="Полилиния: фигура 20">
              <a:extLst>
                <a:ext uri="{FF2B5EF4-FFF2-40B4-BE49-F238E27FC236}">
                  <a16:creationId xmlns:a16="http://schemas.microsoft.com/office/drawing/2014/main" id="{9D8C252F-C832-C60B-67B3-B6D013188DB3}"/>
                </a:ext>
              </a:extLst>
            </p:cNvPr>
            <p:cNvSpPr/>
            <p:nvPr/>
          </p:nvSpPr>
          <p:spPr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6" name="Полилиния: фигура 21">
              <a:extLst>
                <a:ext uri="{FF2B5EF4-FFF2-40B4-BE49-F238E27FC236}">
                  <a16:creationId xmlns:a16="http://schemas.microsoft.com/office/drawing/2014/main" id="{FA7900B1-7A25-63CF-0588-70A25C00B663}"/>
                </a:ext>
              </a:extLst>
            </p:cNvPr>
            <p:cNvSpPr/>
            <p:nvPr/>
          </p:nvSpPr>
          <p:spPr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7" name="Полилиния: фигура 22">
              <a:extLst>
                <a:ext uri="{FF2B5EF4-FFF2-40B4-BE49-F238E27FC236}">
                  <a16:creationId xmlns:a16="http://schemas.microsoft.com/office/drawing/2014/main" id="{EFB55E02-77C2-7DAA-FBBD-AAD9F92F0831}"/>
                </a:ext>
              </a:extLst>
            </p:cNvPr>
            <p:cNvSpPr/>
            <p:nvPr/>
          </p:nvSpPr>
          <p:spPr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8" name="Полилиния: фигура 23">
              <a:extLst>
                <a:ext uri="{FF2B5EF4-FFF2-40B4-BE49-F238E27FC236}">
                  <a16:creationId xmlns:a16="http://schemas.microsoft.com/office/drawing/2014/main" id="{30535304-E628-32AB-C6BA-19E520C656BF}"/>
                </a:ext>
              </a:extLst>
            </p:cNvPr>
            <p:cNvSpPr/>
            <p:nvPr/>
          </p:nvSpPr>
          <p:spPr>
            <a:xfrm>
              <a:off x="519636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09" name="Полилиния: фигура 24">
              <a:extLst>
                <a:ext uri="{FF2B5EF4-FFF2-40B4-BE49-F238E27FC236}">
                  <a16:creationId xmlns:a16="http://schemas.microsoft.com/office/drawing/2014/main" id="{78104E2D-A620-47E2-40F3-A995004EE446}"/>
                </a:ext>
              </a:extLst>
            </p:cNvPr>
            <p:cNvSpPr/>
            <p:nvPr/>
          </p:nvSpPr>
          <p:spPr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0" name="Полилиния: фигура 25">
              <a:extLst>
                <a:ext uri="{FF2B5EF4-FFF2-40B4-BE49-F238E27FC236}">
                  <a16:creationId xmlns:a16="http://schemas.microsoft.com/office/drawing/2014/main" id="{8EB92C67-7F68-803C-FB9E-2D13E650E6A1}"/>
                </a:ext>
              </a:extLst>
            </p:cNvPr>
            <p:cNvSpPr/>
            <p:nvPr/>
          </p:nvSpPr>
          <p:spPr>
            <a:xfrm>
              <a:off x="5201984" y="2679573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1" name="Полилиния: фигура 26">
              <a:extLst>
                <a:ext uri="{FF2B5EF4-FFF2-40B4-BE49-F238E27FC236}">
                  <a16:creationId xmlns:a16="http://schemas.microsoft.com/office/drawing/2014/main" id="{3E0B4E90-F08C-B5ED-761E-838F2F9D531E}"/>
                </a:ext>
              </a:extLst>
            </p:cNvPr>
            <p:cNvSpPr/>
            <p:nvPr/>
          </p:nvSpPr>
          <p:spPr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2" name="Полилиния: фигура 27">
              <a:extLst>
                <a:ext uri="{FF2B5EF4-FFF2-40B4-BE49-F238E27FC236}">
                  <a16:creationId xmlns:a16="http://schemas.microsoft.com/office/drawing/2014/main" id="{B6C8B631-B5E5-473B-FD01-2491F51BF4AA}"/>
                </a:ext>
              </a:extLst>
            </p:cNvPr>
            <p:cNvSpPr/>
            <p:nvPr/>
          </p:nvSpPr>
          <p:spPr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3" name="Полилиния: фигура 28">
              <a:extLst>
                <a:ext uri="{FF2B5EF4-FFF2-40B4-BE49-F238E27FC236}">
                  <a16:creationId xmlns:a16="http://schemas.microsoft.com/office/drawing/2014/main" id="{380F7E94-40B3-49EA-38A2-A4683915276E}"/>
                </a:ext>
              </a:extLst>
            </p:cNvPr>
            <p:cNvSpPr/>
            <p:nvPr/>
          </p:nvSpPr>
          <p:spPr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4" name="Полилиния: фигура 29">
              <a:extLst>
                <a:ext uri="{FF2B5EF4-FFF2-40B4-BE49-F238E27FC236}">
                  <a16:creationId xmlns:a16="http://schemas.microsoft.com/office/drawing/2014/main" id="{F9385ADB-6D1B-C79D-F5BB-B03F408AFC6C}"/>
                </a:ext>
              </a:extLst>
            </p:cNvPr>
            <p:cNvSpPr/>
            <p:nvPr/>
          </p:nvSpPr>
          <p:spPr>
            <a:xfrm>
              <a:off x="5989398" y="5260657"/>
              <a:ext cx="219075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5" name="Полилиния: фигура 30">
              <a:extLst>
                <a:ext uri="{FF2B5EF4-FFF2-40B4-BE49-F238E27FC236}">
                  <a16:creationId xmlns:a16="http://schemas.microsoft.com/office/drawing/2014/main" id="{00D97A09-43D0-4152-831C-C7744B4FE7E6}"/>
                </a:ext>
              </a:extLst>
            </p:cNvPr>
            <p:cNvSpPr/>
            <p:nvPr/>
          </p:nvSpPr>
          <p:spPr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6" name="Полилиния: фигура 31">
              <a:extLst>
                <a:ext uri="{FF2B5EF4-FFF2-40B4-BE49-F238E27FC236}">
                  <a16:creationId xmlns:a16="http://schemas.microsoft.com/office/drawing/2014/main" id="{83CFD5B5-DF45-F681-5596-E631C837531E}"/>
                </a:ext>
              </a:extLst>
            </p:cNvPr>
            <p:cNvSpPr/>
            <p:nvPr/>
          </p:nvSpPr>
          <p:spPr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pic>
          <p:nvPicPr>
            <p:cNvPr id="217" name="Рисунок 216">
              <a:extLst>
                <a:ext uri="{FF2B5EF4-FFF2-40B4-BE49-F238E27FC236}">
                  <a16:creationId xmlns:a16="http://schemas.microsoft.com/office/drawing/2014/main" id="{5AED15A4-4D29-1A14-4213-148543BBC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218" name="Полилиния: фигура 33">
              <a:extLst>
                <a:ext uri="{FF2B5EF4-FFF2-40B4-BE49-F238E27FC236}">
                  <a16:creationId xmlns:a16="http://schemas.microsoft.com/office/drawing/2014/main" id="{D613CEB1-BB3C-206D-6D01-E1CB7887B429}"/>
                </a:ext>
              </a:extLst>
            </p:cNvPr>
            <p:cNvSpPr/>
            <p:nvPr/>
          </p:nvSpPr>
          <p:spPr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9" name="Полилиния: фигура 34">
              <a:extLst>
                <a:ext uri="{FF2B5EF4-FFF2-40B4-BE49-F238E27FC236}">
                  <a16:creationId xmlns:a16="http://schemas.microsoft.com/office/drawing/2014/main" id="{69F35FD4-E9E3-2671-1E63-C0ECA01A6C97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0" name="Полилиния: фигура 35">
              <a:extLst>
                <a:ext uri="{FF2B5EF4-FFF2-40B4-BE49-F238E27FC236}">
                  <a16:creationId xmlns:a16="http://schemas.microsoft.com/office/drawing/2014/main" id="{6DDAF0B9-15C9-D0FE-7E34-9051A84DDBB8}"/>
                </a:ext>
              </a:extLst>
            </p:cNvPr>
            <p:cNvSpPr/>
            <p:nvPr/>
          </p:nvSpPr>
          <p:spPr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1" name="Полилиния: фигура 36">
              <a:extLst>
                <a:ext uri="{FF2B5EF4-FFF2-40B4-BE49-F238E27FC236}">
                  <a16:creationId xmlns:a16="http://schemas.microsoft.com/office/drawing/2014/main" id="{BB968C32-6E31-7C3C-54D5-B0EED92672B1}"/>
                </a:ext>
              </a:extLst>
            </p:cNvPr>
            <p:cNvSpPr/>
            <p:nvPr/>
          </p:nvSpPr>
          <p:spPr>
            <a:xfrm>
              <a:off x="6233636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503772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5007864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pic>
        <p:nvPicPr>
          <p:cNvPr id="3" name="Рисунок 2" descr="p_story_map.pn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t="14" b="14"/>
          <a:stretch>
            <a:fillRect/>
          </a:stretch>
        </p:blipFill>
        <p:spPr>
          <a:xfrm>
            <a:off x="7440147" y="1016001"/>
            <a:ext cx="4405777" cy="3078479"/>
          </a:xfrm>
        </p:spPr>
      </p:pic>
      <p:pic>
        <p:nvPicPr>
          <p:cNvPr id="4" name="Рисунок 3" descr="p_story_gallery.png"/>
          <p:cNvPicPr>
            <a:picLocks noGrp="1" noChangeAspect="1"/>
          </p:cNvPicPr>
          <p:nvPr>
            <p:ph type="pic" sz="quarter" idx="11"/>
          </p:nvPr>
        </p:nvPicPr>
        <p:blipFill>
          <a:blip r:embed="rId5"/>
          <a:srcRect l="17" r="17"/>
          <a:stretch>
            <a:fillRect/>
          </a:stretch>
        </p:blipFill>
        <p:spPr>
          <a:xfrm>
            <a:off x="7440149" y="4389108"/>
            <a:ext cx="4405775" cy="1811668"/>
          </a:xfrm>
        </p:spPr>
      </p:pic>
      <p:pic>
        <p:nvPicPr>
          <p:cNvPr id="5" name="Рисунок 4" descr="p_story_big.png"/>
          <p:cNvPicPr>
            <a:picLocks noGrp="1" noChangeAspect="1"/>
          </p:cNvPicPr>
          <p:nvPr>
            <p:ph type="pic" sz="quarter" idx="12"/>
          </p:nvPr>
        </p:nvPicPr>
        <p:blipFill>
          <a:blip r:embed="rId3"/>
          <a:srcRect t="102" b="102"/>
          <a:stretch>
            <a:fillRect/>
          </a:stretch>
        </p:blipFill>
        <p:spPr>
          <a:xfrm>
            <a:off x="346075" y="3223948"/>
            <a:ext cx="6806142" cy="2976827"/>
          </a:xfrm>
        </p:spPr>
      </p:pic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 anchor="ctr" lIns="182880" tIns="54864" rIns="182880" bIns="54864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5"/>
                </a:solidFill>
              </a:rPr>
              <a:t xml:space="preserve">«Сюжет». </a:t>
            </a:r>
            <a:r>
              <a:rPr lang="ru-RU" sz="1200" dirty="0">
                <a:solidFill>
                  <a:schemeClr val="tx1"/>
                </a:solidFill>
              </a:rPr>
              <a:t>Неделя новенького в Алабуге на карте Елабуги и ОЭЗ: общага, остановка у ларька, магазин, три рабочих дела и ночь перед запуском линии. В каждой главе один приём, движок и разбор те же, что в деловых делах.</a:t>
            </a:r>
            <a:endParaRPr lang="ru-RU" sz="12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5"/>
                </a:solidFill>
              </a:rPr>
              <a:t xml:space="preserve">Катсцены. </a:t>
            </a:r>
            <a:r>
              <a:rPr lang="ru-RU" sz="1200" dirty="0">
                <a:solidFill>
                  <a:schemeClr val="tx1"/>
                </a:solidFill>
              </a:rPr>
              <a:t>Между главами пиксельные ролики на 18–40 секунд: автобус вдоль Камы, памятка от HR в телефоне, дорога на завод. Все ролики собраны в галерее.</a:t>
            </a:r>
            <a:endParaRPr lang="ru-RU" sz="12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5"/>
                </a:solidFill>
              </a:rPr>
              <a:t xml:space="preserve">«Для жюри». </a:t>
            </a:r>
            <a:r>
              <a:rPr lang="ru-RU" sz="1200" dirty="0">
                <a:solidFill>
                  <a:schemeClr val="tx1"/>
                </a:solidFill>
              </a:rPr>
              <a:t>Кнопка на титуле или /?jury: всё открыто сразу, без катсцен. Путь кейса в четыре шага: настроить, провести, разбор, команда.</a:t>
            </a:r>
            <a:endParaRPr lang="ru-RU" sz="12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5"/>
                </a:solidFill>
              </a:rPr>
              <a:t xml:space="preserve">Звук. </a:t>
            </a:r>
            <a:r>
              <a:rPr lang="ru-RU" sz="1200" dirty="0">
                <a:solidFill>
                  <a:schemeClr val="tx1"/>
                </a:solidFill>
              </a:rPr>
              <a:t>Музыка и фоны комнат из открытых библиотек под лицензией CC0.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5" y="324562"/>
            <a:ext cx="458724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СЮЖЕТ И РЕЖИМ «ДЛЯ ЖЮРИ»</a:t>
            </a:r>
            <a:endParaRPr lang="ru-RU" sz="200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651760"/>
            <a:ext cx="2965634" cy="36576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деловых дела и своё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54680"/>
            <a:ext cx="2965633" cy="28346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dirty="0">
                <a:solidFill>
                  <a:schemeClr val="tx1"/>
                </a:solidFill>
              </a:rPr>
              <a:t>«Оффер для робототехника» (найм), «Тара к запуску» (закупки), «Удержать клиента» (продажи). После первой сделки открывается жёсткая версия. Своё дело собирается по форме, ещё 7 глав — в сюжете.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651760"/>
            <a:ext cx="3034896" cy="36576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решений на каждый ход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54680"/>
            <a:ext cx="3034896" cy="28346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dirty="0">
                <a:solidFill>
                  <a:schemeClr val="tx1"/>
                </a:solidFill>
              </a:rPr>
              <a:t>Принять, встречное, рассказать о своём интересе, держать позицию, одёрнуть за тон или уйти. Выбор зависит от того, что вы узнали и что предложили. За мат первый раз одёрнет, второй раз уйдёт.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651760"/>
            <a:ext cx="2945464" cy="36576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финалов у каждого дела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54680"/>
            <a:ext cx="2945464" cy="28346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dirty="0">
                <a:solidFill>
                  <a:schemeClr val="tx1"/>
                </a:solidFill>
              </a:rPr>
              <a:t>От «Сделки, о которой расскажут» до «Хлопнул дверью» и «Время вышло». В разборе видно, какие финалы открыты, а какие ждут за другими решениями. Звания и навыки копятся в «Личном деле».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457200"/>
            <a:ext cx="6309360" cy="438912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>
                <a:solidFill>
                  <a:schemeClr val="accent5"/>
                </a:solidFill>
              </a:rPr>
              <a:t>МЕХАНИКА И СЦЕНАРИИ</a:t>
            </a:r>
            <a:endParaRPr lang="ru-RU" sz="2400" b="1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691640"/>
            <a:ext cx="1311031" cy="868680"/>
          </a:xfrm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dirty="0">
                <a:solidFill>
                  <a:schemeClr val="accent1"/>
                </a:solidFill>
              </a:rPr>
              <a:t>3</a:t>
            </a:r>
            <a:endParaRPr lang="ru-RU" sz="5400" b="1" dirty="0">
              <a:solidFill>
                <a:schemeClr val="accent1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691640"/>
            <a:ext cx="1311031" cy="868680"/>
          </a:xfrm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dirty="0">
                <a:solidFill>
                  <a:schemeClr val="accent1"/>
                </a:solidFill>
              </a:rPr>
              <a:t>6</a:t>
            </a:r>
            <a:endParaRPr lang="ru-RU" sz="5400" b="1" dirty="0">
              <a:solidFill>
                <a:schemeClr val="accent1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691640"/>
            <a:ext cx="1311031" cy="868680"/>
          </a:xfrm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dirty="0">
                <a:solidFill>
                  <a:schemeClr val="accent1"/>
                </a:solidFill>
              </a:rPr>
              <a:t>8</a:t>
            </a:r>
            <a:endParaRPr lang="ru-RU" sz="54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5"/>
                </a:solidFill>
              </a:rPr>
              <a:t>Как считаем сделку</a:t>
            </a:r>
            <a:endParaRPr lang="ru-RU" sz="2200" b="1" dirty="0">
              <a:solidFill>
                <a:schemeClr val="accent5"/>
              </a:solidFill>
            </a:endParaRPr>
          </a:p>
        </p:txBody>
      </p:sp>
      <p:pic>
        <p:nvPicPr>
          <p:cNvPr id="4" name="Рисунок 3" descr="p_dealmap.pn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l="16" r="16"/>
          <a:stretch>
            <a:fillRect/>
          </a:stretch>
        </p:blipFill>
        <p:spPr>
          <a:xfrm>
            <a:off x="6096001" y="0"/>
            <a:ext cx="6096000" cy="6857999"/>
          </a:xfrm>
        </p:spPr>
      </p:pic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88720"/>
            <a:ext cx="4807840" cy="5120640"/>
          </a:xfrm>
        </p:spPr>
        <p:txBody>
          <a:bodyPr anchor="t" lIns="0" tIns="0" rIns="0" bIns="0" wrap="square">
            <a:noAutofit/>
          </a:bodyPr>
          <a:lstStyle/>
          <a:p>
            <a:pPr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dirty="0">
                <a:solidFill>
                  <a:schemeClr val="tx1"/>
                </a:solidFill>
              </a:rPr>
              <a:t>В договоре пять пунктов. У каждой стороны своя скрытая таблица очков и свой запасной вариант — то, что будет без сделки.</a:t>
            </a:r>
            <a:endParaRPr lang="ru-RU" sz="12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dirty="0">
                <a:solidFill>
                  <a:schemeClr val="tx1"/>
                </a:solidFill>
              </a:rPr>
              <a:t>Пункты бывают трёх видов:</a:t>
            </a:r>
            <a:endParaRPr lang="ru-RU" sz="1200" dirty="0">
              <a:solidFill>
                <a:schemeClr val="tx1"/>
              </a:solidFill>
            </a:endParaRPr>
          </a:p>
          <a:p>
            <a:pPr marL="411480" indent="-164592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Char char="–"/>
            </a:pPr>
            <a:r>
              <a:rPr lang="ru-RU" sz="1200" b="1" dirty="0">
                <a:solidFill>
                  <a:schemeClr val="accent5"/>
                </a:solidFill>
              </a:rPr>
              <a:t xml:space="preserve">делимые: </a:t>
            </a:r>
            <a:r>
              <a:rPr lang="ru-RU" sz="1200" dirty="0">
                <a:solidFill>
                  <a:schemeClr val="tx1"/>
                </a:solidFill>
              </a:rPr>
              <a:t>цена, оклад. Что одному плюс, другому минус;</a:t>
            </a:r>
            <a:endParaRPr lang="ru-RU" sz="1200" dirty="0">
              <a:solidFill>
                <a:schemeClr val="tx1"/>
              </a:solidFill>
            </a:endParaRPr>
          </a:p>
          <a:p>
            <a:pPr marL="411480" indent="-164592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Char char="–"/>
            </a:pPr>
            <a:r>
              <a:rPr lang="ru-RU" sz="1200" b="1" dirty="0">
                <a:solidFill>
                  <a:schemeClr val="accent5"/>
                </a:solidFill>
              </a:rPr>
              <a:t xml:space="preserve">разменные: </a:t>
            </a:r>
            <a:r>
              <a:rPr lang="ru-RU" sz="1200" dirty="0">
                <a:solidFill>
                  <a:schemeClr val="tx1"/>
                </a:solidFill>
              </a:rPr>
              <a:t>одной стороне важно, другой почти всё равно;</a:t>
            </a:r>
            <a:endParaRPr lang="ru-RU" sz="1200" dirty="0">
              <a:solidFill>
                <a:schemeClr val="tx1"/>
              </a:solidFill>
            </a:endParaRPr>
          </a:p>
          <a:p>
            <a:pPr marL="411480" indent="-164592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FontTx/>
              <a:buChar char="–"/>
            </a:pPr>
            <a:r>
              <a:rPr lang="ru-RU" sz="1200" b="1" dirty="0">
                <a:solidFill>
                  <a:schemeClr val="accent5"/>
                </a:solidFill>
              </a:rPr>
              <a:t xml:space="preserve">совместимые: </a:t>
            </a:r>
            <a:r>
              <a:rPr lang="ru-RU" sz="1200" dirty="0">
                <a:solidFill>
                  <a:schemeClr val="tx1"/>
                </a:solidFill>
              </a:rPr>
              <a:t>обе хотят одного и того же, но не знают об этом.</a:t>
            </a:r>
            <a:endParaRPr lang="ru-RU" sz="12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dirty="0">
                <a:solidFill>
                  <a:schemeClr val="tx1"/>
                </a:solidFill>
              </a:rPr>
              <a:t>Кто давит и делит пополам, получает середину. Кто расспрашивает и предлагает «если вы…, то мы…», находит сделку, где выигрывают оба. В «Таре к запуску» всё посередине даёт 103 очка на двоих, а лучший размен — 144 очка.</a:t>
            </a:r>
            <a:endParaRPr lang="ru-RU" sz="1200" dirty="0">
              <a:solidFill>
                <a:schemeClr val="tx1"/>
              </a:solidFill>
            </a:endParaRPr>
          </a:p>
          <a:p>
            <a:pPr marL="201168" indent="-201168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200" dirty="0">
                <a:solidFill>
                  <a:schemeClr val="tx1"/>
                </a:solidFill>
              </a:rPr>
              <a:t>Разбор показывает очки против запасного варианта, эффективность по Парето и сколько осталось на столе. Справа карта всех сделок дела: жёлтая граница Парето, красная точка — ваша сделка.</a:t>
            </a:r>
            <a:endParaRPr lang="ru-RU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34111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411480"/>
          </a:xfrm>
          <a:prstGeom prst="roundRect">
            <a:avLst>
              <a:gd name="adj" fmla="val 0"/>
            </a:avLst>
          </a:prstGeom>
          <a:noFill/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16 приёмов, у каждого цитата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552647"/>
            <a:ext cx="4790314" cy="91440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>
                <a:solidFill>
                  <a:schemeClr val="tx1"/>
                </a:solidFill>
              </a:rPr>
              <a:t>Нейросеть ищет в реплике приёмы из закрытого списка. Без цитаты приём не засчитывается, правила-регулярки перепроверяют.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411480"/>
          </a:xfrm>
          <a:prstGeom prst="roundRect">
            <a:avLst>
              <a:gd name="adj" fmla="val 0"/>
            </a:avLst>
          </a:prstGeom>
          <a:noFill/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Одна мерка для всех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418716"/>
            <a:ext cx="4790314" cy="91440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>
                <a:solidFill>
                  <a:schemeClr val="tx1"/>
                </a:solidFill>
              </a:rPr>
              <a:t>Разметка идёт при температуре 0 и кэшируется, в движке нет случайности. Та же история ходов даёт тот же разбор байт в байт.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411480"/>
          </a:xfrm>
          <a:prstGeom prst="roundRect">
            <a:avLst>
              <a:gd name="adj" fmla="val 0"/>
            </a:avLst>
          </a:prstGeom>
          <a:noFill/>
        </p:spPr>
        <p:txBody>
          <a:bodyPr anchor="b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Проверили пересказом</a:t>
            </a:r>
            <a:endParaRPr lang="ru-RU" sz="1500" b="1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374652"/>
            <a:ext cx="4790314" cy="91440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>
                <a:solidFill>
                  <a:schemeClr val="tx1"/>
                </a:solidFill>
              </a:rPr>
              <a:t>Те же ходы другими словами: 72 и 72 очка, Парето 100%, доверие 61 и 62. Оценки «7 из 10» от нейросети нет.</a:t>
            </a:r>
            <a:endParaRPr lang="ru-RU" sz="1150" dirty="0">
              <a:solidFill>
                <a:schemeClr val="tx1"/>
              </a:solidFill>
            </a:endParaRP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7472" y="1417320"/>
          <a:ext cx="5760720" cy="434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3920489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КАК СЧИТАЕМ ПОВЕДЕНИЕ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11480" y="1051560"/>
            <a:ext cx="5669280" cy="3657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FFFF"/>
                </a:solidFill>
              </a:rPr>
              <a:t>Что сильные переговорщики делают чаще средних, % высказываний</a:t>
            </a:r>
            <a:endParaRPr lang="ru-RU" sz="1200" b="1" dirty="0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11480" y="5852160"/>
            <a:ext cx="566928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FFD6E3"/>
                </a:solidFill>
              </a:rPr>
              <a:t>Rackham &amp; Carlisle, 1978: 49 переговорщиков, 103 реальные сессии. Этот профиль — эталон в разборе и на доске команды.</a:t>
            </a:r>
            <a:endParaRPr lang="ru-RU" sz="1000" dirty="0">
              <a:solidFill>
                <a:srgbClr val="FFD6E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4223004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arena-peregovorov.ru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arena-peregovorov.ru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224528"/>
            <a:ext cx="4121687" cy="19202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Своё дело за 10–20 секунд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Сфера, ваша роль, кто напротив и чего добивается, характер и сложность. Историю пишет нейросеть, таблицы очков строит движок и проверяет, что договориться можно и есть что обменять.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224528"/>
            <a:ext cx="4121687" cy="1920240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Доска команды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Руководитель выбирает дело и шлёт ссылку в рабочий чат. На доске очки каждого против запасного варианта, Парето, доверие, финалы и типичные ошибки команды. Есть выгрузка в CSV.</a:t>
            </a:r>
            <a:endParaRPr lang="ru-RU" sz="1200" dirty="0">
              <a:solidFill>
                <a:schemeClr val="tx1"/>
              </a:solidFill>
            </a:endParaRPr>
          </a:p>
        </p:txBody>
      </p:sp>
      <p:pic>
        <p:nvPicPr>
          <p:cNvPr id="5" name="Рисунок 4" descr="p_form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3" r="3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6" name="Рисунок 5" descr="p_board.pn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50" b="50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380238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КАБИНЕТ РУКОВОДИТЕЛЯ</a:t>
            </a:r>
            <a:endParaRPr lang="ru-RU" sz="200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2971800"/>
            <a:ext cx="3728347" cy="2395728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2971800"/>
            <a:ext cx="3728347" cy="2395728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2971800"/>
            <a:ext cx="3728347" cy="2395728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4604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460993" y="1280160"/>
            <a:ext cx="1463040" cy="1463040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 lIns="18288" tIns="18288" rIns="18288" bIns="18288" wrap="square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</a:rPr>
              <a:t>Движок</a:t>
            </a:r>
            <a:endParaRPr lang="ru-RU" sz="1300" b="1" dirty="0">
              <a:solidFill>
                <a:srgbClr val="FFFFFF"/>
              </a:solidFill>
            </a:endParaRPr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1"/>
                </a:solidFill>
              </a:rPr>
              <a:t>решает</a:t>
            </a:r>
            <a:endParaRPr lang="ru-RU" sz="1500" b="1" dirty="0">
              <a:solidFill>
                <a:schemeClr val="accent1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62996" y="1280160"/>
            <a:ext cx="1463040" cy="1463040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 lIns="18288" tIns="18288" rIns="18288" bIns="18288" wrap="square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</a:rPr>
              <a:t>Нейросеть</a:t>
            </a:r>
            <a:endParaRPr lang="ru-RU" sz="1300" b="1" dirty="0">
              <a:solidFill>
                <a:srgbClr val="FFFFFF"/>
              </a:solidFill>
            </a:endParaRPr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1"/>
                </a:solidFill>
              </a:rPr>
              <a:t>читает</a:t>
            </a:r>
            <a:endParaRPr lang="ru-RU" sz="1500" b="1" dirty="0">
              <a:solidFill>
                <a:schemeClr val="accent1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2021" y="3154680"/>
            <a:ext cx="3364992" cy="2103120"/>
          </a:xfrm>
          <a:prstGeom prst="roundRect">
            <a:avLst>
              <a:gd name="adj" fmla="val 0"/>
            </a:avLst>
          </a:prstGeom>
          <a:noFill/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1. Разметка реплики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YandexGPT 5.1 находит в реплике игрока приёмы из списка в 16, сделанное предложение и нарушения тона. Температура 0, ответ кэшируется по хэшу реплики.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10017" y="3154680"/>
            <a:ext cx="3364992" cy="2103120"/>
          </a:xfrm>
          <a:prstGeom prst="roundRect">
            <a:avLst>
              <a:gd name="adj" fmla="val 0"/>
            </a:avLst>
          </a:prstGeom>
          <a:noFill/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2. Решение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Движок сдвигает доверие и напряжение и выбирает одно из шести действий. Уступает по кривой Faratin (1998) и никогда не опускается ниже своей альтернативы.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8012" y="3154680"/>
            <a:ext cx="3364992" cy="2103120"/>
          </a:xfrm>
          <a:prstGeom prst="roundRect">
            <a:avLst>
              <a:gd name="adj" fmla="val 0"/>
            </a:avLst>
          </a:prstGeom>
          <a:noFill/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3. Ответ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Модель пишет реплику в характере персонажа, SpeechKit озвучивает её живым голосом. Пока модель думает, звучит фраза-пауза. Реплику, которая спорит с движком, выбрасываем.</a:t>
            </a:r>
            <a:endParaRPr lang="ru-RU" sz="1200" dirty="0">
              <a:solidFill>
                <a:schemeClr val="tx1"/>
              </a:solidFill>
            </a:endParaRP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26036" y="2011680"/>
            <a:ext cx="2434957" cy="0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58988" y="1280160"/>
            <a:ext cx="1463040" cy="1463040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 lIns="18288" tIns="18288" rIns="18288" bIns="18288" wrap="square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rgbClr val="FFFFFF"/>
                </a:solidFill>
              </a:rPr>
              <a:t>Нейросеть</a:t>
            </a:r>
            <a:endParaRPr lang="ru-RU" sz="1300" b="1" dirty="0">
              <a:solidFill>
                <a:srgbClr val="FFFFFF"/>
              </a:solidFill>
            </a:endParaRPr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1"/>
                </a:solidFill>
              </a:rPr>
              <a:t>говорит</a:t>
            </a:r>
            <a:endParaRPr lang="ru-RU" sz="1500" b="1" dirty="0">
              <a:solidFill>
                <a:schemeClr val="accent1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272542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КАК УСТРОЕН ХОД</a:t>
            </a:r>
            <a:endParaRPr lang="ru-RU" sz="2000" b="1" dirty="0">
              <a:solidFill>
                <a:srgbClr val="FFFFFF"/>
              </a:solidFill>
            </a:endParaRP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924033" y="2011680"/>
            <a:ext cx="2434955" cy="0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74861" y="5504688"/>
            <a:ext cx="3611880" cy="7772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D6E3"/>
                </a:solidFill>
              </a:rPr>
              <a:t xml:space="preserve">Почему Яндекс. </a:t>
            </a:r>
            <a:r>
              <a:rPr lang="ru-RU" sz="1100" dirty="0">
                <a:solidFill>
                  <a:srgbClr val="FFFFFF"/>
                </a:solidFill>
              </a:rPr>
              <a:t>Работает из России и оплачивается в рублях. OpenAI и Anthropic с нашего сервера отвечают 403.</a:t>
            </a:r>
            <a:endParaRPr lang="ru-RU" sz="1100" dirty="0">
              <a:solidFill>
                <a:srgbClr val="FFFFFF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4372857" y="5504688"/>
            <a:ext cx="3611880" cy="7772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D6E3"/>
                </a:solidFill>
              </a:rPr>
              <a:t xml:space="preserve">Офлайн. </a:t>
            </a:r>
            <a:r>
              <a:rPr lang="ru-RU" sz="1100" dirty="0">
                <a:solidFill>
                  <a:srgbClr val="FFFFFF"/>
                </a:solidFill>
              </a:rPr>
              <a:t>Нет ключа или модель молчит 25 секунд — ход доигрывают правила и заготовки, игра не встаёт.</a:t>
            </a:r>
            <a:endParaRPr lang="ru-RU" sz="1100" dirty="0">
              <a:solidFill>
                <a:srgbClr val="FFFFFF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8270853" y="5504688"/>
            <a:ext cx="3017520" cy="7772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D6E3"/>
                </a:solidFill>
              </a:rPr>
              <a:t xml:space="preserve">Бюджет. </a:t>
            </a:r>
            <a:r>
              <a:rPr lang="ru-RU" sz="1100" dirty="0">
                <a:solidFill>
                  <a:srgbClr val="FFFFFF"/>
                </a:solidFill>
              </a:rPr>
              <a:t>150 ₽ в сутки: с 80% включается YandexGPT Lite, со 100% — офлайн. Автотестов 314+.</a:t>
            </a:r>
            <a:endParaRPr lang="ru-RU" sz="11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866894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286000"/>
            <a:ext cx="237744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Уже работает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2788920"/>
            <a:ext cx="2377440" cy="324612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3 деловых дела и сюжет из 7 глав с катсценами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своё дело по форме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3D-встреча и классический 2D-вид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живой голос, фразы-паузы, голосовой ввод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разбор с картой сделок и перемоткой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кабинет руководителя, доска, CSV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режим «Для жюри», офлайн, телефон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286000"/>
            <a:ext cx="2377440" cy="403756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Пока нет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2788920"/>
            <a:ext cx="2377440" cy="324612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аккаунтов: доска открывается по секретной ссылке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ручного редактора таблиц очков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переговоров человека с человеком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выгрузки в LMS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286000"/>
            <a:ext cx="2377440" cy="403913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Дальше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2788920"/>
            <a:ext cx="2377440" cy="324612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редактор дела для L&amp;D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наборы дел под отделы резидентов ОЭЗ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выгрузка в LMS: xAPI, SCORM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режим «команда против команды»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прирост по отделу на доске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286000"/>
            <a:ext cx="237744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5"/>
                </a:solidFill>
              </a:rPr>
              <a:t>Мерить на пилоте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2788920"/>
            <a:ext cx="2377440" cy="3246120"/>
          </a:xfrm>
        </p:spPr>
        <p:txBody>
          <a:bodyPr anchor="t" lIns="0" tIns="0" rIns="0" bIns="0" wrap="square">
            <a:noAutofit/>
          </a:bodyPr>
          <a:lstStyle/>
          <a:p>
            <a:pPr marL="182880" indent="-18288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долю сделок хуже запасного варианта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среднюю эффективность по Парето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долю раскрытых интересов</a:t>
            </a:r>
            <a:endParaRPr lang="ru-RU" sz="1150" dirty="0">
              <a:solidFill>
                <a:schemeClr val="tx1"/>
              </a:solidFill>
            </a:endParaRPr>
          </a:p>
          <a:p>
            <a:pPr marL="182880" indent="-18288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ru-RU" sz="1150" dirty="0">
                <a:solidFill>
                  <a:schemeClr val="tx1"/>
                </a:solidFill>
              </a:rPr>
              <a:t>прирост от первой к третьей попытке</a:t>
            </a:r>
            <a:endParaRPr lang="ru-RU" sz="115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4446269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ГРАНИЦЫ MVP И ЧТО ДАЛЬШЕ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91440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01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914400" cy="403756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02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914400" cy="403913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03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914400" cy="423628"/>
          </a:xfrm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04</a:t>
            </a:r>
            <a:endParaRPr lang="ru-RU" sz="22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/>
          <p:nvPr/>
        </p:nvSpPr>
        <p:spPr>
          <a:xfrm>
            <a:off x="346075" y="324562"/>
            <a:ext cx="310896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D2A0318-C089-B05C-98D0-C8E15942D3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2" y="904538"/>
            <a:ext cx="4551334" cy="3557364"/>
          </a:xfrm>
          <a:prstGeom prst="rect">
            <a:avLst/>
          </a:prstGeom>
        </p:spPr>
      </p:pic>
      <p:pic>
        <p:nvPicPr>
          <p:cNvPr id="2" name="Рисунок 1" descr="s16_title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t="27" b="27"/>
          <a:stretch>
            <a:fillRect/>
          </a:stretch>
        </p:blipFill>
        <p:spPr>
          <a:xfrm>
            <a:off x="4068417" y="1187395"/>
            <a:ext cx="3988905" cy="3000292"/>
          </a:xfr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Ссылка для жюри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arena-peregovorov.ru/?jury. Доступ — в описании решения.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Запасной вход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Логин и пароль — в описании решения. Работает в браузере на ноутбуке и телефоне.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>
                <a:solidFill>
                  <a:schemeClr val="accent5"/>
                </a:solidFill>
              </a:rPr>
              <a:t>Код и запуск</a:t>
            </a:r>
            <a:endParaRPr lang="ru-RU" sz="15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github.com/57lol/arena-peregovorov, репозиторий публичный. npm ci и npm run dev — без ключей игра работает офлайн.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3293" y="324562"/>
            <a:ext cx="93218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ДЕМО</a:t>
            </a:r>
            <a:endParaRPr lang="ru-RU" sz="2000" b="1" dirty="0">
              <a:solidFill>
                <a:srgbClr val="FFFFFF"/>
              </a:solidFill>
            </a:endParaRPr>
          </a:p>
        </p:txBody>
      </p:sp>
      <p:pic>
        <p:nvPicPr>
          <p:cNvPr id="13" name="Picture 12" descr="qr_publ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960120"/>
            <a:ext cx="2240280" cy="2240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41080" y="3310128"/>
            <a:ext cx="3246120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chemeClr val="accent1"/>
                </a:solidFill>
              </a:rPr>
              <a:t>arena-peregovorov.ru</a:t>
            </a:r>
            <a:endParaRPr lang="ru-RU" sz="1600" b="1" dirty="0">
              <a:solidFill>
                <a:schemeClr val="accent1"/>
              </a:solidFill>
            </a:endParaRPr>
          </a:p>
          <a:p>
            <a:pPr marL="0" indent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100" dirty="0">
                <a:solidFill>
                  <a:srgbClr val="4A4453"/>
                </a:solidFill>
              </a:rPr>
              <a:t>наведите камеру телефона</a:t>
            </a:r>
            <a:endParaRPr lang="ru-RU" sz="1100" dirty="0">
              <a:solidFill>
                <a:srgbClr val="4A4453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1234440"/>
            <a:ext cx="3108960" cy="3108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5"/>
                </a:solidFill>
              </a:rPr>
              <a:t>Проверка за 5 минут</a:t>
            </a:r>
            <a:endParaRPr lang="ru-RU" sz="22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tx1"/>
                </a:solidFill>
              </a:rPr>
              <a:t>«Для жюри» → Настроить → Провести → Разбор → Команда. Сюжет и катсцены — по желанию.</a:t>
            </a:r>
            <a:endParaRPr lang="ru-RU" sz="1300" dirty="0">
              <a:solidFill>
                <a:schemeClr val="tx1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100" i="1" dirty="0">
                <a:solidFill>
                  <a:srgbClr val="4A4453"/>
                </a:solidFill>
              </a:rPr>
              <a:t>Сайт закрыт, чтобы посторонние не выжигали лимит нейросети.</a:t>
            </a:r>
            <a:endParaRPr lang="ru-RU" sz="1100" i="1" dirty="0">
              <a:solidFill>
                <a:srgbClr val="4A445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4604004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324562"/>
            <a:ext cx="4183379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КАК ПРОВЕРИТЬ ЗА 5 МИНУТ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02920" y="1188720"/>
            <a:ext cx="6400800" cy="411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chemeClr val="accent5"/>
                </a:solidFill>
              </a:rPr>
              <a:t>Маршрут: «Для жюри» и четыре шага</a:t>
            </a:r>
            <a:endParaRPr lang="ru-RU" sz="1800" b="1" dirty="0">
              <a:solidFill>
                <a:schemeClr val="accent5"/>
              </a:solidFill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502920" y="182880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1828800"/>
            <a:ext cx="56692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1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280160" y="1783080"/>
            <a:ext cx="5669280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 xml:space="preserve">«Настроить» </a:t>
            </a:r>
            <a:r>
              <a:rPr lang="ru-RU" sz="1250" dirty="0">
                <a:solidFill>
                  <a:schemeClr val="tx1"/>
                </a:solidFill>
              </a:rPr>
              <a:t>своё дело по форме: сфера, роли и цели сторон, характер собеседника. Историю пишет нейросеть, таблицы очков строит движок.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502920" y="265176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" y="2651760"/>
            <a:ext cx="56692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2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280160" y="2606040"/>
            <a:ext cx="5669280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 xml:space="preserve">«Провести» </a:t>
            </a:r>
            <a:r>
              <a:rPr lang="ru-RU" sz="1250" dirty="0">
                <a:solidFill>
                  <a:schemeClr val="tx1"/>
                </a:solidFill>
              </a:rPr>
              <a:t>встреча по делу «Тара к запуску»: 10–12 реплик текстом или голосом, собеседник отвечает вслух.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02920" y="347472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3474720"/>
            <a:ext cx="56692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3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1280160" y="3429000"/>
            <a:ext cx="5669280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 xml:space="preserve">«Разбор» </a:t>
            </a:r>
            <a:r>
              <a:rPr lang="ru-RU" sz="1250" dirty="0">
                <a:solidFill>
                  <a:schemeClr val="tx1"/>
                </a:solidFill>
              </a:rPr>
              <a:t>готовая встреча, которую движок сыграл за секунду: итог, карта сделок, перемотка с ключевого хода.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502920" y="429768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4297680"/>
            <a:ext cx="56692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chemeClr val="accent1"/>
                </a:solidFill>
              </a:rPr>
              <a:t>4</a:t>
            </a:r>
            <a:endParaRPr lang="ru-RU" sz="2200" b="1" dirty="0">
              <a:solidFill>
                <a:schemeClr val="accent1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280160" y="4251960"/>
            <a:ext cx="5669280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 xml:space="preserve">«Команда» </a:t>
            </a:r>
            <a:r>
              <a:rPr lang="ru-RU" sz="1250" dirty="0">
                <a:solidFill>
                  <a:schemeClr val="tx1"/>
                </a:solidFill>
              </a:rPr>
              <a:t>кабинет руководителя: ссылка для команды и доска результатов с выгрузкой в CSV.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502920" y="5138928"/>
            <a:ext cx="644652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50" b="1" dirty="0">
                <a:solidFill>
                  <a:schemeClr val="accent1"/>
                </a:solidFill>
              </a:rPr>
              <a:t xml:space="preserve">По желанию: </a:t>
            </a:r>
            <a:r>
              <a:rPr lang="ru-RU" sz="1250" dirty="0">
                <a:solidFill>
                  <a:schemeClr val="tx1"/>
                </a:solidFill>
              </a:rPr>
              <a:t>«Сюжет» на титуле — неделя новенького с катсценами; все ролики — в галерее «Катсцены».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7315200" y="1188720"/>
            <a:ext cx="452628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qr_publ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371600"/>
            <a:ext cx="2057400" cy="20574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7452360" y="3566160"/>
            <a:ext cx="4251960" cy="19202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chemeClr val="accent5"/>
                </a:solidFill>
              </a:rPr>
              <a:t>Режим для жюри</a:t>
            </a:r>
            <a:endParaRPr lang="ru-RU" sz="1400" b="1" dirty="0">
              <a:solidFill>
                <a:schemeClr val="accent5"/>
              </a:solidFill>
            </a:endParaRPr>
          </a:p>
          <a:p>
            <a:pPr marL="0" indent="0" algn="ctr"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accent1"/>
                </a:solidFill>
              </a:rPr>
              <a:t>arena-peregovorov.ru/?jury</a:t>
            </a:r>
            <a:endParaRPr lang="ru-RU" sz="1200" b="1" dirty="0">
              <a:solidFill>
                <a:schemeClr val="accent1"/>
              </a:solidFill>
            </a:endParaRPr>
          </a:p>
          <a:p>
            <a:pPr marL="0" indent="0" algn="ctr">
              <a:spcBef>
                <a:spcPts val="90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chemeClr val="tx1"/>
                </a:solidFill>
              </a:rPr>
              <a:t>Доступ — в описании решения</a:t>
            </a:r>
            <a:endParaRPr lang="ru-RU" sz="1200" b="1" dirty="0">
              <a:solidFill>
                <a:schemeClr val="tx1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02920" y="5760720"/>
            <a:ext cx="5394960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chemeClr val="accent5"/>
                </a:solidFill>
              </a:rPr>
              <a:t xml:space="preserve">Код: </a:t>
            </a:r>
            <a:r>
              <a:rPr lang="ru-RU" sz="1100" dirty="0">
                <a:solidFill>
                  <a:schemeClr val="tx1"/>
                </a:solidFill>
              </a:rPr>
              <a:t>github.com/57lol/arena-peregovorov, репозиторий публичный. Локально: npm ci и npm run dev, без ключей игра работает офлайн.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172200" y="5760720"/>
            <a:ext cx="5120640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chemeClr val="accent5"/>
                </a:solidFill>
              </a:rPr>
              <a:t xml:space="preserve">Почему сайт закрыт: </a:t>
            </a:r>
            <a:r>
              <a:rPr lang="ru-RU" sz="1100" dirty="0">
                <a:solidFill>
                  <a:schemeClr val="tx1"/>
                </a:solidFill>
              </a:rPr>
              <a:t>чтобы посторонние не выжигали лимит нейросети. Доступ для экспертов — в описании решения.</a:t>
            </a:r>
            <a:endParaRPr lang="ru-RU" sz="11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0896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8368" y="1664208"/>
            <a:ext cx="4754880" cy="1737360"/>
          </a:xfrm>
          <a:noFill/>
          <a:ln>
            <a:noFill/>
          </a:ln>
        </p:spPr>
        <p:txBody>
          <a:bodyPr anchor="t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chemeClr val="accent5"/>
                </a:solidFill>
              </a:rPr>
              <a:t>Собеседник говорит вслух</a:t>
            </a:r>
            <a:endParaRPr lang="ru-RU" sz="2000" b="1" dirty="0">
              <a:solidFill>
                <a:schemeClr val="accent5"/>
              </a:solidFill>
            </a:endParaRPr>
          </a:p>
          <a:p>
            <a:pPr marL="0" indent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tx1"/>
                </a:solidFill>
              </a:rPr>
              <a:t>Ответ озвучивает Yandex SpeechKit. У каждого персонажа свой голос, а эмоция из движка меняет подачу: довольный говорит теплее, раздражённый строже.</a:t>
            </a:r>
            <a:endParaRPr lang="ru-RU" sz="1300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Фразы-паузы   </a:t>
            </a:r>
            <a:r>
              <a:rPr lang="ru-RU" sz="1250" dirty="0">
                <a:solidFill>
                  <a:schemeClr val="tx1"/>
                </a:solidFill>
              </a:rPr>
              <a:t>пока модель думает, собеседник говорит «Хм, секунду» или «Сейчас прикину»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Голосовой ввод   </a:t>
            </a:r>
            <a:r>
              <a:rPr lang="ru-RU" sz="1250" dirty="0">
                <a:solidFill>
                  <a:schemeClr val="tx1"/>
                </a:solidFill>
              </a:rPr>
              <a:t>речь распознаёт SpeechKit, текст можно поправить перед отправкой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Музыка   </a:t>
            </a:r>
            <a:r>
              <a:rPr lang="ru-RU" sz="1250" dirty="0">
                <a:solidFill>
                  <a:schemeClr val="tx1"/>
                </a:solidFill>
              </a:rPr>
              <a:t>три темы: титул, карта и катсцены. Всё под CC0, авторы указаны в LICENSES.md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Фон комнат   </a:t>
            </a:r>
            <a:r>
              <a:rPr lang="ru-RU" sz="1250" dirty="0">
                <a:solidFill>
                  <a:schemeClr val="tx1"/>
                </a:solidFill>
              </a:rPr>
              <a:t>офис, цех, магазин, улица, общага и автобус, плюс шаги и шелест бумаг, тоже CC0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 lIns="45720" tIns="0" rIns="45720" bIns="0" wrap="square">
            <a:noAutofit/>
          </a:bodyPr>
          <a:lstStyle/>
          <a:p>
            <a:pPr marL="0" indent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accent1"/>
                </a:solidFill>
              </a:rPr>
              <a:t xml:space="preserve">Лаборатория   </a:t>
            </a:r>
            <a:r>
              <a:rPr lang="ru-RU" sz="1250" dirty="0">
                <a:solidFill>
                  <a:schemeClr val="tx1"/>
                </a:solidFill>
              </a:rPr>
              <a:t>/?lab: те же дела, но собеседника ведёт другая модель (Lite, GPT, Claude, GigaChat) и другой голос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1948" y="324562"/>
            <a:ext cx="2134870" cy="620919"/>
          </a:xfrm>
        </p:spPr>
        <p:txBody>
          <a:bodyPr anchor="ctr" lIns="0" tIns="0" rIns="0" bIns="0" wrap="square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dirty="0">
                <a:solidFill>
                  <a:srgbClr val="FFFFFF"/>
                </a:solidFill>
              </a:rPr>
              <a:t>ГОЛОС И ЗВУК</a:t>
            </a:r>
            <a:endParaRPr lang="ru-RU" sz="2000" b="1" dirty="0">
              <a:solidFill>
                <a:srgbClr val="FFFF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58368" y="3246120"/>
            <a:ext cx="2286000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dirty="0">
                <a:solidFill>
                  <a:schemeClr val="accent1"/>
                </a:solidFill>
              </a:rPr>
              <a:t>6</a:t>
            </a:r>
            <a:endParaRPr lang="ru-RU" sz="4800" b="1" dirty="0">
              <a:solidFill>
                <a:schemeClr val="accent1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8368" y="4069080"/>
            <a:ext cx="2240280" cy="12801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живых голосов livetts, самой «живой» модели SpeechKit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127248" y="3246120"/>
            <a:ext cx="2286000" cy="73152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b="1" dirty="0">
                <a:solidFill>
                  <a:schemeClr val="accent1"/>
                </a:solidFill>
              </a:rPr>
              <a:t>9</a:t>
            </a:r>
            <a:endParaRPr lang="ru-RU" sz="4800" b="1" dirty="0">
              <a:solidFill>
                <a:schemeClr val="accent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127248" y="4069080"/>
            <a:ext cx="2240280" cy="12801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</a:rPr>
              <a:t>фраз-пауз на каждый голос: записаны заранее и звучат без задержки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58368" y="5394960"/>
            <a:ext cx="4754880" cy="54864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i="1" dirty="0">
                <a:solidFill>
                  <a:srgbClr val="6B6475"/>
                </a:solidFill>
              </a:rPr>
              <a:t>Суточный лимит голоса: 40 000 символов озвучки и час распознавания речи</a:t>
            </a:r>
            <a:endParaRPr lang="ru-RU" sz="1000" i="1" dirty="0">
              <a:solidFill>
                <a:srgbClr val="6B6475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