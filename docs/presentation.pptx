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66" r:id="rId9"/>
    <p:sldId id="362" r:id="rId10"/>
    <p:sldId id="364" r:id="rId11"/>
    <p:sldId id="375" r:id="rId12"/>
    <p:sldId id="376" r:id="rId13"/>
    <p:sldId id="377" r:id="rId14"/>
    <p:sldId id="378" r:id="rId15"/>
    <p:sldId id="379" r:id="rId16"/>
    <p:sldId id="380" r:id="rId17"/>
    <p:sldId id="381" r:id="rId18"/>
    <p:sldId id="382" r:id="rId19"/>
    <p:sldId id="383" r:id="rId20"/>
    <p:sldId id="384" r:id="rId21"/>
    <p:sldId id="385" r:id="rId22"/>
    <p:sldId id="386" r:id="rId23"/>
    <p:sldId id="387" r:id="rId24"/>
    <p:sldId id="388" r:id="rId25"/>
    <p:sldId id="389" r:id="rId26"/>
    <p:sldId id="390" r:id="rId27"/>
    <p:sldId id="391" r:id="rId28"/>
    <p:sldId id="392" r:id="rId29"/>
    <p:sldId id="393" r:id="rId30"/>
    <p:sldId id="394" r:id="rId31"/>
    <p:sldId id="395" r:id="rId32"/>
    <p:sldId id="396" r:id="rId33"/>
    <p:sldId id="397" r:id="rId34"/>
    <p:sldId id="398" r:id="rId35"/>
    <p:sldId id="399" r:id="rId36"/>
    <p:sldId id="400" r:id="rId37"/>
    <p:sldId id="401" r:id="rId38"/>
    <p:sldId id="402" r:id="rId7"/>
    <p:sldId id="403" r:id="rId6"/>
    <p:sldId id="404" r:id="rId5"/>
    <p:sldId id="405" r:id="rId4"/>
    <p:sldId id="406" r:id="rId3"/>
    <p:sldId id="407" r:id="rId2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7.xml"/><Relationship Id="rId3" Type="http://schemas.openxmlformats.org/officeDocument/2006/relationships/slide" Target="slides/slide36.xml"/><Relationship Id="rId4" Type="http://schemas.openxmlformats.org/officeDocument/2006/relationships/slide" Target="slides/slide35.xml"/><Relationship Id="rId5" Type="http://schemas.openxmlformats.org/officeDocument/2006/relationships/slide" Target="slides/slide34.xml"/><Relationship Id="rId6" Type="http://schemas.openxmlformats.org/officeDocument/2006/relationships/slide" Target="slides/slide33.xml"/><Relationship Id="rId7" Type="http://schemas.openxmlformats.org/officeDocument/2006/relationships/slide" Target="slides/slide32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0:24–0:30. Нас двое, мы старые друзья. Я — продукт, голосовые нейросети и пиксель-арт. Пётр — бэкенд и вся инфраструктура.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0:30–0:36. Модели плохо торгуются: якорятся и делят пополам. Поэтому логика переговоров у нас в движке, а нейросеть отвечает за речь. У каждого звена есть запасной путь.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0:00–0:12. Добрый день, мы «Би 2 Би», кейс Алабуги. Бывало, что договорились, а потом поняли: можно было лучше, и вам, и партнёру? Мы сделали тренажёр, где этому учатся без риска. Это «Переговорка».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0:12–0:24. Это тренажёр для тех, у кого переговоры — работа. Руководитель настраивает встречу под задачу отдела и даёт ссылку. Сотрудник договаривается голосом, ответ приходит примерно через две секунды. После встречи — разбор, а у руководителя — доска, где у всех одна мерка.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0:36–0:42. Веб по ссылке, телефон тоже. Играют закупщики, продажники и рекрутеры, платит руководитель или HR, пилот бесплатный.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0:42–0:54. Половина людей на переговорах не замечает, что другой стороне нужно то же самое. Пример из игры: вам нужна поставка раз в неделю, Марату тоже, у него склад забит. Кто не спросил, уступает в цене зря. Учит этому только практика, а сейчас это тренинг за 43 тысячи или ошибка на живой сделке.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0:54–1:08. Для кого. Первый пользователь — сотрудник резидента ОЭЗ, у которого переговоры — работа: закупщик, продажник, рекрутер. Новичкам Алабуги — сюжет про первую неделю. Платит руководитель отдела, HR или L&amp;D: он настраивает встречу и видит команду на доске. Начинать предлагаем с одного отдела.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1:08–1:18. Чем это лучше лекции и тренинга? На лекции практики нет. На тренинге есть, но пока он идёт. Здесь можно тренироваться голосом сколько угодно, разбор идёт по вашим же словам, ошибку можно переиграть с того хода, а у всей команды одна мерка.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1:18–1:28. Круг такой: руководитель выбирает готовое дело или собирает своё и даёт ссылку. Сотрудник играет голосом, получает разбор. Руководитель видит на доске, кто растёт и кому нужна помощь. Сейчас покажем это вживую.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1:28–1:36. Вокруг встречи — целый мир: неделя новичка в Алабуге, 10 дел и своё, у деловых есть жёсткая версия, 31 лицо, из них 14 деловых. [Пётр переключается в браузер]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1:36–3:24, ЖИВОЕ ДЕМО, 1:48 (подробно — PITCH_SCRIPT.md). 1) Титул → «Администратор». 2) Шаблон «Закупка у поставщика» → «Собрать», пока собирается — рассказать (не ждать больше 25 с, иначе вкладка с заготовкой). 3) Проверьте встречу: место, лицо, бриф. 4) Ссылка команде → открыть её. 5) Встреча: слабая реплика → «Мимо» → «Переиграть с этого хода» → сильная → «В точку» → «Писать текстом». 6) «Уйти» → разбор этой встречи. 7) Доска руководителя. Сеть упала — демо-ролик (запасной слайд).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3:24–3:34. Ещё раз то, что вы видели: это интерфейс администратора из ТЗ. Пять шаблонов HR или своё описание, нейросеть пишет дело, движок проверяет сделку, лицо и место можно сменить, потом одна ссылка команде. Сборка занимает 5–20 секунд, в худшем случае до двух минут.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3:34–3:48. Под капотом три шага. Claude размечает вашу реплику: какие приёмы, обязательно с цитатой. Движок по скрытым таблицам обеих сторон решает, что ответить. Claude проговаривает это в характере, ElevenLabs озвучивает. Таблиц очков модель не видит. Нейросеть недоступна — работает запасной путь.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3:48–3:58. Поэтому разбор можно проверить: те же ходы другими словами дают тот же счёт, 72 и 72. Ноль ошибок сторон сделки в 18 вариантах дел. Но это тренажёр для обучения, для аттестации он не годится.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3:58–4:05. Методика из пяти книг: Фишер и Юри, Восс, Рэкхем, Стоун. Тридцать приёмов, у каждого книга и глава.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4:05–4:11. Около двух секунд от конца фразы до голоса ответа — это медиана живых ходов на проде. Голос заменяемый: если ElevenLabs не ответил, говорит Яндекс SpeechKit. [Если отстаём — пропустить]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4:11–4:17. Уже четыре манеры речи: русский, английский с турецким и с нигерийским акцентом, русский с китайским акцентом.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4:17–4:31. Проверили на живых людях. 19 октября — моя семья, три человека, около 130 ходов; по ним исправили 25 мест. 20 октября — друзья по одной общей ссылке: 5 устройств, четверо играли, 19 ходов, а я смотрел табло вживую. Ссылка закрывается сама по времени или кнопкой.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4:31–4:49. Как внедряем в Алабуге. Пилот бесплатный: один отдел резидента до 30 человек, четыре недели. Руководитель собирает дела под свои задачи, команда играет по ссылке. Успех — больше половины сыграли от трёх раз и последняя попытка лучше первой, это видно на доске. Потом 590 рублей за место в месяц, это наша оценка. Тренинг стоит 43 тысячи, это шесть лет подписки.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4:49–5:03. Что уже есть: кабинет руководителя и командировки. Дальше: вход через учётку компании и выгрузка в LMS, аналитика по неделям, двое собеседников с той стороны. И честно о границах: это только обучение, а помогает ли игра на живых сделках, проверим на пилоте.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5:03–5:08. QR ведёт прямо в игру. Спасибо, готовы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Демо-ролик 3:31: если сеть или микрофон подвели. На питче — нарезка ~2 мин по таймкодам из PITCH_SCRIPT.md или ролик с 0:28 до 2:57. Диктор свой, поверх не говорим.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Места игры: бытовые и деловые сцены, командировки.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Вопрос про методику. 30 приёмов: 21 сильный, 2 по ситуации, 7 слабых; 8 новых — из книг Восса и Юри. У каждого книга, глава и пример фразы.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Вопрос «как оценка повторяется при LLM». Модель не решает, только размечает с цитатой; движок без случайности.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Вопрос «понятна ли обратная связь». Итог, карта сделок, три ключевых момента с цитатами и ссылкой на исследование.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Вопрос «что видит игрок после встречи». Графики по ходам, профиль 30 приёмов, звёзды по попыткам.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Вопрос «почему эти модели». Сравнили 19 вслепую; базовая комплектация — YandexGPT и SpeechKit, одной настройкой.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Вопрос «сколько стоит партия». Зависит от комплектации: на пилоте 20.10 с живым голосом ≈ 14 ₽ за ход. Базовая комплектация дешевле, точную цену партии посчитаем на пилоте в отделе.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Вопрос «не мешает ли геймификация». Каждая механика — ради обучения, деловые дела открыты без сюжета.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Вопрос про руководителя и HR. Ссылки без аккаунтов, согласие на переписку. Аккаунты и вход через учётку компании — следующий шаг.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Вопрос «как настройки влияют на сценарий». Характер задаёт стартовое доверие и напряжение, сложность — запасной вариант собеседника и число ходов.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Вопрос про лица и места своего дела. 14 деловых лиц, 6 мест, подбор по описанию, можно сменить.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Вопрос «как заходят судьи». Личные ключи с лимитами на человека, а не на IP. Отвечает Пётр.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Вопрос про мобильный сценарий.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Вопрос про риски.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Вопрос про архитектуру и безопасность ключей. Отвечает Пётр.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14.09.2026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14.09.2026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14.09.2026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14.09.2026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2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1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12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13.png"/><Relationship Id="rId10" Type="http://schemas.openxmlformats.org/officeDocument/2006/relationships/image" Target="../media/image31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32.png"/><Relationship Id="rId1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1.png"/><Relationship Id="rId3" Type="http://schemas.openxmlformats.org/officeDocument/2006/relationships/image" Target="../media/image33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1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1.png"/><Relationship Id="rId3" Type="http://schemas.openxmlformats.org/officeDocument/2006/relationships/image" Target="../media/image39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1.png"/><Relationship Id="rId3" Type="http://schemas.openxmlformats.org/officeDocument/2006/relationships/image" Target="../media/image40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1.png"/><Relationship Id="rId3" Type="http://schemas.openxmlformats.org/officeDocument/2006/relationships/image" Target="../media/image41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1.png"/><Relationship Id="rId3" Type="http://schemas.openxmlformats.org/officeDocument/2006/relationships/image" Target="../media/image46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47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1.png"/><Relationship Id="rId3" Type="http://schemas.microsoft.com/office/2007/relationships/media" Target="../media/media2.mp4"/><Relationship Id="rId4" Type="http://schemas.openxmlformats.org/officeDocument/2006/relationships/video" Target="../media/media2.mp4"/><Relationship Id="rId5" Type="http://schemas.openxmlformats.org/officeDocument/2006/relationships/image" Target="../media/image50.png"/><Relationship Id="rId6" Type="http://schemas.openxmlformats.org/officeDocument/2006/relationships/hyperlink" Target="https://arena-peregovorov.ru/screencast.mp4" TargetMode="External"/><Relationship Id="rId7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1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image" Target="../media/image60.png"/><Relationship Id="rId1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1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37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1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1.png"/><Relationship Id="rId3" Type="http://schemas.openxmlformats.org/officeDocument/2006/relationships/image" Target="../media/image16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Relationship Id="rId8" Type="http://schemas.openxmlformats.org/officeDocument/2006/relationships/image" Target="../media/image17.png"/><Relationship Id="rId9" Type="http://schemas.openxmlformats.org/officeDocument/2006/relationships/image" Target="../media/image14.png"/><Relationship Id="rId10" Type="http://schemas.openxmlformats.org/officeDocument/2006/relationships/image" Target="../media/image72.png"/><Relationship Id="rId11" Type="http://schemas.openxmlformats.org/officeDocument/2006/relationships/image" Target="../media/image73.png"/><Relationship Id="rId12" Type="http://schemas.openxmlformats.org/officeDocument/2006/relationships/image" Target="../media/image74.png"/><Relationship Id="rId13" Type="http://schemas.openxmlformats.org/officeDocument/2006/relationships/image" Target="../media/image18.png"/><Relationship Id="rId14" Type="http://schemas.openxmlformats.org/officeDocument/2006/relationships/image" Target="../media/image15.png"/><Relationship Id="rId15" Type="http://schemas.openxmlformats.org/officeDocument/2006/relationships/image" Target="../media/image75.png"/><Relationship Id="rId16" Type="http://schemas.openxmlformats.org/officeDocument/2006/relationships/image" Target="../media/image13.png"/><Relationship Id="rId17" Type="http://schemas.openxmlformats.org/officeDocument/2006/relationships/image" Target="../media/image76.png"/><Relationship Id="rId18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1.png"/><Relationship Id="rId3" Type="http://schemas.openxmlformats.org/officeDocument/2006/relationships/image" Target="../media/image77.pn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1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 anchor="b" wrap="square">
            <a:noAutofit/>
          </a:bodyPr>
          <a:lstStyle/>
          <a:p>
            <a:pPr marL="268288" indent="0"/>
            <a:r>
              <a:rPr lang="ru-RU" sz="1800" b="0" dirty="0"/>
              <a:t>ЛЦТ 2026 · кейс №9 «Арена переговоров»</a:t>
            </a:r>
          </a:p>
          <a:p>
            <a:pPr marL="268288" indent="0"/>
            <a:r>
              <a:rPr lang="ru-RU" sz="6000" dirty="0"/>
              <a:t>Переговорка</a:t>
            </a:r>
          </a:p>
        </p:txBody>
      </p:sp>
      <p:pic>
        <p:nvPicPr>
          <p:cNvPr id="4" name="Рисунок 3" descr="s1_logo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73" r="173"/>
          <a:stretch>
            <a:fillRect/>
          </a:stretch>
        </p:blipFill>
        <p:spPr>
          <a:xfrm>
            <a:off x="305186" y="329801"/>
            <a:ext cx="5193299" cy="1082589"/>
          </a:xfr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 wrap="square">
            <a:noAutofit/>
          </a:bodyPr>
          <a:lstStyle/>
          <a:p>
            <a:pPr indent="268288"/>
            <a:r>
              <a:rPr lang="ru-RU" dirty="0"/>
              <a:t>Команда «Би 2 Би» · голосовой тренажёр деловых переговоров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pic>
        <p:nvPicPr>
          <p:cNvPr id="19" name="Picture 18" descr="meet-margin-a243ffaf6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5267"/>
            <a:ext cx="6456363" cy="2971784"/>
          </a:xfrm>
          <a:prstGeom prst="rect">
            <a:avLst/>
          </a:prstGeom>
        </p:spPr>
      </p:pic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14173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Разговор голосом, ответ примерно через 2 с. У встречи есть цель и счёт, после неё — разбор, а ошибку можно переиграть с того же хода. Счёт ведёт движок, поэтому у всей команды одна мерка, и рост виден на доске руководителя.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b="0" dirty="0">
                <a:solidFill>
                  <a:schemeClr val="tx1"/>
                </a:solidFill>
              </a:rPr>
              <a:t>Никита Дмитриевич Голубев, продукт, голосовые нейросети, пиксель-арт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b="0" dirty="0">
                <a:solidFill>
                  <a:schemeClr val="tx1"/>
                </a:solidFill>
              </a:rPr>
              <a:t>2 человека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Краткое описание: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 b="0">
                <a:solidFill>
                  <a:schemeClr val="tx1"/>
                </a:solidFill>
              </a:rPr>
              <a:t>старые друзья, оба с большим опытом разработки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 b="0">
                <a:solidFill>
                  <a:schemeClr val="tx1"/>
                </a:solidFill>
              </a:rPr>
              <a:t>учёба: Никита — НИУ ВШЭ, Пётр — НИЯУ МИФИ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 </a:t>
            </a:r>
            <a:r>
              <a:rPr lang="ru-RU" b="0" dirty="0">
                <a:solidFill>
                  <a:schemeClr val="tx1"/>
                </a:solidFill>
              </a:rPr>
              <a:t>Москва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Контакты: </a:t>
            </a:r>
            <a:r>
              <a:rPr lang="ru-RU" b="0" dirty="0">
                <a:solidFill>
                  <a:schemeClr val="tx1"/>
                </a:solidFill>
              </a:rPr>
              <a:t>Telegram @nigo57 (Никита), @NikyStor (Пётр)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 anchor="b" wrap="square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accent5"/>
                </a:solidFill>
              </a:rPr>
              <a:t>Переговорка</a:t>
            </a:r>
            <a:endParaRPr lang="ru-RU" sz="2400" b="1" dirty="0">
              <a:solidFill>
                <a:schemeClr val="accent5"/>
              </a:solidFill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16002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Тренажёр для тех, у кого переговоры — работа: закупки, продажи, найм. Руководитель настраивает встречу под задачу отдела и даёт команде ссылку. Сотрудник договаривается с персонажем голосом, а после встречи видит разбор: что сработало и что осталось на столе.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8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 wrap="square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КОМАНДА «БИ 2 БИ»</a:t>
            </a:r>
            <a:endParaRPr lang="ru-RU" dirty="0"/>
          </a:p>
        </p:txBody>
      </p:sp>
      <p:sp>
        <p:nvSpPr>
          <p:cNvPr id="19" name="Rounded Rectangle 18"/>
          <p:cNvSpPr/>
          <p:nvPr/>
        </p:nvSpPr>
        <p:spPr>
          <a:xfrm>
            <a:off x="2336800" y="1473200"/>
            <a:ext cx="3556000" cy="4826000"/>
          </a:xfrm>
          <a:prstGeom prst="roundRect">
            <a:avLst>
              <a:gd name="adj" fmla="val 607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team_nikit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9200" y="1625600"/>
            <a:ext cx="3251200" cy="31051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540000" y="4870450"/>
            <a:ext cx="31496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lang="ru-RU">
                <a:solidFill>
                  <a:srgbClr val="310F53"/>
                </a:solidFill>
                <a:latin typeface="Montserrat"/>
              </a:rPr>
              <a:t>Никита Голубев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0000" y="5187950"/>
            <a:ext cx="31496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lang="ru-RU">
                <a:solidFill>
                  <a:srgbClr val="FF0053"/>
                </a:solidFill>
                <a:latin typeface="Montserrat"/>
              </a:rPr>
              <a:t>Капитан, продукт и геймдизайн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40000" y="5416550"/>
            <a:ext cx="31496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lang="ru-RU">
                <a:solidFill>
                  <a:srgbClr val="310F53"/>
                </a:solidFill>
                <a:latin typeface="Montserrat"/>
              </a:rPr>
              <a:t>Голосовые и языковые нейросети, пиксель-арт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0000" y="5822950"/>
            <a:ext cx="31496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lang="ru-RU">
                <a:solidFill>
                  <a:srgbClr val="8A7F99"/>
                </a:solidFill>
                <a:latin typeface="Montserrat"/>
              </a:rPr>
              <a:t>Telegram   </a:t>
            </a:r>
            <a:r>
              <a:rPr sz="1200" b="1" lang="ru-RU">
                <a:solidFill>
                  <a:srgbClr val="310F53"/>
                </a:solidFill>
                <a:latin typeface="Montserrat"/>
              </a:rPr>
              <a:t>@nigo57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40000" y="6026150"/>
            <a:ext cx="31496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lang="ru-RU">
                <a:solidFill>
                  <a:srgbClr val="8A7F99"/>
                </a:solidFill>
                <a:latin typeface="Montserrat"/>
              </a:rPr>
              <a:t>Учёба   </a:t>
            </a:r>
            <a:r>
              <a:rPr sz="1200" b="1" lang="ru-RU">
                <a:solidFill>
                  <a:srgbClr val="310F53"/>
                </a:solidFill>
                <a:latin typeface="Montserrat"/>
              </a:rPr>
              <a:t>НИУ ВШЭ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99200" y="1473200"/>
            <a:ext cx="3556000" cy="4826000"/>
          </a:xfrm>
          <a:prstGeom prst="roundRect">
            <a:avLst>
              <a:gd name="adj" fmla="val 607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team_pet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1600" y="1625600"/>
            <a:ext cx="3251200" cy="31051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502400" y="4870450"/>
            <a:ext cx="31496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lang="ru-RU">
                <a:solidFill>
                  <a:srgbClr val="310F53"/>
                </a:solidFill>
                <a:latin typeface="Montserrat"/>
              </a:rPr>
              <a:t>Пётр Александров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2400" y="5187950"/>
            <a:ext cx="31496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lang="ru-RU">
                <a:solidFill>
                  <a:srgbClr val="FF0053"/>
                </a:solidFill>
                <a:latin typeface="Montserrat"/>
              </a:rPr>
              <a:t>Бэкенд и инфраструктура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2400" y="5416550"/>
            <a:ext cx="31496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lang="ru-RU">
                <a:solidFill>
                  <a:srgbClr val="310F53"/>
                </a:solidFill>
                <a:latin typeface="Montserrat"/>
              </a:rPr>
              <a:t>Сервер, движок, развёртывание и всё, что под капотом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2400" y="5822950"/>
            <a:ext cx="31496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lang="ru-RU">
                <a:solidFill>
                  <a:srgbClr val="8A7F99"/>
                </a:solidFill>
                <a:latin typeface="Montserrat"/>
              </a:rPr>
              <a:t>Telegram   </a:t>
            </a:r>
            <a:r>
              <a:rPr sz="1200" b="1" lang="ru-RU">
                <a:solidFill>
                  <a:srgbClr val="310F53"/>
                </a:solidFill>
                <a:latin typeface="Montserrat"/>
              </a:rPr>
              <a:t>@NikyStor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02400" y="6026150"/>
            <a:ext cx="31496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lang="ru-RU">
                <a:solidFill>
                  <a:srgbClr val="8A7F99"/>
                </a:solidFill>
                <a:latin typeface="Montserrat"/>
              </a:rPr>
              <a:t>Учёба   </a:t>
            </a:r>
            <a:r>
              <a:rPr sz="1200" b="1" lang="ru-RU">
                <a:solidFill>
                  <a:srgbClr val="310F53"/>
                </a:solidFill>
                <a:latin typeface="Montserrat"/>
              </a:rPr>
              <a:t>НИЯУ МИФИ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 wrap="square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ИСТОРИЯ КОМАНДЫ</a:t>
            </a:r>
            <a:endParaRPr lang="ru-RU" dirty="0"/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10241280" cy="1097280"/>
          </a:xfrm>
        </p:spPr>
        <p:txBody>
          <a:bodyPr wrap="square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Мы старые друзья, оба давно в разработке. Никита много работал с языковыми и голосовыми нейросетями — моделями, которые слушают и говорят, — и рисует пиксель-арт. Пётр — бэкенд-разработчик: сервер, движок, вся инфраструктура. За отбор собрали игру, к финалу довели живой голос, кабинет руководителя, 30 приёмов из пяти книг и 10 дел.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8928"/>
            <a:ext cx="10241280" cy="11887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Модели плохо торгуются: якорятся на первой цифре и делят пополам. Поэтому решения и счёт мы отдали движку, а нейросети оставили разметку и речь. Голос ускорили: первые слова говорит быстрая модель ещё в паузе — ≈ 2 с от конца фразы до голоса ответа (было 6,6 с). Чтобы не зависеть от одного сервиса, у каждого звена есть запасной путь.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01568"/>
            <a:ext cx="10241280" cy="960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Переговорам учат лекциями, а учатся на ошибках, и ошибаться лучше в игре, чем с живым поставщиком. Зацепила цифра: половина участников учебных переговоров не замечает, что другой стороне нужно то же самое (Thompson &amp; Hrebec, 1996).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11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 anchor="t" wrap="square">
            <a:noAutofit/>
          </a:bodyPr>
          <a:lstStyle/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ru-RU" sz="1400" dirty="0">
                <a:solidFill>
                  <a:schemeClr val="tx1"/>
                </a:solidFill>
              </a:rPr>
              <a:t>Веб-игра на React и three.js, сервер на Node 22. Открывается по ссылке, на ноутбуке и телефоне.</a:t>
            </a:r>
          </a:p>
          <a:p>
            <a:pPr marL="201168" indent="-201168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ru-RU" sz="1400" dirty="0">
                <a:solidFill>
                  <a:schemeClr val="tx1"/>
                </a:solidFill>
              </a:rPr>
              <a:t>Живой голос: ElevenLabs и распознавание Scribe. ≈ 2 с от конца фразы до голоса ответа — медиана живых ходов на проде.</a:t>
            </a:r>
          </a:p>
          <a:p>
            <a:pPr marL="201168" indent="-201168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ru-RU" sz="1400" dirty="0">
                <a:solidFill>
                  <a:schemeClr val="tx1"/>
                </a:solidFill>
              </a:rPr>
              <a:t>Разметку и реплики пишет Claude, а ход и счёт считает движок без случайностей: те же слова — тот же итог.</a:t>
            </a:r>
          </a:p>
          <a:p>
            <a:pPr marL="201168" indent="-201168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ru-RU" sz="1400" dirty="0">
                <a:solidFill>
                  <a:schemeClr val="tx1"/>
                </a:solidFill>
              </a:rPr>
              <a:t>Базовая комплектация, с которой всё начиналось, — российский контур YandexGPT 5.1 Pro и SpeechKit, включается одной настройкой. Больше 6700 автотестов.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 anchor="t" wrap="square">
            <a:noAutofit/>
          </a:bodyPr>
          <a:lstStyle/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ru-RU" sz="1400" dirty="0">
                <a:solidFill>
                  <a:schemeClr val="tx1"/>
                </a:solidFill>
              </a:rPr>
              <a:t>Играют сотрудники, у которых переговоры — работа: закупщики, продажники, рекрутеры резидентов ОЭЗ. Новичкам — сюжет «Новенький».</a:t>
            </a:r>
          </a:p>
          <a:p>
            <a:pPr marL="201168" indent="-201168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ru-RU" sz="1400" dirty="0">
                <a:solidFill>
                  <a:schemeClr val="tx1"/>
                </a:solidFill>
              </a:rPr>
              <a:t>Платят руководитель отдела, HR или L&amp;D. В кабинете руководителя — дело под задачу, ссылка команде и доска.</a:t>
            </a:r>
          </a:p>
          <a:p>
            <a:pPr marL="201168" indent="-201168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ru-RU" sz="1400" dirty="0">
                <a:solidFill>
                  <a:schemeClr val="tx1"/>
                </a:solidFill>
              </a:rPr>
              <a:t>Пилот бесплатный: отдел до 30 человек, 4 недели, на доске виден рост от первой попытки к последней.</a:t>
            </a:r>
          </a:p>
          <a:p>
            <a:pPr marL="201168" indent="-201168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1"/>
              </a:buClr>
              <a:buFont typeface="Wingdings" pitchFamily="2" charset="2"/>
              <a:buChar char="§"/>
            </a:pPr>
            <a:r>
              <a:rPr lang="ru-RU" sz="1400" dirty="0">
                <a:solidFill>
                  <a:schemeClr val="tx1"/>
                </a:solidFill>
              </a:rPr>
              <a:t>Дальше 590 ₽ за место в месяц (оценка) или установка на сервер компании.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 wrap="square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  <a:endParaRPr lang="ru-RU" sz="20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4770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lang="ru-RU">
                <a:solidFill>
                  <a:srgbClr val="A8B5B2"/>
                </a:solidFill>
                <a:latin typeface="Pixeloid Sans"/>
              </a:rPr>
              <a:t>Переговорка · «Би 2 Би» · ЛЦТ 2026, кейс №9 ОЭЗ «Алабуга»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77000"/>
            <a:ext cx="63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 lang="ru-RU">
                <a:solidFill>
                  <a:srgbClr val="A8B5B2"/>
                </a:solidFill>
                <a:latin typeface="Pixeloid San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09728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lang="ru-RU">
                <a:solidFill>
                  <a:srgbClr val="E8C170"/>
                </a:solidFill>
                <a:latin typeface="Pixeloid Sans"/>
              </a:rPr>
              <a:t>Люди теряют выгоду, даже когда хотят одного и того же</a:t>
            </a:r>
          </a:p>
        </p:txBody>
      </p:sp>
      <p:sp>
        <p:nvSpPr>
          <p:cNvPr id="6" name="Rectangle 5"/>
          <p:cNvSpPr/>
          <p:nvPr/>
        </p:nvSpPr>
        <p:spPr>
          <a:xfrm>
            <a:off x="584200" y="1892300"/>
            <a:ext cx="4876800" cy="360680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4200" y="1816100"/>
            <a:ext cx="4876800" cy="36068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1841500"/>
            <a:ext cx="4826000" cy="3556000"/>
          </a:xfrm>
          <a:prstGeom prst="rect">
            <a:avLst/>
          </a:prstGeom>
          <a:solidFill>
            <a:srgbClr val="E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06600"/>
            <a:ext cx="43180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200" b="1" lang="ru-RU">
                <a:solidFill>
                  <a:srgbClr val="3C5E8B"/>
                </a:solidFill>
                <a:latin typeface="Pixeloid Sans"/>
              </a:rPr>
              <a:t>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84500"/>
            <a:ext cx="4318000" cy="158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900" b="0" lang="ru-RU">
                <a:solidFill>
                  <a:srgbClr val="10141F"/>
                </a:solidFill>
                <a:latin typeface="Pixeloid Sans"/>
              </a:rPr>
              <a:t>участников учебных переговоров не замечают, что по какому-то пункту хотят того же, что и другая сторона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89500"/>
            <a:ext cx="43180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0" lang="ru-RU">
                <a:solidFill>
                  <a:srgbClr val="394A50"/>
                </a:solidFill>
                <a:latin typeface="Pixeloid Sans"/>
              </a:rPr>
              <a:t>Thompson &amp; Hrebec, 1996: метаанализ 32 исследований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6600" y="1892300"/>
            <a:ext cx="5791200" cy="360680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16600" y="1816100"/>
            <a:ext cx="5791200" cy="36068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42000" y="1841500"/>
            <a:ext cx="5740400" cy="3556000"/>
          </a:xfrm>
          <a:prstGeom prst="rect">
            <a:avLst/>
          </a:prstGeom>
          <a:solidFill>
            <a:srgbClr val="E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6800" y="2019300"/>
            <a:ext cx="5130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lang="ru-RU">
                <a:solidFill>
                  <a:srgbClr val="394A50"/>
                </a:solidFill>
                <a:latin typeface="Pixeloid Sans"/>
              </a:rPr>
              <a:t>Как это выглядит в игре</a:t>
            </a:r>
          </a:p>
        </p:txBody>
      </p:sp>
      <p:pic>
        <p:nvPicPr>
          <p:cNvPr id="16" name="Picture 15" descr="face_rin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800" y="2476500"/>
            <a:ext cx="1016000" cy="1016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66000" y="2438400"/>
            <a:ext cx="39116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800" b="0" lang="ru-RU">
                <a:solidFill>
                  <a:srgbClr val="10141F"/>
                </a:solidFill>
                <a:latin typeface="Pixeloid Sans"/>
              </a:rPr>
              <a:t>Вам нужна поставка раз в неделю: склад тары маленький. Марату тоже: его склад забит.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6800" y="3810000"/>
            <a:ext cx="5130800" cy="146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800" b="0" lang="ru-RU">
                <a:solidFill>
                  <a:srgbClr val="25562E"/>
                </a:solidFill>
                <a:latin typeface="Pixeloid Sans"/>
              </a:rPr>
              <a:t>Кто не спросил, торгуется за цену и уступает зря. Кто спросил «что для вас главное?», получает и цену, и удобный график.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5651500"/>
            <a:ext cx="109728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900" b="0" lang="ru-RU">
                <a:solidFill>
                  <a:srgbClr val="EBEDE9"/>
                </a:solidFill>
                <a:latin typeface="Pixeloid Sans"/>
              </a:rPr>
              <a:t>Учит этому только практика: сейчас это тренинг за 43 000 ₽ на человека или ошибка на живой сделке.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4770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lang="ru-RU">
                <a:solidFill>
                  <a:srgbClr val="A8B5B2"/>
                </a:solidFill>
                <a:latin typeface="Pixeloid Sans"/>
              </a:rPr>
              <a:t>Переговорка · «Би 2 Би» · ЛЦТ 2026, кейс №9 ОЭЗ «Алабуга»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77000"/>
            <a:ext cx="63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 lang="ru-RU">
                <a:solidFill>
                  <a:srgbClr val="A8B5B2"/>
                </a:solidFill>
                <a:latin typeface="Pixeloid San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09728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lang="ru-RU">
                <a:solidFill>
                  <a:srgbClr val="E8C170"/>
                </a:solidFill>
                <a:latin typeface="Pixeloid Sans"/>
              </a:rPr>
              <a:t>Для кого: сотрудники, у которых переговоры — работа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84200" y="1765300"/>
            <a:ext cx="3505200" cy="411480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4200" y="1689100"/>
            <a:ext cx="3505200" cy="41148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1714500"/>
            <a:ext cx="3454400" cy="4064000"/>
          </a:xfrm>
          <a:prstGeom prst="rect">
            <a:avLst/>
          </a:prstGeom>
          <a:solidFill>
            <a:srgbClr val="E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1854200"/>
            <a:ext cx="2984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lang="ru-RU">
                <a:solidFill>
                  <a:srgbClr val="394A50"/>
                </a:solidFill>
                <a:latin typeface="Pixeloid Sans"/>
              </a:rPr>
              <a:t>Кто играет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9150" y="2203450"/>
            <a:ext cx="647700" cy="6477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ace_bu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22500"/>
            <a:ext cx="609600" cy="6096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504950" y="2203450"/>
            <a:ext cx="647700" cy="6477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ace_sa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2222500"/>
            <a:ext cx="609600" cy="6096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190750" y="2203450"/>
            <a:ext cx="647700" cy="6477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ace_h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2222500"/>
            <a:ext cx="609600" cy="609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8200" y="2959100"/>
            <a:ext cx="2997200" cy="1206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400" b="1" lang="ru-RU">
                <a:solidFill>
                  <a:srgbClr val="3C5E8B"/>
                </a:solidFill>
                <a:latin typeface="Pixeloid Sans"/>
              </a:rPr>
              <a:t>Закупщик, продажник, рекрутер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191000"/>
            <a:ext cx="29972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600" b="0" lang="ru-RU">
                <a:solidFill>
                  <a:srgbClr val="10141F"/>
                </a:solidFill>
                <a:latin typeface="Pixeloid Sans"/>
              </a:rPr>
              <a:t>резидента ОЭЗ. Новичкам Алабуги — сюжет «Новенький» про первую неделю.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1765300"/>
            <a:ext cx="3505200" cy="411480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689100"/>
            <a:ext cx="3505200" cy="41148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68800" y="1714500"/>
            <a:ext cx="3454400" cy="4064000"/>
          </a:xfrm>
          <a:prstGeom prst="rect">
            <a:avLst/>
          </a:prstGeom>
          <a:solidFill>
            <a:srgbClr val="E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7400" y="1854200"/>
            <a:ext cx="2984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lang="ru-RU">
                <a:solidFill>
                  <a:srgbClr val="394A50"/>
                </a:solidFill>
                <a:latin typeface="Pixeloid Sans"/>
              </a:rPr>
              <a:t>Кто платит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8350" y="2203450"/>
            <a:ext cx="647700" cy="6477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face_direct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7400" y="2222500"/>
            <a:ext cx="609600" cy="609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5264150" y="2203450"/>
            <a:ext cx="647700" cy="6477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face_cf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3200" y="2222500"/>
            <a:ext cx="609600" cy="6096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5949950" y="2203450"/>
            <a:ext cx="647700" cy="6477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face_offici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9000" y="2222500"/>
            <a:ext cx="609600" cy="6096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597400" y="2959100"/>
            <a:ext cx="2997200" cy="1206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400" b="1" lang="ru-RU">
                <a:solidFill>
                  <a:srgbClr val="3C5E8B"/>
                </a:solidFill>
                <a:latin typeface="Pixeloid Sans"/>
              </a:rPr>
              <a:t>Руководитель, HR, L&amp;D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7400" y="4191000"/>
            <a:ext cx="29972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600" b="0" lang="ru-RU">
                <a:solidFill>
                  <a:srgbClr val="10141F"/>
                </a:solidFill>
                <a:latin typeface="Pixeloid Sans"/>
              </a:rPr>
              <a:t>настраивает встречу под задачу отдела, даёт команде одну ссылку и видит всех на доске.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02600" y="1765300"/>
            <a:ext cx="3505200" cy="411480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02600" y="1689100"/>
            <a:ext cx="3505200" cy="41148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28000" y="1714500"/>
            <a:ext cx="3454400" cy="4064000"/>
          </a:xfrm>
          <a:prstGeom prst="rect">
            <a:avLst/>
          </a:prstGeom>
          <a:solidFill>
            <a:srgbClr val="E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56600" y="1854200"/>
            <a:ext cx="2984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lang="ru-RU">
                <a:solidFill>
                  <a:srgbClr val="394A50"/>
                </a:solidFill>
                <a:latin typeface="Pixeloid Sans"/>
              </a:rPr>
              <a:t>Что получают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37550" y="2203450"/>
            <a:ext cx="647700" cy="6477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face_rina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6600" y="2222500"/>
            <a:ext cx="609600" cy="60960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9023350" y="2203450"/>
            <a:ext cx="647700" cy="6477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face_emr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2400" y="2222500"/>
            <a:ext cx="609600" cy="60960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9709150" y="2203450"/>
            <a:ext cx="647700" cy="6477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face_lago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28200" y="2222500"/>
            <a:ext cx="609600" cy="6096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356600" y="2959100"/>
            <a:ext cx="2997200" cy="1206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400" b="1" lang="ru-RU">
                <a:solidFill>
                  <a:srgbClr val="3C5E8B"/>
                </a:solidFill>
                <a:latin typeface="Pixeloid Sans"/>
              </a:rPr>
              <a:t>Практику до живой сделки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56600" y="4191000"/>
            <a:ext cx="29972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600" b="0" lang="ru-RU">
                <a:solidFill>
                  <a:srgbClr val="10141F"/>
                </a:solidFill>
                <a:latin typeface="Pixeloid Sans"/>
              </a:rPr>
              <a:t>ошибиться в игре дешевле, чем с поставщиком: сколько угодно попыток голосом и разбор каждой.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5969000"/>
            <a:ext cx="109728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1" lang="ru-RU">
                <a:solidFill>
                  <a:srgbClr val="E8C170"/>
                </a:solidFill>
                <a:latin typeface="Pixeloid Sans"/>
              </a:rPr>
              <a:t>Первый шаг — пилот в одном отделе резидента: закупки или продажи.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4770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lang="ru-RU">
                <a:solidFill>
                  <a:srgbClr val="A8B5B2"/>
                </a:solidFill>
                <a:latin typeface="Pixeloid Sans"/>
              </a:rPr>
              <a:t>Переговорка · «Би 2 Би» · ЛЦТ 2026, кейс №9 ОЭЗ «Алабуга»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77000"/>
            <a:ext cx="63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 lang="ru-RU">
                <a:solidFill>
                  <a:srgbClr val="A8B5B2"/>
                </a:solidFill>
                <a:latin typeface="Pixeloid Sans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09728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lang="ru-RU">
                <a:solidFill>
                  <a:srgbClr val="E8C170"/>
                </a:solidFill>
                <a:latin typeface="Pixeloid Sans"/>
              </a:rPr>
              <a:t>Чем лучше лекции и тренинга: практики больше, мерка одна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84200" y="1714500"/>
            <a:ext cx="11023600" cy="424180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4200" y="1638300"/>
            <a:ext cx="11023600" cy="42418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1663700"/>
            <a:ext cx="10972800" cy="4191000"/>
          </a:xfrm>
          <a:prstGeom prst="rect">
            <a:avLst/>
          </a:prstGeom>
          <a:solidFill>
            <a:srgbClr val="E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0" y="1663700"/>
            <a:ext cx="3352800" cy="4191000"/>
          </a:xfrm>
          <a:prstGeom prst="rect">
            <a:avLst/>
          </a:prstGeom>
          <a:solidFill>
            <a:srgbClr val="E3E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2500" y="1778000"/>
            <a:ext cx="18415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lang="ru-RU">
                <a:solidFill>
                  <a:srgbClr val="394A50"/>
                </a:solidFill>
                <a:latin typeface="Pixeloid Sans"/>
              </a:rPr>
              <a:t>Лекция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0" y="1778000"/>
            <a:ext cx="25400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lang="ru-RU">
                <a:solidFill>
                  <a:srgbClr val="394A50"/>
                </a:solidFill>
                <a:latin typeface="Pixeloid Sans"/>
              </a:rPr>
              <a:t>Тренинг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0" y="17780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lang="ru-RU">
                <a:solidFill>
                  <a:srgbClr val="25562E"/>
                </a:solidFill>
                <a:latin typeface="Pixeloid Sans"/>
              </a:rPr>
              <a:t>Переговорка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2197100"/>
            <a:ext cx="10668000" cy="19050"/>
          </a:xfrm>
          <a:prstGeom prst="rect">
            <a:avLst/>
          </a:prstGeom>
          <a:solidFill>
            <a:srgbClr val="C7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2260600"/>
            <a:ext cx="24765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 lang="ru-RU">
                <a:solidFill>
                  <a:srgbClr val="3C5E8B"/>
                </a:solidFill>
                <a:latin typeface="Pixeloid Sans"/>
              </a:rPr>
              <a:t>Практика голосом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2500" y="2260600"/>
            <a:ext cx="18415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lang="ru-RU">
                <a:solidFill>
                  <a:srgbClr val="394A50"/>
                </a:solidFill>
                <a:latin typeface="Pixeloid Sans"/>
              </a:rPr>
              <a:t>нет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88000" y="2260600"/>
            <a:ext cx="2540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lang="ru-RU">
                <a:solidFill>
                  <a:srgbClr val="394A50"/>
                </a:solidFill>
                <a:latin typeface="Pixeloid Sans"/>
              </a:rPr>
              <a:t>ролевки в группе, пока идёт тренинг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0" y="2260600"/>
            <a:ext cx="30988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1" lang="ru-RU">
                <a:solidFill>
                  <a:srgbClr val="25562E"/>
                </a:solidFill>
                <a:latin typeface="Pixeloid Sans"/>
              </a:rPr>
              <a:t>сколько угодно, когда удобно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2000" y="2908300"/>
            <a:ext cx="10668000" cy="19050"/>
          </a:xfrm>
          <a:prstGeom prst="rect">
            <a:avLst/>
          </a:prstGeom>
          <a:solidFill>
            <a:srgbClr val="C7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000" y="2971800"/>
            <a:ext cx="24765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 lang="ru-RU">
                <a:solidFill>
                  <a:srgbClr val="3C5E8B"/>
                </a:solidFill>
                <a:latin typeface="Pixeloid Sans"/>
              </a:rPr>
              <a:t>Разбор ваших слов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2500" y="2971800"/>
            <a:ext cx="18415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lang="ru-RU">
                <a:solidFill>
                  <a:srgbClr val="394A50"/>
                </a:solidFill>
                <a:latin typeface="Pixeloid Sans"/>
              </a:rPr>
              <a:t>нет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88000" y="2971800"/>
            <a:ext cx="2540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lang="ru-RU">
                <a:solidFill>
                  <a:srgbClr val="394A50"/>
                </a:solidFill>
                <a:latin typeface="Pixeloid Sans"/>
              </a:rPr>
              <a:t>устно, от тренера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0" y="2971800"/>
            <a:ext cx="30988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1" lang="ru-RU">
                <a:solidFill>
                  <a:srgbClr val="25562E"/>
                </a:solidFill>
                <a:latin typeface="Pixeloid Sans"/>
              </a:rPr>
              <a:t>после каждой встречи, с цитатами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2000" y="3619500"/>
            <a:ext cx="10668000" cy="19050"/>
          </a:xfrm>
          <a:prstGeom prst="rect">
            <a:avLst/>
          </a:prstGeom>
          <a:solidFill>
            <a:srgbClr val="C7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000" y="3683000"/>
            <a:ext cx="24765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 lang="ru-RU">
                <a:solidFill>
                  <a:srgbClr val="3C5E8B"/>
                </a:solidFill>
                <a:latin typeface="Pixeloid Sans"/>
              </a:rPr>
              <a:t>Переиграть ошибку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92500" y="3683000"/>
            <a:ext cx="18415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lang="ru-RU">
                <a:solidFill>
                  <a:srgbClr val="394A50"/>
                </a:solidFill>
                <a:latin typeface="Pixeloid Sans"/>
              </a:rPr>
              <a:t>нет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88000" y="3683000"/>
            <a:ext cx="2540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lang="ru-RU">
                <a:solidFill>
                  <a:srgbClr val="394A50"/>
                </a:solidFill>
                <a:latin typeface="Pixeloid Sans"/>
              </a:rPr>
              <a:t>редко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0" y="3683000"/>
            <a:ext cx="30988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1" lang="ru-RU">
                <a:solidFill>
                  <a:srgbClr val="25562E"/>
                </a:solidFill>
                <a:latin typeface="Pixeloid Sans"/>
              </a:rPr>
              <a:t>с любого хода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2000" y="4330700"/>
            <a:ext cx="10668000" cy="19050"/>
          </a:xfrm>
          <a:prstGeom prst="rect">
            <a:avLst/>
          </a:prstGeom>
          <a:solidFill>
            <a:srgbClr val="C7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000" y="4394200"/>
            <a:ext cx="24765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 lang="ru-RU">
                <a:solidFill>
                  <a:srgbClr val="3C5E8B"/>
                </a:solidFill>
                <a:latin typeface="Pixeloid Sans"/>
              </a:rPr>
              <a:t>Одна мерка для команды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92500" y="4394200"/>
            <a:ext cx="18415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lang="ru-RU">
                <a:solidFill>
                  <a:srgbClr val="394A50"/>
                </a:solidFill>
                <a:latin typeface="Pixeloid Sans"/>
              </a:rPr>
              <a:t>нет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88000" y="4394200"/>
            <a:ext cx="2540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lang="ru-RU">
                <a:solidFill>
                  <a:srgbClr val="394A50"/>
                </a:solidFill>
                <a:latin typeface="Pixeloid Sans"/>
              </a:rPr>
              <a:t>нет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0" y="4394200"/>
            <a:ext cx="30988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1" lang="ru-RU">
                <a:solidFill>
                  <a:srgbClr val="25562E"/>
                </a:solidFill>
                <a:latin typeface="Pixeloid Sans"/>
              </a:rPr>
              <a:t>доска руководителя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2000" y="5041900"/>
            <a:ext cx="10668000" cy="19050"/>
          </a:xfrm>
          <a:prstGeom prst="rect">
            <a:avLst/>
          </a:prstGeom>
          <a:solidFill>
            <a:srgbClr val="C7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2000" y="5105400"/>
            <a:ext cx="24765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1" lang="ru-RU">
                <a:solidFill>
                  <a:srgbClr val="3C5E8B"/>
                </a:solidFill>
                <a:latin typeface="Pixeloid Sans"/>
              </a:rPr>
              <a:t>Цена на человека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92500" y="5105400"/>
            <a:ext cx="18415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lang="ru-RU">
                <a:solidFill>
                  <a:srgbClr val="394A50"/>
                </a:solidFill>
                <a:latin typeface="Pixeloid Sans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88000" y="5105400"/>
            <a:ext cx="2540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lang="ru-RU">
                <a:solidFill>
                  <a:srgbClr val="394A50"/>
                </a:solidFill>
                <a:latin typeface="Pixeloid Sans"/>
              </a:rPr>
              <a:t>43 000 ₽ за два дня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0" y="5105400"/>
            <a:ext cx="30988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1" lang="ru-RU">
                <a:solidFill>
                  <a:srgbClr val="25562E"/>
                </a:solidFill>
                <a:latin typeface="Pixeloid Sans"/>
              </a:rPr>
              <a:t>590 ₽ в месяц (оценка)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5994400"/>
            <a:ext cx="109728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lang="ru-RU">
                <a:solidFill>
                  <a:srgbClr val="A8B5B2"/>
                </a:solidFill>
                <a:latin typeface="Pixeloid Sans"/>
              </a:rPr>
              <a:t>Тренинг даёт теорию и живого тренера, мы — практику до и после него.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4770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lang="ru-RU">
                <a:solidFill>
                  <a:srgbClr val="A8B5B2"/>
                </a:solidFill>
                <a:latin typeface="Pixeloid Sans"/>
              </a:rPr>
              <a:t>Переговорка · «Би 2 Би» · ЛЦТ 2026, кейс №9 ОЭЗ «Алабуга»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77000"/>
            <a:ext cx="63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 lang="ru-RU">
                <a:solidFill>
                  <a:srgbClr val="A8B5B2"/>
                </a:solidFill>
                <a:latin typeface="Pixeloid Sans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09728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lang="ru-RU">
                <a:solidFill>
                  <a:srgbClr val="E8C170"/>
                </a:solidFill>
                <a:latin typeface="Pixeloid Sans"/>
              </a:rPr>
              <a:t>Один круг: руководитель настроил, команда сыграла, рост виден на доске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803400"/>
            <a:ext cx="3098800" cy="176530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4200" y="1752600"/>
            <a:ext cx="3098800" cy="17653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c-step2-preview-ta-1f409bff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78000"/>
            <a:ext cx="3048000" cy="17145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378200" y="1574800"/>
            <a:ext cx="381000" cy="51435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03600" y="1600200"/>
            <a:ext cx="330200" cy="46355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3600" y="1600200"/>
            <a:ext cx="330200" cy="412750"/>
          </a:xfrm>
          <a:prstGeom prst="rect">
            <a:avLst/>
          </a:prstGeom>
          <a:solidFill>
            <a:srgbClr val="DE9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3600" y="1600200"/>
            <a:ext cx="330200" cy="412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lang="ru-RU">
                <a:solidFill>
                  <a:srgbClr val="10141F"/>
                </a:solidFill>
                <a:latin typeface="Pixeloid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35400" y="1778000"/>
            <a:ext cx="21082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lang="ru-RU">
                <a:solidFill>
                  <a:srgbClr val="E8C170"/>
                </a:solidFill>
                <a:latin typeface="Pixeloid Sans"/>
              </a:rPr>
              <a:t>Руководитель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5400" y="2146300"/>
            <a:ext cx="2108200" cy="146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500" b="0" lang="ru-RU">
                <a:solidFill>
                  <a:srgbClr val="EBEDE9"/>
                </a:solidFill>
                <a:latin typeface="Pixeloid Sans"/>
              </a:rPr>
              <a:t>выбирает или собирает дело, проверяет встречу, даёт ссылку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400" y="1803400"/>
            <a:ext cx="3098800" cy="176530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3000" y="1752600"/>
            <a:ext cx="3098800" cy="17653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8-meeting-d02dc204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778000"/>
            <a:ext cx="3048000" cy="17145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9017000" y="1574800"/>
            <a:ext cx="381000" cy="51435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42400" y="1600200"/>
            <a:ext cx="330200" cy="46355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42400" y="1600200"/>
            <a:ext cx="330200" cy="412750"/>
          </a:xfrm>
          <a:prstGeom prst="rect">
            <a:avLst/>
          </a:prstGeom>
          <a:solidFill>
            <a:srgbClr val="DE9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42400" y="1600200"/>
            <a:ext cx="330200" cy="412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lang="ru-RU">
                <a:solidFill>
                  <a:srgbClr val="10141F"/>
                </a:solidFill>
                <a:latin typeface="Pixeloid Sa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4200" y="1778000"/>
            <a:ext cx="21082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lang="ru-RU">
                <a:solidFill>
                  <a:srgbClr val="E8C170"/>
                </a:solidFill>
                <a:latin typeface="Pixeloid Sans"/>
              </a:rPr>
              <a:t>Сотрудник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74200" y="2146300"/>
            <a:ext cx="2108200" cy="146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500" b="0" lang="ru-RU">
                <a:solidFill>
                  <a:srgbClr val="EBEDE9"/>
                </a:solidFill>
                <a:latin typeface="Pixeloid Sans"/>
              </a:rPr>
              <a:t>договаривается голосом, подсказка на полях после каждой реплики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3898900"/>
            <a:ext cx="3098800" cy="176530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4200" y="3848100"/>
            <a:ext cx="3098800" cy="17653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9-debrief-48eced3c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873500"/>
            <a:ext cx="3048000" cy="171450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3378200" y="3670300"/>
            <a:ext cx="381000" cy="51435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03600" y="3695700"/>
            <a:ext cx="330200" cy="46355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03600" y="3695700"/>
            <a:ext cx="330200" cy="412750"/>
          </a:xfrm>
          <a:prstGeom prst="rect">
            <a:avLst/>
          </a:prstGeom>
          <a:solidFill>
            <a:srgbClr val="DE9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03600" y="3695700"/>
            <a:ext cx="330200" cy="412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lang="ru-RU">
                <a:solidFill>
                  <a:srgbClr val="10141F"/>
                </a:solidFill>
                <a:latin typeface="Pixeloid San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35400" y="3873500"/>
            <a:ext cx="21082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lang="ru-RU">
                <a:solidFill>
                  <a:srgbClr val="E8C170"/>
                </a:solidFill>
                <a:latin typeface="Pixeloid Sans"/>
              </a:rPr>
              <a:t>Разбор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35400" y="4241800"/>
            <a:ext cx="2108200" cy="146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500" b="0" lang="ru-RU">
                <a:solidFill>
                  <a:srgbClr val="EBEDE9"/>
                </a:solidFill>
                <a:latin typeface="Pixeloid Sans"/>
              </a:rPr>
              <a:t>что сработало, что осталось на столе, как сказать лучше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48400" y="3898900"/>
            <a:ext cx="3098800" cy="176530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23000" y="3848100"/>
            <a:ext cx="3098800" cy="17653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10-board-9548c12bb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3873500"/>
            <a:ext cx="3048000" cy="171450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9017000" y="3670300"/>
            <a:ext cx="381000" cy="51435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42400" y="3695700"/>
            <a:ext cx="330200" cy="46355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42400" y="3695700"/>
            <a:ext cx="330200" cy="412750"/>
          </a:xfrm>
          <a:prstGeom prst="rect">
            <a:avLst/>
          </a:prstGeom>
          <a:solidFill>
            <a:srgbClr val="DE9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42400" y="3695700"/>
            <a:ext cx="330200" cy="412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lang="ru-RU">
                <a:solidFill>
                  <a:srgbClr val="10141F"/>
                </a:solidFill>
                <a:latin typeface="Pixeloid San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74200" y="3873500"/>
            <a:ext cx="21082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lang="ru-RU">
                <a:solidFill>
                  <a:srgbClr val="E8C170"/>
                </a:solidFill>
                <a:latin typeface="Pixeloid Sans"/>
              </a:rPr>
              <a:t>Доска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74200" y="4241800"/>
            <a:ext cx="2108200" cy="146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500" b="0" lang="ru-RU">
                <a:solidFill>
                  <a:srgbClr val="EBEDE9"/>
                </a:solidFill>
                <a:latin typeface="Pixeloid Sans"/>
              </a:rPr>
              <a:t>вся команда: кто играл, кто растёт, кому нужна помощь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5943600"/>
            <a:ext cx="109728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lang="ru-RU">
                <a:solidFill>
                  <a:srgbClr val="A8B5B2"/>
                </a:solidFill>
                <a:latin typeface="Pixeloid Sans"/>
              </a:rPr>
              <a:t>Кадры с прода 20.10: одна тренировка «Тара к запуску» от кабинета до доски.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4770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lang="ru-RU">
                <a:solidFill>
                  <a:srgbClr val="A8B5B2"/>
                </a:solidFill>
                <a:latin typeface="Pixeloid Sans"/>
              </a:rPr>
              <a:t>Переговорка · «Би 2 Би» · ЛЦТ 2026, кейс №9 ОЭЗ «Алабуга»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77000"/>
            <a:ext cx="63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 lang="ru-RU">
                <a:solidFill>
                  <a:srgbClr val="A8B5B2"/>
                </a:solidFill>
                <a:latin typeface="Pixeloid San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09728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lang="ru-RU">
                <a:solidFill>
                  <a:srgbClr val="E8C170"/>
                </a:solidFill>
                <a:latin typeface="Pixeloid Sans"/>
              </a:rPr>
              <a:t>Вокруг встречи — целый мир: неделя в Алабуге и 10 дел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758950"/>
            <a:ext cx="6464300" cy="407670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4200" y="1708150"/>
            <a:ext cx="6464300" cy="40767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p-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33550"/>
            <a:ext cx="6413500" cy="40259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277100" y="1689100"/>
            <a:ext cx="863600" cy="8636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ce_sos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1714500"/>
            <a:ext cx="812800" cy="812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12000" y="2578100"/>
            <a:ext cx="11938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50" b="1" lang="ru-RU">
                <a:solidFill>
                  <a:srgbClr val="EBEDE9"/>
                </a:solidFill>
                <a:latin typeface="Pixeloid Sans"/>
              </a:rPr>
              <a:t>Тимур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43900" y="1689100"/>
            <a:ext cx="863600" cy="8636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ace_gopni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9300" y="1714500"/>
            <a:ext cx="812800" cy="812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78800" y="2578100"/>
            <a:ext cx="11938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50" b="1" lang="ru-RU">
                <a:solidFill>
                  <a:srgbClr val="EBEDE9"/>
                </a:solidFill>
                <a:latin typeface="Pixeloid Sans"/>
              </a:rPr>
              <a:t>Серый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0700" y="1689100"/>
            <a:ext cx="863600" cy="8636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ace_rin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6100" y="1714500"/>
            <a:ext cx="812800" cy="812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45600" y="2578100"/>
            <a:ext cx="11938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50" b="1" lang="ru-RU">
                <a:solidFill>
                  <a:srgbClr val="EBEDE9"/>
                </a:solidFill>
                <a:latin typeface="Pixeloid Sans"/>
              </a:rPr>
              <a:t>Марат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77500" y="1689100"/>
            <a:ext cx="863600" cy="8636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ace_adm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02900" y="1714500"/>
            <a:ext cx="812800" cy="812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312400" y="2578100"/>
            <a:ext cx="11938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50" b="1" lang="ru-RU">
                <a:solidFill>
                  <a:srgbClr val="EBEDE9"/>
                </a:solidFill>
                <a:latin typeface="Pixeloid Sans"/>
              </a:rPr>
              <a:t>Лариса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77100" y="3098800"/>
            <a:ext cx="863600" cy="8636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ace_olg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02500" y="3124200"/>
            <a:ext cx="812800" cy="812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112000" y="3987800"/>
            <a:ext cx="11938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50" b="1" lang="ru-RU">
                <a:solidFill>
                  <a:srgbClr val="EBEDE9"/>
                </a:solidFill>
                <a:latin typeface="Pixeloid Sans"/>
              </a:rPr>
              <a:t>Дарина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43900" y="3098800"/>
            <a:ext cx="863600" cy="8636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face_buy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9300" y="3124200"/>
            <a:ext cx="812800" cy="812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178800" y="3987800"/>
            <a:ext cx="11938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50" b="1" lang="ru-RU">
                <a:solidFill>
                  <a:srgbClr val="EBEDE9"/>
                </a:solidFill>
                <a:latin typeface="Pixeloid Sans"/>
              </a:rPr>
              <a:t>Роза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10700" y="3098800"/>
            <a:ext cx="863600" cy="8636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face_palych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36100" y="3124200"/>
            <a:ext cx="812800" cy="812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245600" y="3987800"/>
            <a:ext cx="11938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50" b="1" lang="ru-RU">
                <a:solidFill>
                  <a:srgbClr val="EBEDE9"/>
                </a:solidFill>
                <a:latin typeface="Pixeloid Sans"/>
              </a:rPr>
              <a:t>Палыч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477500" y="3098800"/>
            <a:ext cx="863600" cy="8636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face_emr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02900" y="3124200"/>
            <a:ext cx="812800" cy="812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312400" y="3987800"/>
            <a:ext cx="11938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50" b="1" lang="ru-RU">
                <a:solidFill>
                  <a:srgbClr val="EBEDE9"/>
                </a:solidFill>
                <a:latin typeface="Pixeloid Sans"/>
              </a:rPr>
              <a:t>Эмре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43900" y="4508500"/>
            <a:ext cx="863600" cy="8636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ace_lago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69300" y="4533900"/>
            <a:ext cx="812800" cy="8128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178800" y="5397500"/>
            <a:ext cx="11938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50" b="1" lang="ru-RU">
                <a:solidFill>
                  <a:srgbClr val="EBEDE9"/>
                </a:solidFill>
                <a:latin typeface="Pixeloid Sans"/>
              </a:rPr>
              <a:t>Адебайо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10700" y="4508500"/>
            <a:ext cx="863600" cy="8636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face_chin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36100" y="4533900"/>
            <a:ext cx="812800" cy="812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245600" y="5397500"/>
            <a:ext cx="11938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50" b="1" lang="ru-RU">
                <a:solidFill>
                  <a:srgbClr val="EBEDE9"/>
                </a:solidFill>
                <a:latin typeface="Pixeloid Sans"/>
              </a:rPr>
              <a:t>Ли Вэй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5969000"/>
            <a:ext cx="10972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1" lang="ru-RU">
                <a:solidFill>
                  <a:srgbClr val="E8C170"/>
                </a:solidFill>
                <a:latin typeface="Pixeloid Sans"/>
              </a:rPr>
              <a:t>10 дел и своё · жёсткие версии · 8 катсцен · 31 лицо, 14 деловых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4770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lang="ru-RU">
                <a:solidFill>
                  <a:srgbClr val="A8B5B2"/>
                </a:solidFill>
                <a:latin typeface="Pixeloid Sans"/>
              </a:rPr>
              <a:t>Переговорка · «Би 2 Би» · ЛЦТ 2026, кейс №9 ОЭЗ «Алабуга»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77000"/>
            <a:ext cx="63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 lang="ru-RU">
                <a:solidFill>
                  <a:srgbClr val="A8B5B2"/>
                </a:solidFill>
                <a:latin typeface="Pixeloid Sans"/>
              </a:rPr>
              <a:t>11</a:t>
            </a:r>
          </a:p>
        </p:txBody>
      </p:sp>
      <p:pic>
        <p:nvPicPr>
          <p:cNvPr id="5" name="Picture 4" descr="meet-margin-46264dbb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791200"/>
            <a:ext cx="12192000" cy="1066800"/>
          </a:xfrm>
          <a:prstGeom prst="rect">
            <a:avLst/>
          </a:prstGeom>
          <a:solidFill>
            <a:srgbClr val="10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4200" y="6007100"/>
            <a:ext cx="2552700" cy="57785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6032500"/>
            <a:ext cx="2501900" cy="52705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6032500"/>
            <a:ext cx="2501900" cy="476250"/>
          </a:xfrm>
          <a:prstGeom prst="rect">
            <a:avLst/>
          </a:prstGeom>
          <a:solidFill>
            <a:srgbClr val="DE9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6032500"/>
            <a:ext cx="2501900" cy="4762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b="1" lang="ru-RU">
                <a:solidFill>
                  <a:srgbClr val="10141F"/>
                </a:solidFill>
                <a:latin typeface="Pixeloid Sans"/>
              </a:rPr>
              <a:t>Живое демо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6300" y="5905500"/>
            <a:ext cx="8166100" cy="698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lang="ru-RU">
                <a:solidFill>
                  <a:srgbClr val="E8C170"/>
                </a:solidFill>
                <a:latin typeface="Pixeloid Sans"/>
              </a:rPr>
              <a:t>arena-peregovorov.ru</a:t>
            </a:r>
            <a:r>
              <a:rPr sz="1800" b="0" lang="ru-RU">
                <a:solidFill>
                  <a:srgbClr val="EBEDE9"/>
                </a:solidFill>
                <a:latin typeface="Pixeloid Sans"/>
              </a:rPr>
              <a:t>  ·  «Администратор» → дело → встреча → разбор → доска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4770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lang="ru-RU">
                <a:solidFill>
                  <a:srgbClr val="A8B5B2"/>
                </a:solidFill>
                <a:latin typeface="Pixeloid Sans"/>
              </a:rPr>
              <a:t>Переговорка · «Би 2 Би» · ЛЦТ 2026, кейс №9 ОЭЗ «Алабуга»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77000"/>
            <a:ext cx="63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 lang="ru-RU">
                <a:solidFill>
                  <a:srgbClr val="A8B5B2"/>
                </a:solidFill>
                <a:latin typeface="Pixeloid San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09728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lang="ru-RU">
                <a:solidFill>
                  <a:srgbClr val="E8C170"/>
                </a:solidFill>
                <a:latin typeface="Pixeloid Sans"/>
              </a:rPr>
              <a:t>Кабинет руководителя: дело под задачу отдела за три шага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866900"/>
            <a:ext cx="3556000" cy="233680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4200" y="1816100"/>
            <a:ext cx="3556000" cy="23368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a-step1-top-54a1e596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841500"/>
            <a:ext cx="3505200" cy="2286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35400" y="1638300"/>
            <a:ext cx="381000" cy="51435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60800" y="1663700"/>
            <a:ext cx="330200" cy="46355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60800" y="1663700"/>
            <a:ext cx="330200" cy="412750"/>
          </a:xfrm>
          <a:prstGeom prst="rect">
            <a:avLst/>
          </a:prstGeom>
          <a:solidFill>
            <a:srgbClr val="DE9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60800" y="1663700"/>
            <a:ext cx="330200" cy="412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lang="ru-RU">
                <a:solidFill>
                  <a:srgbClr val="10141F"/>
                </a:solidFill>
                <a:latin typeface="Pixeloid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318000"/>
            <a:ext cx="35052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1" lang="ru-RU">
                <a:solidFill>
                  <a:srgbClr val="E8C170"/>
                </a:solidFill>
                <a:latin typeface="Pixeloid Sans"/>
              </a:rPr>
              <a:t>Дело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673600"/>
            <a:ext cx="35052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lang="ru-RU">
                <a:solidFill>
                  <a:srgbClr val="EBEDE9"/>
                </a:solidFill>
                <a:latin typeface="Pixeloid Sans"/>
              </a:rPr>
              <a:t>5 шаблонов HR или своё описание: сфера, тема, роли, характер, сложность, что потренировать, своя история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866900"/>
            <a:ext cx="3556000" cy="233680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8000" y="1816100"/>
            <a:ext cx="3556000" cy="23368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4-step2-preview-69a358ab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841500"/>
            <a:ext cx="3505200" cy="22860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569200" y="1638300"/>
            <a:ext cx="381000" cy="51435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94600" y="1663700"/>
            <a:ext cx="330200" cy="46355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94600" y="1663700"/>
            <a:ext cx="330200" cy="412750"/>
          </a:xfrm>
          <a:prstGeom prst="rect">
            <a:avLst/>
          </a:prstGeom>
          <a:solidFill>
            <a:srgbClr val="DE9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94600" y="1663700"/>
            <a:ext cx="330200" cy="412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lang="ru-RU">
                <a:solidFill>
                  <a:srgbClr val="10141F"/>
                </a:solidFill>
                <a:latin typeface="Pixeloid Sa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318000"/>
            <a:ext cx="35052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1" lang="ru-RU">
                <a:solidFill>
                  <a:srgbClr val="E8C170"/>
                </a:solidFill>
                <a:latin typeface="Pixeloid Sans"/>
              </a:rPr>
              <a:t>Проверьте встречу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673600"/>
            <a:ext cx="35052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lang="ru-RU">
                <a:solidFill>
                  <a:srgbClr val="EBEDE9"/>
                </a:solidFill>
                <a:latin typeface="Pixeloid Sans"/>
              </a:rPr>
              <a:t>нейросеть пишет дело, движок проверяет сделку. Лицо и место подобраны по описанию, можно сменить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77200" y="1866900"/>
            <a:ext cx="3556000" cy="233680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51800" y="1816100"/>
            <a:ext cx="3556000" cy="23368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7-step3-link-e2c1b7465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1841500"/>
            <a:ext cx="3505200" cy="228600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11303000" y="1638300"/>
            <a:ext cx="381000" cy="51435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328400" y="1663700"/>
            <a:ext cx="330200" cy="46355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328400" y="1663700"/>
            <a:ext cx="330200" cy="412750"/>
          </a:xfrm>
          <a:prstGeom prst="rect">
            <a:avLst/>
          </a:prstGeom>
          <a:solidFill>
            <a:srgbClr val="DE9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28400" y="1663700"/>
            <a:ext cx="330200" cy="412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lang="ru-RU">
                <a:solidFill>
                  <a:srgbClr val="10141F"/>
                </a:solidFill>
                <a:latin typeface="Pixeloid San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77200" y="4318000"/>
            <a:ext cx="35052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1" lang="ru-RU">
                <a:solidFill>
                  <a:srgbClr val="E8C170"/>
                </a:solidFill>
                <a:latin typeface="Pixeloid Sans"/>
              </a:rPr>
              <a:t>Ссылка команде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77200" y="4673600"/>
            <a:ext cx="35052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lang="ru-RU">
                <a:solidFill>
                  <a:srgbClr val="EBEDE9"/>
                </a:solidFill>
                <a:latin typeface="Pixeloid Sans"/>
              </a:rPr>
              <a:t>одна ссылка для всех и личная доска руководителя с результатами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5753100"/>
            <a:ext cx="109728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1" lang="ru-RU">
                <a:solidFill>
                  <a:srgbClr val="E8C170"/>
                </a:solidFill>
                <a:latin typeface="Pixeloid Sans"/>
              </a:rPr>
              <a:t>Это интерфейс администратора из ТЗ: </a:t>
            </a:r>
            <a:r>
              <a:rPr sz="1400" b="0" lang="ru-RU">
                <a:solidFill>
                  <a:srgbClr val="EBEDE9"/>
                </a:solidFill>
                <a:latin typeface="Pixeloid Sans"/>
              </a:rPr>
              <a:t>настройка встречи и проверка результатов. Вход — кнопка «Администратор» на титуле. </a:t>
            </a:r>
            <a:r>
              <a:rPr sz="1400" b="0" lang="ru-RU">
                <a:solidFill>
                  <a:srgbClr val="A8B5B2"/>
                </a:solidFill>
                <a:latin typeface="Pixeloid Sans"/>
              </a:rPr>
              <a:t>Сборка дела — 5–20 с по нашим замерам, в худшем случае до двух минут.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n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4770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lang="ru-RU">
                <a:solidFill>
                  <a:srgbClr val="A8B5B2"/>
                </a:solidFill>
                <a:latin typeface="Pixeloid Sans"/>
              </a:rPr>
              <a:t>Переговорка · «Би 2 Би» · ЛЦТ 2026, кейс №9 ОЭЗ «Алабуга»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77000"/>
            <a:ext cx="63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 lang="ru-RU">
                <a:solidFill>
                  <a:srgbClr val="A8B5B2"/>
                </a:solidFill>
                <a:latin typeface="Pixeloid San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09728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lang="ru-RU">
                <a:solidFill>
                  <a:srgbClr val="E8C170"/>
                </a:solidFill>
                <a:latin typeface="Pixeloid Sans"/>
              </a:rPr>
              <a:t>Нейросеть говорит, а решает движок</a:t>
            </a:r>
          </a:p>
        </p:txBody>
      </p:sp>
      <p:sp>
        <p:nvSpPr>
          <p:cNvPr id="6" name="Rectangle 5"/>
          <p:cNvSpPr/>
          <p:nvPr/>
        </p:nvSpPr>
        <p:spPr>
          <a:xfrm>
            <a:off x="584200" y="1816100"/>
            <a:ext cx="2209800" cy="2844800"/>
          </a:xfrm>
          <a:prstGeom prst="rect">
            <a:avLst/>
          </a:prstGeom>
          <a:solidFill>
            <a:srgbClr val="10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841500"/>
            <a:ext cx="2159000" cy="2794000"/>
          </a:xfrm>
          <a:prstGeom prst="rect">
            <a:avLst/>
          </a:prstGeom>
          <a:solidFill>
            <a:srgbClr val="17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7400" y="2019300"/>
            <a:ext cx="1803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lang="ru-RU">
                <a:solidFill>
                  <a:srgbClr val="E8C170"/>
                </a:solidFill>
                <a:latin typeface="Pixeloid Sans"/>
              </a:rPr>
              <a:t>Игрок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7400" y="2349500"/>
            <a:ext cx="18034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0" lang="ru-RU">
                <a:solidFill>
                  <a:srgbClr val="A8B5B2"/>
                </a:solidFill>
                <a:latin typeface="Pixeloid Sans"/>
              </a:rPr>
              <a:t>голосом или текстом</a:t>
            </a:r>
          </a:p>
        </p:txBody>
      </p:sp>
      <p:pic>
        <p:nvPicPr>
          <p:cNvPr id="10" name="Picture 9" descr="meet-table-d02be57b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" y="2984500"/>
            <a:ext cx="1905000" cy="149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68600" y="2921000"/>
            <a:ext cx="270933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200" b="1" lang="ru-RU">
                <a:solidFill>
                  <a:srgbClr val="E8C170"/>
                </a:solidFill>
                <a:latin typeface="Pixeloid Sans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4133" y="1892300"/>
            <a:ext cx="2717800" cy="284480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14133" y="1816100"/>
            <a:ext cx="2717800" cy="28448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39533" y="1841500"/>
            <a:ext cx="2667000" cy="2794000"/>
          </a:xfrm>
          <a:prstGeom prst="rect">
            <a:avLst/>
          </a:prstGeom>
          <a:solidFill>
            <a:srgbClr val="E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39533" y="1841500"/>
            <a:ext cx="2667000" cy="533400"/>
          </a:xfrm>
          <a:prstGeom prst="rect">
            <a:avLst/>
          </a:prstGeom>
          <a:solidFill>
            <a:srgbClr val="C7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2733" y="1841500"/>
            <a:ext cx="22606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ru-RU">
                <a:solidFill>
                  <a:srgbClr val="10141F"/>
                </a:solidFill>
                <a:latin typeface="Pixeloid Sans"/>
              </a:rPr>
              <a:t>1. Разметка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2733" y="2527300"/>
            <a:ext cx="22606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0" lang="ru-RU">
                <a:solidFill>
                  <a:srgbClr val="10141F"/>
                </a:solidFill>
                <a:latin typeface="Pixeloid Sans"/>
              </a:rPr>
              <a:t>Claude ищет в реплике приёмы. Без цитаты приём не засчитан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06533" y="2921000"/>
            <a:ext cx="270933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200" b="1" lang="ru-RU">
                <a:solidFill>
                  <a:srgbClr val="E8C170"/>
                </a:solidFill>
                <a:latin typeface="Pixeloid Sans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52067" y="1892300"/>
            <a:ext cx="2717800" cy="284480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52067" y="1816100"/>
            <a:ext cx="2717800" cy="28448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77467" y="1841500"/>
            <a:ext cx="2667000" cy="2794000"/>
          </a:xfrm>
          <a:prstGeom prst="rect">
            <a:avLst/>
          </a:prstGeom>
          <a:solidFill>
            <a:srgbClr val="E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77467" y="1841500"/>
            <a:ext cx="2667000" cy="533400"/>
          </a:xfrm>
          <a:prstGeom prst="rect">
            <a:avLst/>
          </a:prstGeom>
          <a:solidFill>
            <a:srgbClr val="DE9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0667" y="1841500"/>
            <a:ext cx="22606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ru-RU">
                <a:solidFill>
                  <a:srgbClr val="10141F"/>
                </a:solidFill>
                <a:latin typeface="Pixeloid Sans"/>
              </a:rPr>
              <a:t>2. Движок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0667" y="2527300"/>
            <a:ext cx="22606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0" lang="ru-RU">
                <a:solidFill>
                  <a:srgbClr val="10141F"/>
                </a:solidFill>
                <a:latin typeface="Pixeloid Sans"/>
              </a:rPr>
              <a:t>по скрытым таблицам обеих сторон решает: уступить, спросить, уйти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4467" y="2921000"/>
            <a:ext cx="270933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200" b="1" lang="ru-RU">
                <a:solidFill>
                  <a:srgbClr val="E8C170"/>
                </a:solidFill>
                <a:latin typeface="Pixeloid Sans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90000" y="1892300"/>
            <a:ext cx="2717800" cy="284480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90000" y="1816100"/>
            <a:ext cx="2717800" cy="28448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15400" y="1841500"/>
            <a:ext cx="2667000" cy="2794000"/>
          </a:xfrm>
          <a:prstGeom prst="rect">
            <a:avLst/>
          </a:prstGeom>
          <a:solidFill>
            <a:srgbClr val="E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15400" y="1841500"/>
            <a:ext cx="2667000" cy="533400"/>
          </a:xfrm>
          <a:prstGeom prst="rect">
            <a:avLst/>
          </a:prstGeom>
          <a:solidFill>
            <a:srgbClr val="C7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18600" y="1841500"/>
            <a:ext cx="22606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ru-RU">
                <a:solidFill>
                  <a:srgbClr val="10141F"/>
                </a:solidFill>
                <a:latin typeface="Pixeloid Sans"/>
              </a:rPr>
              <a:t>3. Ответ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8600" y="2527300"/>
            <a:ext cx="22606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0" lang="ru-RU">
                <a:solidFill>
                  <a:srgbClr val="10141F"/>
                </a:solidFill>
                <a:latin typeface="Pixeloid Sans"/>
              </a:rPr>
              <a:t>Claude говорит решение движка в характере, ElevenLabs озвучивает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" y="5016500"/>
            <a:ext cx="109728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 lang="ru-RU">
                <a:solidFill>
                  <a:srgbClr val="E8C170"/>
                </a:solidFill>
                <a:latin typeface="Pixeloid Sans"/>
              </a:rPr>
              <a:t>Те же ходы — тот же итог.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5486400"/>
            <a:ext cx="109728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lang="ru-RU">
                <a:solidFill>
                  <a:srgbClr val="A8B5B2"/>
                </a:solidFill>
                <a:latin typeface="Pixeloid Sans"/>
              </a:rPr>
              <a:t>Модель не видит таблиц очков и не может «подарить» сделку. Нейросеть недоступна — пишет запасная модель, без сети игра работает на правилах.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4770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lang="ru-RU">
                <a:solidFill>
                  <a:srgbClr val="A8B5B2"/>
                </a:solidFill>
                <a:latin typeface="Pixeloid Sans"/>
              </a:rPr>
              <a:t>Переговорка · «Би 2 Би» · ЛЦТ 2026, кейс №9 ОЭЗ «Алабуга»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77000"/>
            <a:ext cx="63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 lang="ru-RU">
                <a:solidFill>
                  <a:srgbClr val="A8B5B2"/>
                </a:solidFill>
                <a:latin typeface="Pixeloid San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09728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lang="ru-RU">
                <a:solidFill>
                  <a:srgbClr val="E8C170"/>
                </a:solidFill>
                <a:latin typeface="Pixeloid Sans"/>
              </a:rPr>
              <a:t>Разбор можно проверить: тот же разговор даёт тот же счёт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739900"/>
            <a:ext cx="5511800" cy="312420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4200" y="1689100"/>
            <a:ext cx="5511800" cy="31242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et-margin-53f60342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14500"/>
            <a:ext cx="5461000" cy="3073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51600" y="1765300"/>
            <a:ext cx="5156200" cy="95250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51600" y="1689100"/>
            <a:ext cx="5156200" cy="9525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77000" y="1714500"/>
            <a:ext cx="5105400" cy="901700"/>
          </a:xfrm>
          <a:prstGeom prst="rect">
            <a:avLst/>
          </a:prstGeom>
          <a:solidFill>
            <a:srgbClr val="E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80200" y="1752600"/>
            <a:ext cx="46990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 lang="ru-RU">
                <a:solidFill>
                  <a:srgbClr val="3C5E8B"/>
                </a:solidFill>
                <a:latin typeface="Pixeloid Sans"/>
              </a:rPr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80200" y="2120900"/>
            <a:ext cx="4699000" cy="469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lang="ru-RU">
                <a:solidFill>
                  <a:srgbClr val="10141F"/>
                </a:solidFill>
                <a:latin typeface="Pixeloid Sans"/>
              </a:rPr>
              <a:t>приёмов из книг, каждый засчитан по цитате из реплики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51600" y="2781300"/>
            <a:ext cx="5156200" cy="95250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51600" y="2705100"/>
            <a:ext cx="5156200" cy="9525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77000" y="2730500"/>
            <a:ext cx="5105400" cy="901700"/>
          </a:xfrm>
          <a:prstGeom prst="rect">
            <a:avLst/>
          </a:prstGeom>
          <a:solidFill>
            <a:srgbClr val="E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80200" y="2768600"/>
            <a:ext cx="46990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 lang="ru-RU">
                <a:solidFill>
                  <a:srgbClr val="3C5E8B"/>
                </a:solidFill>
                <a:latin typeface="Pixeloid Sans"/>
              </a:rPr>
              <a:t>72 = 72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0200" y="3136900"/>
            <a:ext cx="4699000" cy="469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lang="ru-RU">
                <a:solidFill>
                  <a:srgbClr val="10141F"/>
                </a:solidFill>
                <a:latin typeface="Pixeloid Sans"/>
              </a:rPr>
              <a:t>очка: те же ходы, сказанные другими словами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51600" y="3797300"/>
            <a:ext cx="5156200" cy="95250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51600" y="3721100"/>
            <a:ext cx="5156200" cy="9525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77000" y="3746500"/>
            <a:ext cx="5105400" cy="901700"/>
          </a:xfrm>
          <a:prstGeom prst="rect">
            <a:avLst/>
          </a:prstGeom>
          <a:solidFill>
            <a:srgbClr val="E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80200" y="3784600"/>
            <a:ext cx="46990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 lang="ru-RU">
                <a:solidFill>
                  <a:srgbClr val="3C5E8B"/>
                </a:solidFill>
                <a:latin typeface="Pixeloid Sans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80200" y="4152900"/>
            <a:ext cx="4699000" cy="469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lang="ru-RU">
                <a:solidFill>
                  <a:srgbClr val="10141F"/>
                </a:solidFill>
                <a:latin typeface="Pixeloid Sans"/>
              </a:rPr>
              <a:t>ошибок сторон сделки в 18 вариантах дел после аудита: было от 9 до 74 на дело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51600" y="4813300"/>
            <a:ext cx="5156200" cy="95250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51600" y="4737100"/>
            <a:ext cx="5156200" cy="9525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77000" y="4762500"/>
            <a:ext cx="5105400" cy="901700"/>
          </a:xfrm>
          <a:prstGeom prst="rect">
            <a:avLst/>
          </a:prstGeom>
          <a:solidFill>
            <a:srgbClr val="E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80200" y="4800600"/>
            <a:ext cx="46990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 lang="ru-RU">
                <a:solidFill>
                  <a:srgbClr val="3C5E8B"/>
                </a:solidFill>
                <a:latin typeface="Pixeloid Sans"/>
              </a:rPr>
              <a:t>6700+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80200" y="5168900"/>
            <a:ext cx="4699000" cy="469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lang="ru-RU">
                <a:solidFill>
                  <a:srgbClr val="10141F"/>
                </a:solidFill>
                <a:latin typeface="Pixeloid Sans"/>
              </a:rPr>
              <a:t>автотестов, все зелёные, и ещё 18 сценариев в браузере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5016500"/>
            <a:ext cx="5461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lang="ru-RU">
                <a:solidFill>
                  <a:srgbClr val="A8B5B2"/>
                </a:solidFill>
                <a:latin typeface="Pixeloid Sans"/>
              </a:rPr>
              <a:t>Слева разбор хода на полях: какой приём, по какой цитате, что изменилось.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5842000"/>
            <a:ext cx="109728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 lang="ru-RU">
                <a:solidFill>
                  <a:srgbClr val="E8C170"/>
                </a:solidFill>
                <a:latin typeface="Pixeloid Sans"/>
              </a:rPr>
              <a:t>Граница: </a:t>
            </a:r>
            <a:r>
              <a:rPr sz="1500" b="0" lang="ru-RU">
                <a:solidFill>
                  <a:srgbClr val="EBEDE9"/>
                </a:solidFill>
                <a:latin typeface="Pixeloid Sans"/>
              </a:rPr>
              <a:t>тренажёр для обучения, для аттестации он не годится. Приёмы размечает нейросеть, а веса очков — игровой баланс по методике из книг.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4770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lang="ru-RU">
                <a:solidFill>
                  <a:srgbClr val="A8B5B2"/>
                </a:solidFill>
                <a:latin typeface="Pixeloid Sans"/>
              </a:rPr>
              <a:t>Переговорка · «Би 2 Би» · ЛЦТ 2026, кейс №9 ОЭЗ «Алабуга»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77000"/>
            <a:ext cx="63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 lang="ru-RU">
                <a:solidFill>
                  <a:srgbClr val="A8B5B2"/>
                </a:solidFill>
                <a:latin typeface="Pixeloid San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09728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lang="ru-RU">
                <a:solidFill>
                  <a:srgbClr val="E8C170"/>
                </a:solidFill>
                <a:latin typeface="Pixeloid Sans"/>
              </a:rPr>
              <a:t>Методика из пяти книг: у каждого приёма — книга и глава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84200" y="1765300"/>
            <a:ext cx="5257800" cy="360680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4200" y="1689100"/>
            <a:ext cx="5257800" cy="36068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1714500"/>
            <a:ext cx="5207000" cy="3556000"/>
          </a:xfrm>
          <a:prstGeom prst="rect">
            <a:avLst/>
          </a:prstGeom>
          <a:solidFill>
            <a:srgbClr val="E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3600" y="1841500"/>
            <a:ext cx="4699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lang="ru-RU">
                <a:solidFill>
                  <a:srgbClr val="3C5E8B"/>
                </a:solidFill>
                <a:latin typeface="Pixeloid Sans"/>
              </a:rPr>
              <a:t>Фишер, Юри, Паттон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3600" y="2108200"/>
            <a:ext cx="4699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lang="ru-RU">
                <a:solidFill>
                  <a:srgbClr val="10141F"/>
                </a:solidFill>
                <a:latin typeface="Pixeloid Sans"/>
              </a:rPr>
              <a:t>«Переговоры без поражения»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3600" y="2463800"/>
            <a:ext cx="4699000" cy="25400"/>
          </a:xfrm>
          <a:prstGeom prst="rect">
            <a:avLst/>
          </a:prstGeom>
          <a:solidFill>
            <a:srgbClr val="C7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3600" y="2527300"/>
            <a:ext cx="4699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lang="ru-RU">
                <a:solidFill>
                  <a:srgbClr val="3C5E8B"/>
                </a:solidFill>
                <a:latin typeface="Pixeloid Sans"/>
              </a:rPr>
              <a:t>Юри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600" y="2794000"/>
            <a:ext cx="4699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lang="ru-RU">
                <a:solidFill>
                  <a:srgbClr val="10141F"/>
                </a:solidFill>
                <a:latin typeface="Pixeloid Sans"/>
              </a:rPr>
              <a:t>«Преодолевая «нет»»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3600" y="3149600"/>
            <a:ext cx="4699000" cy="25400"/>
          </a:xfrm>
          <a:prstGeom prst="rect">
            <a:avLst/>
          </a:prstGeom>
          <a:solidFill>
            <a:srgbClr val="C7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3600" y="3213100"/>
            <a:ext cx="4699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lang="ru-RU">
                <a:solidFill>
                  <a:srgbClr val="3C5E8B"/>
                </a:solidFill>
                <a:latin typeface="Pixeloid Sans"/>
              </a:rPr>
              <a:t>Восс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600" y="3479800"/>
            <a:ext cx="4699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lang="ru-RU">
                <a:solidFill>
                  <a:srgbClr val="10141F"/>
                </a:solidFill>
                <a:latin typeface="Pixeloid Sans"/>
              </a:rPr>
              <a:t>«Никаких компромиссов»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3600" y="3835400"/>
            <a:ext cx="4699000" cy="25400"/>
          </a:xfrm>
          <a:prstGeom prst="rect">
            <a:avLst/>
          </a:prstGeom>
          <a:solidFill>
            <a:srgbClr val="C7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3600" y="3898900"/>
            <a:ext cx="4699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lang="ru-RU">
                <a:solidFill>
                  <a:srgbClr val="3C5E8B"/>
                </a:solidFill>
                <a:latin typeface="Pixeloid Sans"/>
              </a:rPr>
              <a:t>Рэкхем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600" y="4165600"/>
            <a:ext cx="4699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lang="ru-RU">
                <a:solidFill>
                  <a:srgbClr val="10141F"/>
                </a:solidFill>
                <a:latin typeface="Pixeloid Sans"/>
              </a:rPr>
              <a:t>«СПИН-продажи»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3600" y="4521200"/>
            <a:ext cx="4699000" cy="25400"/>
          </a:xfrm>
          <a:prstGeom prst="rect">
            <a:avLst/>
          </a:prstGeom>
          <a:solidFill>
            <a:srgbClr val="C7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3600" y="4584700"/>
            <a:ext cx="4699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lang="ru-RU">
                <a:solidFill>
                  <a:srgbClr val="3C5E8B"/>
                </a:solidFill>
                <a:latin typeface="Pixeloid Sans"/>
              </a:rPr>
              <a:t>Стоун, Паттон, Хин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600" y="4851400"/>
            <a:ext cx="4699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lang="ru-RU">
                <a:solidFill>
                  <a:srgbClr val="10141F"/>
                </a:solidFill>
                <a:latin typeface="Pixeloid Sans"/>
              </a:rPr>
              <a:t>«Неудобные разговоры»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23000" y="1739900"/>
            <a:ext cx="5410200" cy="306705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7600" y="1689100"/>
            <a:ext cx="5410200" cy="306705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library-voss-29f3a2008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1714500"/>
            <a:ext cx="5359400" cy="30162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223000" y="4889500"/>
            <a:ext cx="53594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500" b="1" lang="ru-RU">
                <a:solidFill>
                  <a:srgbClr val="E8C170"/>
                </a:solidFill>
                <a:latin typeface="Pixeloid Sans"/>
              </a:rPr>
              <a:t>30 приёмов, 8 новых: </a:t>
            </a:r>
            <a:r>
              <a:rPr sz="1500" b="0" lang="ru-RU">
                <a:solidFill>
                  <a:srgbClr val="EBEDE9"/>
                </a:solidFill>
                <a:latin typeface="Pixeloid Sans"/>
              </a:rPr>
              <a:t>зеркало, вопрос «как?», анализ обвинений, вопрос под «нет», золотой мост, я-сообщение, пауза и ошибка «давление сроком».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5461000"/>
            <a:ext cx="5207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lang="ru-RU">
                <a:solidFill>
                  <a:srgbClr val="A8B5B2"/>
                </a:solidFill>
                <a:latin typeface="Pixeloid Sans"/>
              </a:rPr>
              <a:t>Экран «Библиотека приёмов»: книги, их приёмы и примеры из наших дел.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6032500"/>
            <a:ext cx="10972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 lang="ru-RU">
                <a:solidFill>
                  <a:srgbClr val="A8B5B2"/>
                </a:solidFill>
                <a:latin typeface="Pixeloid Sans"/>
              </a:rPr>
              <a:t>В разборе — блок «Приёмы из книг», на полях — подпись книги и главы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4770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lang="ru-RU">
                <a:solidFill>
                  <a:srgbClr val="A8B5B2"/>
                </a:solidFill>
                <a:latin typeface="Pixeloid Sans"/>
              </a:rPr>
              <a:t>Переговорка · «Би 2 Би» · ЛЦТ 2026, кейс №9 ОЭЗ «Алабуга»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77000"/>
            <a:ext cx="63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 lang="ru-RU">
                <a:solidFill>
                  <a:srgbClr val="A8B5B2"/>
                </a:solidFill>
                <a:latin typeface="Pixeloid Sans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09728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lang="ru-RU">
                <a:solidFill>
                  <a:srgbClr val="E8C170"/>
                </a:solidFill>
                <a:latin typeface="Pixeloid Sans"/>
              </a:rPr>
              <a:t>Разговор как с живым человеком: голос в ответ через 2 секунды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930400"/>
            <a:ext cx="5765800" cy="326390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4200" y="1879600"/>
            <a:ext cx="5765800" cy="32639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c-dorm-a41eceb9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905000"/>
            <a:ext cx="5715000" cy="3213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67500" y="1841500"/>
            <a:ext cx="2032000" cy="76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400" b="1" lang="ru-RU">
                <a:solidFill>
                  <a:srgbClr val="E8C170"/>
                </a:solidFill>
                <a:latin typeface="Pixeloid Sans"/>
              </a:rPr>
              <a:t>≈ 2 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0" y="1841500"/>
            <a:ext cx="2819400" cy="76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0" lang="ru-RU">
                <a:solidFill>
                  <a:srgbClr val="EBEDE9"/>
                </a:solidFill>
                <a:latin typeface="Pixeloid Sans"/>
              </a:rPr>
              <a:t>от конца фразы до голоса ответа: медиана живых ходов на проде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0" y="2698750"/>
            <a:ext cx="2032000" cy="76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400" b="1" lang="ru-RU">
                <a:solidFill>
                  <a:srgbClr val="A8B5B2"/>
                </a:solidFill>
                <a:latin typeface="Pixeloid Sans"/>
              </a:rPr>
              <a:t>6,6 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0" y="2698750"/>
            <a:ext cx="2819400" cy="76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0" lang="ru-RU">
                <a:solidFill>
                  <a:srgbClr val="EBEDE9"/>
                </a:solidFill>
                <a:latin typeface="Pixeloid Sans"/>
              </a:rPr>
              <a:t>было утром 18 октября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0" y="3556000"/>
            <a:ext cx="2032000" cy="76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400" b="1" lang="ru-RU">
                <a:solidFill>
                  <a:srgbClr val="E8C170"/>
                </a:solidFill>
                <a:latin typeface="Pixeloid Sans"/>
              </a:rPr>
              <a:t>0,45 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0" y="3556000"/>
            <a:ext cx="2819400" cy="76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0" lang="ru-RU">
                <a:solidFill>
                  <a:srgbClr val="EBEDE9"/>
                </a:solidFill>
                <a:latin typeface="Pixeloid Sans"/>
              </a:rPr>
              <a:t>тишины хватает: ход начинает готовиться, пока вы молчите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1000" y="4572000"/>
            <a:ext cx="4851400" cy="1206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lang="ru-RU">
                <a:solidFill>
                  <a:srgbClr val="A8B5B2"/>
                </a:solidFill>
                <a:latin typeface="Pixeloid Sans"/>
              </a:rPr>
              <a:t>Первые слова отвечает быстрая модель ещё в паузе, умная модель продолжает — решения всё равно принимает движок. Голос не пришёл — говорит Yandex SpeechKit.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032500"/>
            <a:ext cx="10972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 lang="ru-RU">
                <a:solidFill>
                  <a:srgbClr val="A8B5B2"/>
                </a:solidFill>
                <a:latin typeface="Pixeloid Sans"/>
              </a:rPr>
              <a:t>Замеры на проде, живые ходы: 1,3–2,0 с от конца речи до голоса ответа; утром 18.10 было 6,6 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4770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lang="ru-RU">
                <a:solidFill>
                  <a:srgbClr val="A8B5B2"/>
                </a:solidFill>
                <a:latin typeface="Pixeloid Sans"/>
              </a:rPr>
              <a:t>Переговорка · «Би 2 Би» · ЛЦТ 2026, кейс №9 ОЭЗ «Алабуга»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77000"/>
            <a:ext cx="63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 lang="ru-RU">
                <a:solidFill>
                  <a:srgbClr val="A8B5B2"/>
                </a:solidFill>
                <a:latin typeface="Pixeloid Sans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09728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lang="ru-RU">
                <a:solidFill>
                  <a:srgbClr val="E8C170"/>
                </a:solidFill>
                <a:latin typeface="Pixeloid Sans"/>
              </a:rPr>
              <a:t>Четыре манеры речи уже в игре, язык подключается любой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739900"/>
            <a:ext cx="3098800" cy="176530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4200" y="1689100"/>
            <a:ext cx="3098800" cy="17653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c-tara-c30a7a79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14500"/>
            <a:ext cx="3048000" cy="1714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35400" y="1714500"/>
            <a:ext cx="2108200" cy="1714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sz="1700" b="1" lang="ru-RU">
                <a:solidFill>
                  <a:srgbClr val="E8C170"/>
                </a:solidFill>
                <a:latin typeface="Pixeloid Sans"/>
              </a:rPr>
              <a:t>Русский. </a:t>
            </a:r>
            <a:r>
              <a:rPr sz="1700" b="0" lang="ru-RU">
                <a:solidFill>
                  <a:srgbClr val="EBEDE9"/>
                </a:solidFill>
                <a:latin typeface="Pixeloid Sans"/>
              </a:rPr>
              <a:t>Марат, Тимур, Роза и другие герои Алабуги.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8400" y="1739900"/>
            <a:ext cx="3098800" cy="176530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3000" y="1689100"/>
            <a:ext cx="3098800" cy="17653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oc-istanbul-85818e52d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714500"/>
            <a:ext cx="3048000" cy="1714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474200" y="1714500"/>
            <a:ext cx="2108200" cy="1714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sz="1700" b="1" lang="ru-RU">
                <a:solidFill>
                  <a:srgbClr val="E8C170"/>
                </a:solidFill>
                <a:latin typeface="Pixeloid Sans"/>
              </a:rPr>
              <a:t>Английский с турецким акцентом. </a:t>
            </a:r>
            <a:r>
              <a:rPr sz="1700" b="0" lang="ru-RU">
                <a:solidFill>
                  <a:srgbClr val="EBEDE9"/>
                </a:solidFill>
                <a:latin typeface="Pixeloid Sans"/>
              </a:rPr>
              <a:t>Эмре в Стамбуле.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3771900"/>
            <a:ext cx="3098800" cy="176530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4200" y="3721100"/>
            <a:ext cx="3098800" cy="17653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oc-lagos-4c196e334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746500"/>
            <a:ext cx="3048000" cy="1714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835400" y="3746500"/>
            <a:ext cx="2108200" cy="1714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sz="1700" b="1" lang="ru-RU">
                <a:solidFill>
                  <a:srgbClr val="E8C170"/>
                </a:solidFill>
                <a:latin typeface="Pixeloid Sans"/>
              </a:rPr>
              <a:t>Английский с нигерийским акцентом. </a:t>
            </a:r>
            <a:r>
              <a:rPr sz="1700" b="0" lang="ru-RU">
                <a:solidFill>
                  <a:srgbClr val="EBEDE9"/>
                </a:solidFill>
                <a:latin typeface="Pixeloid Sans"/>
              </a:rPr>
              <a:t>Адебайо в Лагосе.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8400" y="3771900"/>
            <a:ext cx="3098800" cy="176530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3000" y="3721100"/>
            <a:ext cx="3098800" cy="17653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oc-china-24e9d10ae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3746500"/>
            <a:ext cx="3048000" cy="17145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74200" y="3746500"/>
            <a:ext cx="2108200" cy="1714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</a:pPr>
            <a:r>
              <a:rPr sz="1700" b="1" lang="ru-RU">
                <a:solidFill>
                  <a:srgbClr val="E8C170"/>
                </a:solidFill>
                <a:latin typeface="Pixeloid Sans"/>
              </a:rPr>
              <a:t>Русский с китайским акцентом. </a:t>
            </a:r>
            <a:r>
              <a:rPr sz="1700" b="0" lang="ru-RU">
                <a:solidFill>
                  <a:srgbClr val="EBEDE9"/>
                </a:solidFill>
                <a:latin typeface="Pixeloid Sans"/>
              </a:rPr>
              <a:t>Ли Вэй из Шэньчжэня, по видеосвязи.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5905500"/>
            <a:ext cx="109728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lang="ru-RU">
                <a:solidFill>
                  <a:srgbClr val="A8B5B2"/>
                </a:solidFill>
                <a:latin typeface="Pixeloid Sans"/>
              </a:rPr>
              <a:t>Разбор и подсказки всегда по-русски. Чтобы добавить язык, хватит нового сценария.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4770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lang="ru-RU">
                <a:solidFill>
                  <a:srgbClr val="A8B5B2"/>
                </a:solidFill>
                <a:latin typeface="Pixeloid Sans"/>
              </a:rPr>
              <a:t>Переговорка · «Би 2 Би» · ЛЦТ 2026, кейс №9 ОЭЗ «Алабуга»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77000"/>
            <a:ext cx="63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 lang="ru-RU">
                <a:solidFill>
                  <a:srgbClr val="A8B5B2"/>
                </a:solidFill>
                <a:latin typeface="Pixeloid Sans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09728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lang="ru-RU">
                <a:solidFill>
                  <a:srgbClr val="E8C170"/>
                </a:solidFill>
                <a:latin typeface="Pixeloid Sans"/>
              </a:rPr>
              <a:t>Проверили на живых людях: семья и друзья</a:t>
            </a:r>
          </a:p>
        </p:txBody>
      </p:sp>
      <p:sp>
        <p:nvSpPr>
          <p:cNvPr id="6" name="Rectangle 5"/>
          <p:cNvSpPr/>
          <p:nvPr/>
        </p:nvSpPr>
        <p:spPr>
          <a:xfrm>
            <a:off x="584200" y="1714500"/>
            <a:ext cx="5638800" cy="205740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4200" y="1638300"/>
            <a:ext cx="5638800" cy="20574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1663700"/>
            <a:ext cx="5588000" cy="2006600"/>
          </a:xfrm>
          <a:prstGeom prst="rect">
            <a:avLst/>
          </a:prstGeom>
          <a:solidFill>
            <a:srgbClr val="E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1727200"/>
            <a:ext cx="51816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1" lang="ru-RU">
                <a:solidFill>
                  <a:srgbClr val="3C5E8B"/>
                </a:solidFill>
                <a:latin typeface="Pixeloid Sans"/>
              </a:rPr>
              <a:t>19.10 · семья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146300"/>
            <a:ext cx="5181600" cy="149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600" b="0" lang="ru-RU">
                <a:solidFill>
                  <a:srgbClr val="10141F"/>
                </a:solidFill>
                <a:latin typeface="Pixeloid Sans"/>
              </a:rPr>
              <a:t>3 игрока разного возраста, ≈ 130 ходов в 6 делах, голосом и текстом.</a:t>
            </a:r>
          </a:p>
          <a:p>
            <a:pPr algn="l">
              <a:lnSpc>
                <a:spcPct val="106000"/>
              </a:lnSpc>
              <a:spcBef>
                <a:spcPts val="1000"/>
              </a:spcBef>
            </a:pPr>
            <a:r>
              <a:rPr sz="1600" b="0" lang="ru-RU">
                <a:solidFill>
                  <a:srgbClr val="10141F"/>
                </a:solidFill>
                <a:latin typeface="Pixeloid Sans"/>
              </a:rPr>
              <a:t>Исправили 11 мест в репликах и 14 в интерфейсе, появилась обучалка «Как играть».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4200" y="3873500"/>
            <a:ext cx="5638800" cy="205740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4200" y="3797300"/>
            <a:ext cx="5638800" cy="20574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3822700"/>
            <a:ext cx="5588000" cy="2006600"/>
          </a:xfrm>
          <a:prstGeom prst="rect">
            <a:avLst/>
          </a:prstGeom>
          <a:solidFill>
            <a:srgbClr val="E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800" y="3886200"/>
            <a:ext cx="51816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1" lang="ru-RU">
                <a:solidFill>
                  <a:srgbClr val="3C5E8B"/>
                </a:solidFill>
                <a:latin typeface="Pixeloid Sans"/>
              </a:rPr>
              <a:t>20.10 · друзья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0" y="4305300"/>
            <a:ext cx="5181600" cy="149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600" b="0" lang="ru-RU">
                <a:solidFill>
                  <a:srgbClr val="10141F"/>
                </a:solidFill>
                <a:latin typeface="Pixeloid Sans"/>
              </a:rPr>
              <a:t>Одна общая ссылка: 5 устройств, 4 человека играли, 19 ходов.</a:t>
            </a:r>
          </a:p>
          <a:p>
            <a:pPr algn="l">
              <a:lnSpc>
                <a:spcPct val="106000"/>
              </a:lnSpc>
              <a:spcBef>
                <a:spcPts val="1000"/>
              </a:spcBef>
            </a:pPr>
            <a:r>
              <a:rPr sz="1600" b="0" lang="ru-RU">
                <a:solidFill>
                  <a:srgbClr val="10141F"/>
                </a:solidFill>
                <a:latin typeface="Pixeloid Sans"/>
              </a:rPr>
              <a:t>Руководитель видел табло вживую. Ссылка закрывается сама в назначенное время или кнопкой.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1650" y="1739900"/>
            <a:ext cx="4533900" cy="285115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26250" y="1689100"/>
            <a:ext cx="4533900" cy="285115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our-chromium-3d-1440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1650" y="1714500"/>
            <a:ext cx="4483100" cy="28003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04000" y="4699000"/>
            <a:ext cx="49784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600" b="0" lang="ru-RU">
                <a:solidFill>
                  <a:srgbClr val="E8C170"/>
                </a:solidFill>
                <a:latin typeface="Pixeloid Sans"/>
              </a:rPr>
              <a:t>«Интересно, только не сразу въехала, что делать надо». </a:t>
            </a:r>
            <a:r>
              <a:rPr sz="1600" b="0" lang="ru-RU">
                <a:solidFill>
                  <a:srgbClr val="EBEDE9"/>
                </a:solidFill>
                <a:latin typeface="Pixeloid Sans"/>
              </a:rPr>
              <a:t>Ответ — обучалка «Как играть»: 5 шагов с подсветкой настоящих кнопок.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6032500"/>
            <a:ext cx="10972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 lang="ru-RU">
                <a:solidFill>
                  <a:srgbClr val="A8B5B2"/>
                </a:solidFill>
                <a:latin typeface="Pixeloid Sans"/>
              </a:rPr>
              <a:t>Это знакомые люди. Пилот в настоящем отделе предлагаем Алабуге.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4770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lang="ru-RU">
                <a:solidFill>
                  <a:srgbClr val="A8B5B2"/>
                </a:solidFill>
                <a:latin typeface="Pixeloid Sans"/>
              </a:rPr>
              <a:t>Переговорка · «Би 2 Би» · ЛЦТ 2026, кейс №9 ОЭЗ «Алабуга»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77000"/>
            <a:ext cx="63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 lang="ru-RU">
                <a:solidFill>
                  <a:srgbClr val="A8B5B2"/>
                </a:solidFill>
                <a:latin typeface="Pixeloid Sans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09728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lang="ru-RU">
                <a:solidFill>
                  <a:srgbClr val="E8C170"/>
                </a:solidFill>
                <a:latin typeface="Pixeloid Sans"/>
              </a:rPr>
              <a:t>Внедрение в Алабуге: пилот в одном отделе, потом подписка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84200" y="1765300"/>
            <a:ext cx="3505200" cy="335280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4200" y="1689100"/>
            <a:ext cx="3505200" cy="33528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1714500"/>
            <a:ext cx="3454400" cy="3302000"/>
          </a:xfrm>
          <a:prstGeom prst="rect">
            <a:avLst/>
          </a:prstGeom>
          <a:solidFill>
            <a:srgbClr val="E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3600" y="1879600"/>
            <a:ext cx="29845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lang="ru-RU">
                <a:solidFill>
                  <a:srgbClr val="394A50"/>
                </a:solidFill>
                <a:latin typeface="Pixeloid Sans"/>
              </a:rPr>
              <a:t>Пилот, 4 недели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3600" y="2260600"/>
            <a:ext cx="3048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800" b="1" lang="ru-RU">
                <a:solidFill>
                  <a:srgbClr val="25562E"/>
                </a:solidFill>
                <a:latin typeface="Pixeloid Sans"/>
              </a:rPr>
              <a:t>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600" y="3136900"/>
            <a:ext cx="2946400" cy="177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0" lang="ru-RU">
                <a:solidFill>
                  <a:srgbClr val="10141F"/>
                </a:solidFill>
                <a:latin typeface="Pixeloid Sans"/>
              </a:rPr>
              <a:t>отдел резидента до 30 человек. Руководитель собирает дела под свои задачи, команда играет по ссылке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765300"/>
            <a:ext cx="3505200" cy="335280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689100"/>
            <a:ext cx="3505200" cy="33528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8800" y="1714500"/>
            <a:ext cx="3454400" cy="3302000"/>
          </a:xfrm>
          <a:prstGeom prst="rect">
            <a:avLst/>
          </a:prstGeom>
          <a:solidFill>
            <a:srgbClr val="E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2800" y="1879600"/>
            <a:ext cx="29845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lang="ru-RU">
                <a:solidFill>
                  <a:srgbClr val="394A50"/>
                </a:solidFill>
                <a:latin typeface="Pixeloid Sans"/>
              </a:rPr>
              <a:t>Потом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2800" y="2260600"/>
            <a:ext cx="3048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800" b="1" lang="ru-RU">
                <a:solidFill>
                  <a:srgbClr val="3C5E8B"/>
                </a:solidFill>
                <a:latin typeface="Pixeloid Sans"/>
              </a:rPr>
              <a:t>590 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2800" y="3136900"/>
            <a:ext cx="2946400" cy="177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0" lang="ru-RU">
                <a:solidFill>
                  <a:srgbClr val="10141F"/>
                </a:solidFill>
                <a:latin typeface="Pixeloid Sans"/>
              </a:rPr>
              <a:t>за место в месяц: все дела, кабинет и доска. Это наша оценка, уточним по итогам пилота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2600" y="1765300"/>
            <a:ext cx="3505200" cy="335280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2600" y="1689100"/>
            <a:ext cx="3505200" cy="33528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28000" y="1714500"/>
            <a:ext cx="3454400" cy="3302000"/>
          </a:xfrm>
          <a:prstGeom prst="rect">
            <a:avLst/>
          </a:prstGeom>
          <a:solidFill>
            <a:srgbClr val="E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0" y="1879600"/>
            <a:ext cx="29845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lang="ru-RU">
                <a:solidFill>
                  <a:srgbClr val="394A50"/>
                </a:solidFill>
                <a:latin typeface="Pixeloid Sans"/>
              </a:rPr>
              <a:t>Для сравнения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0" y="2260600"/>
            <a:ext cx="3048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800" b="1" lang="ru-RU">
                <a:solidFill>
                  <a:srgbClr val="A53030"/>
                </a:solidFill>
                <a:latin typeface="Pixeloid Sans"/>
              </a:rPr>
              <a:t>43 000 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0" y="3136900"/>
            <a:ext cx="2946400" cy="177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0" lang="ru-RU">
                <a:solidFill>
                  <a:srgbClr val="10141F"/>
                </a:solidFill>
                <a:latin typeface="Pixeloid Sans"/>
              </a:rPr>
              <a:t>двухдневный тренинг на одного — шесть лет подписки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5245100"/>
            <a:ext cx="109728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800" b="1" lang="ru-RU">
                <a:solidFill>
                  <a:srgbClr val="E8C170"/>
                </a:solidFill>
                <a:latin typeface="Pixeloid Sans"/>
              </a:rPr>
              <a:t>Успех пилота: </a:t>
            </a:r>
            <a:r>
              <a:rPr sz="1800" b="0" lang="ru-RU">
                <a:solidFill>
                  <a:srgbClr val="EBEDE9"/>
                </a:solidFill>
                <a:latin typeface="Pixeloid Sans"/>
              </a:rPr>
              <a:t>больше половины отдела сыграли от трёх раз, итог последней попытки выше первой — это видно на доске и в выгрузке CSV. Для Алабуги можно поставить на свой сервер.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4770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lang="ru-RU">
                <a:solidFill>
                  <a:srgbClr val="A8B5B2"/>
                </a:solidFill>
                <a:latin typeface="Pixeloid Sans"/>
              </a:rPr>
              <a:t>Переговорка · «Би 2 Би» · ЛЦТ 2026, кейс №9 ОЭЗ «Алабуга»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77000"/>
            <a:ext cx="63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 lang="ru-RU">
                <a:solidFill>
                  <a:srgbClr val="A8B5B2"/>
                </a:solidFill>
                <a:latin typeface="Pixeloid Sans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09728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lang="ru-RU">
                <a:solidFill>
                  <a:srgbClr val="E8C170"/>
                </a:solidFill>
                <a:latin typeface="Pixeloid Sans"/>
              </a:rPr>
              <a:t>Что уже есть, что дальше и чего пока нет</a:t>
            </a:r>
          </a:p>
        </p:txBody>
      </p:sp>
      <p:sp>
        <p:nvSpPr>
          <p:cNvPr id="6" name="Rectangle 5"/>
          <p:cNvSpPr/>
          <p:nvPr/>
        </p:nvSpPr>
        <p:spPr>
          <a:xfrm>
            <a:off x="584200" y="1714500"/>
            <a:ext cx="3505200" cy="429260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4200" y="1638300"/>
            <a:ext cx="3505200" cy="42926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1663700"/>
            <a:ext cx="3454400" cy="4241800"/>
          </a:xfrm>
          <a:prstGeom prst="rect">
            <a:avLst/>
          </a:prstGeom>
          <a:solidFill>
            <a:srgbClr val="E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1790700"/>
            <a:ext cx="1136650" cy="442912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7400" y="1816100"/>
            <a:ext cx="1085850" cy="392112"/>
          </a:xfrm>
          <a:prstGeom prst="rect">
            <a:avLst/>
          </a:prstGeom>
          <a:solidFill>
            <a:srgbClr val="C7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7400" y="1816100"/>
            <a:ext cx="1085850" cy="341312"/>
          </a:xfrm>
          <a:prstGeom prst="rect">
            <a:avLst/>
          </a:prstGeom>
          <a:solidFill>
            <a:srgbClr val="E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7400" y="1816100"/>
            <a:ext cx="1085850" cy="341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50" b="1" lang="ru-RU">
                <a:solidFill>
                  <a:srgbClr val="10141F"/>
                </a:solidFill>
                <a:latin typeface="Pixeloid Sans"/>
              </a:rPr>
              <a:t>готово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400" y="2362200"/>
            <a:ext cx="3098800" cy="658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900" b="1" lang="ru-RU">
                <a:solidFill>
                  <a:srgbClr val="10141F"/>
                </a:solidFill>
                <a:latin typeface="Pixeloid Sans"/>
              </a:rPr>
              <a:t>Кабинет руководителя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400" y="3059176"/>
            <a:ext cx="3098800" cy="10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lang="ru-RU">
                <a:solidFill>
                  <a:srgbClr val="394A50"/>
                </a:solidFill>
                <a:latin typeface="Pixeloid Sans"/>
              </a:rPr>
              <a:t>шаблоны HR и своё дело, лица и места, ссылка команде, доска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7400" y="4241800"/>
            <a:ext cx="3098800" cy="3548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900" b="1" lang="ru-RU">
                <a:solidFill>
                  <a:srgbClr val="10141F"/>
                </a:solidFill>
                <a:latin typeface="Pixeloid Sans"/>
              </a:rPr>
              <a:t>Командировки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7400" y="4634738"/>
            <a:ext cx="3098800" cy="10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lang="ru-RU">
                <a:solidFill>
                  <a:srgbClr val="394A50"/>
                </a:solidFill>
                <a:latin typeface="Pixeloid Sans"/>
              </a:rPr>
              <a:t>Стамбул, Лагос и звонок из Шэньчжэня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1714500"/>
            <a:ext cx="3505200" cy="429260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1638300"/>
            <a:ext cx="3505200" cy="42926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68800" y="1663700"/>
            <a:ext cx="3454400" cy="4241800"/>
          </a:xfrm>
          <a:prstGeom prst="rect">
            <a:avLst/>
          </a:prstGeom>
          <a:solidFill>
            <a:srgbClr val="E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21200" y="1790700"/>
            <a:ext cx="1212850" cy="442912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46600" y="1816100"/>
            <a:ext cx="1162050" cy="392112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46600" y="1816100"/>
            <a:ext cx="1162050" cy="341312"/>
          </a:xfrm>
          <a:prstGeom prst="rect">
            <a:avLst/>
          </a:prstGeom>
          <a:solidFill>
            <a:srgbClr val="DE9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6600" y="1816100"/>
            <a:ext cx="1162050" cy="341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50" b="1" lang="ru-RU">
                <a:solidFill>
                  <a:srgbClr val="10141F"/>
                </a:solidFill>
                <a:latin typeface="Pixeloid Sans"/>
              </a:rPr>
              <a:t>дальше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6600" y="2362200"/>
            <a:ext cx="3098800" cy="658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900" b="1" lang="ru-RU">
                <a:solidFill>
                  <a:srgbClr val="10141F"/>
                </a:solidFill>
                <a:latin typeface="Pixeloid Sans"/>
              </a:rPr>
              <a:t>Вход для компании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6600" y="3059176"/>
            <a:ext cx="3098800" cy="10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lang="ru-RU">
                <a:solidFill>
                  <a:srgbClr val="394A50"/>
                </a:solidFill>
                <a:latin typeface="Pixeloid Sans"/>
              </a:rPr>
              <a:t>аккаунты, вход через корпоративную учётку, выгрузка в LMS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6600" y="4241800"/>
            <a:ext cx="3098800" cy="658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900" b="1" lang="ru-RU">
                <a:solidFill>
                  <a:srgbClr val="10141F"/>
                </a:solidFill>
                <a:latin typeface="Pixeloid Sans"/>
              </a:rPr>
              <a:t>Аналитика и двое напротив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6600" y="4938776"/>
            <a:ext cx="3098800" cy="10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lang="ru-RU">
                <a:solidFill>
                  <a:srgbClr val="394A50"/>
                </a:solidFill>
                <a:latin typeface="Pixeloid Sans"/>
              </a:rPr>
              <a:t>динамика отдела по неделям; закупщик и технолог с той стороны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02600" y="1714500"/>
            <a:ext cx="3505200" cy="429260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02600" y="1638300"/>
            <a:ext cx="3505200" cy="42926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8000" y="1663700"/>
            <a:ext cx="3454400" cy="4241800"/>
          </a:xfrm>
          <a:prstGeom prst="rect">
            <a:avLst/>
          </a:prstGeom>
          <a:solidFill>
            <a:srgbClr val="E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80400" y="1790700"/>
            <a:ext cx="1308100" cy="442912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05800" y="1816100"/>
            <a:ext cx="1257300" cy="392112"/>
          </a:xfrm>
          <a:prstGeom prst="rect">
            <a:avLst/>
          </a:prstGeom>
          <a:solidFill>
            <a:srgbClr val="C7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05800" y="1816100"/>
            <a:ext cx="1257300" cy="341312"/>
          </a:xfrm>
          <a:prstGeom prst="rect">
            <a:avLst/>
          </a:prstGeom>
          <a:solidFill>
            <a:srgbClr val="C7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05800" y="1816100"/>
            <a:ext cx="1257300" cy="341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50" b="1" lang="ru-RU">
                <a:solidFill>
                  <a:srgbClr val="10141F"/>
                </a:solidFill>
                <a:latin typeface="Pixeloid Sans"/>
              </a:rPr>
              <a:t>границы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5800" y="2362200"/>
            <a:ext cx="3098800" cy="658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900" b="1" lang="ru-RU">
                <a:solidFill>
                  <a:srgbClr val="10141F"/>
                </a:solidFill>
                <a:latin typeface="Pixeloid Sans"/>
              </a:rPr>
              <a:t>Только для обучения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5800" y="3059176"/>
            <a:ext cx="3098800" cy="10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lang="ru-RU">
                <a:solidFill>
                  <a:srgbClr val="394A50"/>
                </a:solidFill>
                <a:latin typeface="Pixeloid Sans"/>
              </a:rPr>
              <a:t>для аттестации не годится: приёмы размечает нейросеть, веса очков — игровой баланс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05800" y="4241800"/>
            <a:ext cx="3098800" cy="3548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900" b="1" lang="ru-RU">
                <a:solidFill>
                  <a:srgbClr val="10141F"/>
                </a:solidFill>
                <a:latin typeface="Pixeloid Sans"/>
              </a:rPr>
              <a:t>Перенос на работу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5800" y="4634738"/>
            <a:ext cx="3098800" cy="10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lang="ru-RU">
                <a:solidFill>
                  <a:srgbClr val="394A50"/>
                </a:solidFill>
                <a:latin typeface="Pixeloid Sans"/>
              </a:rPr>
              <a:t>помогает ли игра на живых сделках, проверим на пилоте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k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itle-loop-clean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0007600" y="812800"/>
            <a:ext cx="1600200" cy="160020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07600" y="736600"/>
            <a:ext cx="1600200" cy="16002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33000" y="762000"/>
            <a:ext cx="1549400" cy="1549400"/>
          </a:xfrm>
          <a:prstGeom prst="rect">
            <a:avLst/>
          </a:prstGeom>
          <a:solidFill>
            <a:srgbClr val="E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publ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0" y="787400"/>
            <a:ext cx="1498600" cy="1498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318500" y="2463800"/>
            <a:ext cx="3263900" cy="330200"/>
          </a:xfrm>
          <a:prstGeom prst="rect">
            <a:avLst/>
          </a:prstGeom>
          <a:solidFill>
            <a:srgbClr val="10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18500" y="2463800"/>
            <a:ext cx="3263900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50" b="0" lang="ru-RU">
                <a:solidFill>
                  <a:srgbClr val="EBEDE9"/>
                </a:solidFill>
                <a:latin typeface="Pixeloid Sans"/>
              </a:rPr>
              <a:t>arena-peregovorov.ru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10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5943600"/>
            <a:ext cx="6350000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lang="ru-RU">
                <a:solidFill>
                  <a:srgbClr val="E8C170"/>
                </a:solidFill>
                <a:latin typeface="Pixeloid Sans"/>
              </a:rPr>
              <a:t>Спасибо! Ответим на вопросы.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0" y="5943600"/>
            <a:ext cx="4470400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5000"/>
              </a:lnSpc>
            </a:pPr>
            <a:r>
              <a:rPr sz="1400" b="1" lang="ru-RU">
                <a:solidFill>
                  <a:srgbClr val="E8C170"/>
                </a:solidFill>
                <a:latin typeface="Pixeloid Sans"/>
              </a:rPr>
              <a:t>«Би 2 Би» · </a:t>
            </a:r>
            <a:r>
              <a:rPr sz="1400" b="0" lang="ru-RU">
                <a:solidFill>
                  <a:srgbClr val="EBEDE9"/>
                </a:solidFill>
                <a:latin typeface="Pixeloid Sans"/>
              </a:rPr>
              <a:t>Никита Голубев @nigo57 · Пётр Александров @NikyStor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4770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lang="ru-RU">
                <a:solidFill>
                  <a:srgbClr val="A8B5B2"/>
                </a:solidFill>
                <a:latin typeface="Pixeloid Sans"/>
              </a:rPr>
              <a:t>Запасной слайд для вопросов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77000"/>
            <a:ext cx="63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 lang="ru-RU">
                <a:solidFill>
                  <a:srgbClr val="A8B5B2"/>
                </a:solidFill>
                <a:latin typeface="Pixeloid Sans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09728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 lang="ru-RU">
                <a:solidFill>
                  <a:srgbClr val="E8C170"/>
                </a:solidFill>
                <a:latin typeface="Pixeloid Sans"/>
              </a:rPr>
              <a:t>Демо-ролик: если сеть подвела</a:t>
            </a:r>
          </a:p>
        </p:txBody>
      </p:sp>
      <p:sp>
        <p:nvSpPr>
          <p:cNvPr id="6" name="Rectangle 5"/>
          <p:cNvSpPr/>
          <p:nvPr/>
        </p:nvSpPr>
        <p:spPr>
          <a:xfrm>
            <a:off x="1905000" y="1117600"/>
            <a:ext cx="8382000" cy="47371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demo-v3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930400" y="1143000"/>
            <a:ext cx="8331200" cy="4686300"/>
          </a:xfrm>
          <a:prstGeom prst="rect">
            <a:avLst/>
          </a:prstGeom>
        </p:spPr>
      </p:pic>
      <p:sp>
        <p:nvSpPr>
          <p:cNvPr id="8" name="TextBox 7">
            <a:hlinkClick r:id="rId6"/>
          </p:cNvPr>
          <p:cNvSpPr txBox="1"/>
          <p:nvPr/>
        </p:nvSpPr>
        <p:spPr>
          <a:xfrm>
            <a:off x="1930400" y="5943600"/>
            <a:ext cx="83312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0" lang="ru-RU">
                <a:solidFill>
                  <a:srgbClr val="EBEDE9"/>
                </a:solidFill>
                <a:latin typeface="Pixeloid Sans"/>
              </a:rPr>
              <a:t>Демо-ролик, 3:31 · </a:t>
            </a:r>
            <a:r>
              <a:rPr sz="1700" b="1" lang="ru-RU">
                <a:solidFill>
                  <a:srgbClr val="E8C170"/>
                </a:solidFill>
                <a:latin typeface="Pixeloid Sans"/>
              </a:rPr>
              <a:t>arena-peregovorov.ru/screencast.mp4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4770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lang="ru-RU">
                <a:solidFill>
                  <a:srgbClr val="A8B5B2"/>
                </a:solidFill>
                <a:latin typeface="Pixeloid Sans"/>
              </a:rPr>
              <a:t>Запасной слайд для вопросов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77000"/>
            <a:ext cx="63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 lang="ru-RU">
                <a:solidFill>
                  <a:srgbClr val="A8B5B2"/>
                </a:solidFill>
                <a:latin typeface="Pixeloid Sans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09728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 lang="ru-RU">
                <a:solidFill>
                  <a:srgbClr val="E8C170"/>
                </a:solidFill>
                <a:latin typeface="Pixeloid Sans"/>
              </a:rPr>
              <a:t>Общага, остановка, склад, офис — и командировки в Стамбул и Лагос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866900"/>
            <a:ext cx="2070100" cy="118745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4200" y="1816100"/>
            <a:ext cx="2070100" cy="118745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c-dorm-3fbaf1d5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841500"/>
            <a:ext cx="2019300" cy="1136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3079750"/>
            <a:ext cx="20193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 lang="ru-RU">
                <a:solidFill>
                  <a:srgbClr val="EBEDE9"/>
                </a:solidFill>
                <a:latin typeface="Pixeloid Sans"/>
              </a:rPr>
              <a:t>Общага · Тимур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47975" y="1866900"/>
            <a:ext cx="2070100" cy="118745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22575" y="1816100"/>
            <a:ext cx="2070100" cy="118745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oc-stop-772a92ac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975" y="1841500"/>
            <a:ext cx="2019300" cy="1136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847975" y="3079750"/>
            <a:ext cx="20193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 lang="ru-RU">
                <a:solidFill>
                  <a:srgbClr val="EBEDE9"/>
                </a:solidFill>
                <a:latin typeface="Pixeloid Sans"/>
              </a:rPr>
              <a:t>Остановка · Серый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6350" y="1866900"/>
            <a:ext cx="2070100" cy="118745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60950" y="1816100"/>
            <a:ext cx="2070100" cy="118745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oc-shop-e79f98de2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6350" y="1841500"/>
            <a:ext cx="2019300" cy="11366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86350" y="3079750"/>
            <a:ext cx="20193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 lang="ru-RU">
                <a:solidFill>
                  <a:srgbClr val="EBEDE9"/>
                </a:solidFill>
                <a:latin typeface="Pixeloid Sans"/>
              </a:rPr>
              <a:t>Магазин · Лариса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24725" y="1866900"/>
            <a:ext cx="2070100" cy="118745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99325" y="1816100"/>
            <a:ext cx="2070100" cy="118745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oc-launch-7becc56e4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4725" y="1841500"/>
            <a:ext cx="2019300" cy="11366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24725" y="3079750"/>
            <a:ext cx="20193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 lang="ru-RU">
                <a:solidFill>
                  <a:srgbClr val="EBEDE9"/>
                </a:solidFill>
                <a:latin typeface="Pixeloid Sans"/>
              </a:rPr>
              <a:t>Склад · Палыч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63100" y="1866900"/>
            <a:ext cx="2070100" cy="118745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37700" y="1816100"/>
            <a:ext cx="2070100" cy="118745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loc-tara-6675abfe3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3100" y="1841500"/>
            <a:ext cx="2019300" cy="11366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563100" y="3079750"/>
            <a:ext cx="20193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 lang="ru-RU">
                <a:solidFill>
                  <a:srgbClr val="EBEDE9"/>
                </a:solidFill>
                <a:latin typeface="Pixeloid Sans"/>
              </a:rPr>
              <a:t>Кабинет · Марат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" y="3765550"/>
            <a:ext cx="2070100" cy="118745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4200" y="3714750"/>
            <a:ext cx="2070100" cy="118745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loc-client-61b9b4dea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3740150"/>
            <a:ext cx="2019300" cy="11366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09600" y="4978400"/>
            <a:ext cx="20193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 lang="ru-RU">
                <a:solidFill>
                  <a:srgbClr val="EBEDE9"/>
                </a:solidFill>
                <a:latin typeface="Pixeloid Sans"/>
              </a:rPr>
              <a:t>Офис · Роза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47975" y="3765550"/>
            <a:ext cx="2070100" cy="118745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22575" y="3714750"/>
            <a:ext cx="2070100" cy="118745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c-offer-b43a6d503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47975" y="3740150"/>
            <a:ext cx="2019300" cy="11366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847975" y="4978400"/>
            <a:ext cx="20193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 lang="ru-RU">
                <a:solidFill>
                  <a:srgbClr val="EBEDE9"/>
                </a:solidFill>
                <a:latin typeface="Pixeloid Sans"/>
              </a:rPr>
              <a:t>Переговорная · Дарина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86350" y="3765550"/>
            <a:ext cx="2070100" cy="118745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60950" y="3714750"/>
            <a:ext cx="2070100" cy="118745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loc-istanbul-bcea756e2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86350" y="3740150"/>
            <a:ext cx="2019300" cy="11366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086350" y="4978400"/>
            <a:ext cx="20193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 lang="ru-RU">
                <a:solidFill>
                  <a:srgbClr val="EBEDE9"/>
                </a:solidFill>
                <a:latin typeface="Pixeloid Sans"/>
              </a:rPr>
              <a:t>Стамбул · Эмре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24725" y="3765550"/>
            <a:ext cx="2070100" cy="118745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299325" y="3714750"/>
            <a:ext cx="2070100" cy="118745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loc-lagos-3d7b4ed42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24725" y="3740150"/>
            <a:ext cx="2019300" cy="113665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324725" y="4978400"/>
            <a:ext cx="20193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 lang="ru-RU">
                <a:solidFill>
                  <a:srgbClr val="EBEDE9"/>
                </a:solidFill>
                <a:latin typeface="Pixeloid Sans"/>
              </a:rPr>
              <a:t>Лагос · Адебайо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63100" y="3765550"/>
            <a:ext cx="2070100" cy="118745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537700" y="3714750"/>
            <a:ext cx="2070100" cy="118745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loc-china-942295ef5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63100" y="3740150"/>
            <a:ext cx="2019300" cy="113665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563100" y="4978400"/>
            <a:ext cx="20193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 lang="ru-RU">
                <a:solidFill>
                  <a:srgbClr val="EBEDE9"/>
                </a:solidFill>
                <a:latin typeface="Pixeloid Sans"/>
              </a:rPr>
              <a:t>Звонок · Ли Вэй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n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4770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lang="ru-RU">
                <a:solidFill>
                  <a:srgbClr val="A8B5B2"/>
                </a:solidFill>
                <a:latin typeface="Pixeloid Sans"/>
              </a:rPr>
              <a:t>Запасной слайд для вопросов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77000"/>
            <a:ext cx="63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 lang="ru-RU">
                <a:solidFill>
                  <a:srgbClr val="A8B5B2"/>
                </a:solidFill>
                <a:latin typeface="Pixeloid Sans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09728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 lang="ru-RU">
                <a:solidFill>
                  <a:srgbClr val="E8C170"/>
                </a:solidFill>
                <a:latin typeface="Pixeloid Sans"/>
              </a:rPr>
              <a:t>30 приёмов: что делают сильные переговорщики и чего избегают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587500"/>
            <a:ext cx="7620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lang="ru-RU">
                <a:solidFill>
                  <a:srgbClr val="75A743"/>
                </a:solidFill>
                <a:latin typeface="Pixeloid Sans"/>
              </a:rPr>
              <a:t>Сильные —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930400"/>
            <a:ext cx="2603500" cy="330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lang="ru-RU">
                <a:solidFill>
                  <a:srgbClr val="EBEDE9"/>
                </a:solidFill>
                <a:latin typeface="Pixeloid Sans"/>
              </a:rPr>
              <a:t>· Вопрос об интересах</a:t>
            </a:r>
          </a:p>
          <a:p>
            <a:pPr algn="l">
              <a:lnSpc>
                <a:spcPct val="115000"/>
              </a:lnSpc>
            </a:pPr>
            <a:r>
              <a:rPr sz="1350" b="0" lang="ru-RU">
                <a:solidFill>
                  <a:srgbClr val="EBEDE9"/>
                </a:solidFill>
                <a:latin typeface="Pixeloid Sans"/>
              </a:rPr>
              <a:t>· Проверка понимания</a:t>
            </a:r>
          </a:p>
          <a:p>
            <a:pPr algn="l">
              <a:lnSpc>
                <a:spcPct val="115000"/>
              </a:lnSpc>
            </a:pPr>
            <a:r>
              <a:rPr sz="1350" b="0" lang="ru-RU">
                <a:solidFill>
                  <a:srgbClr val="EBEDE9"/>
                </a:solidFill>
                <a:latin typeface="Pixeloid Sans"/>
              </a:rPr>
              <a:t>· Резюме</a:t>
            </a:r>
          </a:p>
          <a:p>
            <a:pPr algn="l">
              <a:lnSpc>
                <a:spcPct val="115000"/>
              </a:lnSpc>
            </a:pPr>
            <a:r>
              <a:rPr sz="1350" b="0" lang="ru-RU">
                <a:solidFill>
                  <a:srgbClr val="EBEDE9"/>
                </a:solidFill>
                <a:latin typeface="Pixeloid Sans"/>
              </a:rPr>
              <a:t>· Открытый приоритет</a:t>
            </a:r>
          </a:p>
          <a:p>
            <a:pPr algn="l">
              <a:lnSpc>
                <a:spcPct val="115000"/>
              </a:lnSpc>
            </a:pPr>
            <a:r>
              <a:rPr sz="1350" b="0" lang="ru-RU">
                <a:solidFill>
                  <a:srgbClr val="EBEDE9"/>
                </a:solidFill>
                <a:latin typeface="Pixeloid Sans"/>
              </a:rPr>
              <a:t>· Размен «если… то…»</a:t>
            </a:r>
          </a:p>
          <a:p>
            <a:pPr algn="l">
              <a:lnSpc>
                <a:spcPct val="115000"/>
              </a:lnSpc>
            </a:pPr>
            <a:r>
              <a:rPr sz="1350" b="0" lang="ru-RU">
                <a:solidFill>
                  <a:srgbClr val="EBEDE9"/>
                </a:solidFill>
                <a:latin typeface="Pixeloid Sans"/>
              </a:rPr>
              <a:t>· Несколько вариантов</a:t>
            </a:r>
          </a:p>
          <a:p>
            <a:pPr algn="l">
              <a:lnSpc>
                <a:spcPct val="115000"/>
              </a:lnSpc>
            </a:pPr>
            <a:r>
              <a:rPr sz="1350" b="0" lang="ru-RU">
                <a:solidFill>
                  <a:srgbClr val="EBEDE9"/>
                </a:solidFill>
                <a:latin typeface="Pixeloid Sans"/>
              </a:rPr>
              <a:t>· Ярлык и признание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25800" y="1930400"/>
            <a:ext cx="2603500" cy="330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lang="ru-RU">
                <a:solidFill>
                  <a:srgbClr val="EBEDE9"/>
                </a:solidFill>
                <a:latin typeface="Pixeloid Sans"/>
              </a:rPr>
              <a:t>· Личный контакт</a:t>
            </a:r>
          </a:p>
          <a:p>
            <a:pPr algn="l">
              <a:lnSpc>
                <a:spcPct val="115000"/>
              </a:lnSpc>
            </a:pPr>
            <a:r>
              <a:rPr sz="1350" b="0" lang="ru-RU">
                <a:solidFill>
                  <a:srgbClr val="EBEDE9"/>
                </a:solidFill>
                <a:latin typeface="Pixeloid Sans"/>
              </a:rPr>
              <a:t>· Объявление хода</a:t>
            </a:r>
          </a:p>
          <a:p>
            <a:pPr algn="l">
              <a:lnSpc>
                <a:spcPct val="115000"/>
              </a:lnSpc>
            </a:pPr>
            <a:r>
              <a:rPr sz="1350" b="0" lang="ru-RU">
                <a:solidFill>
                  <a:srgbClr val="EBEDE9"/>
                </a:solidFill>
                <a:latin typeface="Pixeloid Sans"/>
              </a:rPr>
              <a:t>· Объективный критерий</a:t>
            </a:r>
          </a:p>
          <a:p>
            <a:pPr algn="l">
              <a:lnSpc>
                <a:spcPct val="115000"/>
              </a:lnSpc>
            </a:pPr>
            <a:r>
              <a:rPr sz="1350" b="0" lang="ru-RU">
                <a:solidFill>
                  <a:srgbClr val="EBEDE9"/>
                </a:solidFill>
                <a:latin typeface="Pixeloid Sans"/>
              </a:rPr>
              <a:t>· Вопрос о последствиях</a:t>
            </a:r>
          </a:p>
          <a:p>
            <a:pPr algn="l">
              <a:lnSpc>
                <a:spcPct val="115000"/>
              </a:lnSpc>
            </a:pPr>
            <a:r>
              <a:rPr sz="1350" b="0" lang="ru-RU">
                <a:solidFill>
                  <a:srgbClr val="EBEDE9"/>
                </a:solidFill>
                <a:latin typeface="Pixeloid Sans"/>
              </a:rPr>
              <a:t>· Вопрос о выгоде</a:t>
            </a:r>
          </a:p>
          <a:p>
            <a:pPr algn="l">
              <a:lnSpc>
                <a:spcPct val="115000"/>
              </a:lnSpc>
            </a:pPr>
            <a:r>
              <a:rPr sz="1350" b="0" lang="ru-RU">
                <a:solidFill>
                  <a:srgbClr val="EBEDE9"/>
                </a:solidFill>
                <a:latin typeface="Pixeloid Sans"/>
              </a:rPr>
              <a:t>· Общая задача</a:t>
            </a:r>
          </a:p>
          <a:p>
            <a:pPr algn="l">
              <a:lnSpc>
                <a:spcPct val="115000"/>
              </a:lnSpc>
            </a:pPr>
            <a:r>
              <a:rPr sz="1350" b="0" lang="ru-RU">
                <a:solidFill>
                  <a:srgbClr val="EBEDE9"/>
                </a:solidFill>
                <a:latin typeface="Pixeloid Sans"/>
              </a:rPr>
              <a:t>· Пробный вариант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0" y="1930400"/>
            <a:ext cx="2603500" cy="330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lang="ru-RU">
                <a:solidFill>
                  <a:srgbClr val="EBEDE9"/>
                </a:solidFill>
                <a:latin typeface="Pixeloid Sans"/>
              </a:rPr>
              <a:t>· Зеркало ◆</a:t>
            </a:r>
          </a:p>
          <a:p>
            <a:pPr algn="l">
              <a:lnSpc>
                <a:spcPct val="115000"/>
              </a:lnSpc>
            </a:pPr>
            <a:r>
              <a:rPr sz="1350" b="0" lang="ru-RU">
                <a:solidFill>
                  <a:srgbClr val="EBEDE9"/>
                </a:solidFill>
                <a:latin typeface="Pixeloid Sans"/>
              </a:rPr>
              <a:t>· Вопрос «как?» ◆</a:t>
            </a:r>
          </a:p>
          <a:p>
            <a:pPr algn="l">
              <a:lnSpc>
                <a:spcPct val="115000"/>
              </a:lnSpc>
            </a:pPr>
            <a:r>
              <a:rPr sz="1350" b="0" lang="ru-RU">
                <a:solidFill>
                  <a:srgbClr val="EBEDE9"/>
                </a:solidFill>
                <a:latin typeface="Pixeloid Sans"/>
              </a:rPr>
              <a:t>· Анализ обвинений ◆</a:t>
            </a:r>
          </a:p>
          <a:p>
            <a:pPr algn="l">
              <a:lnSpc>
                <a:spcPct val="115000"/>
              </a:lnSpc>
            </a:pPr>
            <a:r>
              <a:rPr sz="1350" b="0" lang="ru-RU">
                <a:solidFill>
                  <a:srgbClr val="EBEDE9"/>
                </a:solidFill>
                <a:latin typeface="Pixeloid Sans"/>
              </a:rPr>
              <a:t>· Вопрос под «нет» ◆</a:t>
            </a:r>
          </a:p>
          <a:p>
            <a:pPr algn="l">
              <a:lnSpc>
                <a:spcPct val="115000"/>
              </a:lnSpc>
            </a:pPr>
            <a:r>
              <a:rPr sz="1350" b="0" lang="ru-RU">
                <a:solidFill>
                  <a:srgbClr val="EBEDE9"/>
                </a:solidFill>
                <a:latin typeface="Pixeloid Sans"/>
              </a:rPr>
              <a:t>· Золотой мост ◆</a:t>
            </a:r>
          </a:p>
          <a:p>
            <a:pPr algn="l">
              <a:lnSpc>
                <a:spcPct val="115000"/>
              </a:lnSpc>
            </a:pPr>
            <a:r>
              <a:rPr sz="1350" b="0" lang="ru-RU">
                <a:solidFill>
                  <a:srgbClr val="EBEDE9"/>
                </a:solidFill>
                <a:latin typeface="Pixeloid Sans"/>
              </a:rPr>
              <a:t>· Я-сообщение ◆</a:t>
            </a:r>
          </a:p>
          <a:p>
            <a:pPr algn="l">
              <a:lnSpc>
                <a:spcPct val="115000"/>
              </a:lnSpc>
            </a:pPr>
            <a:r>
              <a:rPr sz="1350" b="0" lang="ru-RU">
                <a:solidFill>
                  <a:srgbClr val="EBEDE9"/>
                </a:solidFill>
                <a:latin typeface="Pixeloid Sans"/>
              </a:rPr>
              <a:t>· Пауза вместо реакции 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0" y="1587500"/>
            <a:ext cx="30099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lang="ru-RU">
                <a:solidFill>
                  <a:srgbClr val="E8C170"/>
                </a:solidFill>
                <a:latin typeface="Pixeloid Sans"/>
              </a:rPr>
              <a:t>По ситуации —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0" y="1930400"/>
            <a:ext cx="3009900" cy="25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lang="ru-RU">
                <a:solidFill>
                  <a:srgbClr val="EBEDE9"/>
                </a:solidFill>
                <a:latin typeface="Pixeloid Sans"/>
              </a:rPr>
              <a:t>· Первое предложение</a:t>
            </a:r>
          </a:p>
          <a:p>
            <a:pPr algn="l">
              <a:lnSpc>
                <a:spcPct val="115000"/>
              </a:lnSpc>
            </a:pPr>
            <a:r>
              <a:rPr sz="1350" b="0" lang="ru-RU">
                <a:solidFill>
                  <a:srgbClr val="EBEDE9"/>
                </a:solidFill>
                <a:latin typeface="Pixeloid Sans"/>
              </a:rPr>
              <a:t>· Ссылка на альтернативу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0" y="2667000"/>
            <a:ext cx="30099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lang="ru-RU">
                <a:solidFill>
                  <a:srgbClr val="CF573C"/>
                </a:solidFill>
                <a:latin typeface="Pixeloid Sans"/>
              </a:rPr>
              <a:t>Слабые —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0" y="3009900"/>
            <a:ext cx="3009900" cy="25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lang="ru-RU">
                <a:solidFill>
                  <a:srgbClr val="EBEDE9"/>
                </a:solidFill>
                <a:latin typeface="Pixeloid Sans"/>
              </a:rPr>
              <a:t>· «Давайте пополам»</a:t>
            </a:r>
          </a:p>
          <a:p>
            <a:pPr algn="l">
              <a:lnSpc>
                <a:spcPct val="115000"/>
              </a:lnSpc>
            </a:pPr>
            <a:r>
              <a:rPr sz="1350" b="0" lang="ru-RU">
                <a:solidFill>
                  <a:srgbClr val="EBEDE9"/>
                </a:solidFill>
                <a:latin typeface="Pixeloid Sans"/>
              </a:rPr>
              <a:t>· Раздражитель</a:t>
            </a:r>
          </a:p>
          <a:p>
            <a:pPr algn="l">
              <a:lnSpc>
                <a:spcPct val="115000"/>
              </a:lnSpc>
            </a:pPr>
            <a:r>
              <a:rPr sz="1350" b="0" lang="ru-RU">
                <a:solidFill>
                  <a:srgbClr val="EBEDE9"/>
                </a:solidFill>
                <a:latin typeface="Pixeloid Sans"/>
              </a:rPr>
              <a:t>· Мгновенное контрпредложение</a:t>
            </a:r>
          </a:p>
          <a:p>
            <a:pPr algn="l">
              <a:lnSpc>
                <a:spcPct val="115000"/>
              </a:lnSpc>
            </a:pPr>
            <a:r>
              <a:rPr sz="1350" b="0" lang="ru-RU">
                <a:solidFill>
                  <a:srgbClr val="EBEDE9"/>
                </a:solidFill>
                <a:latin typeface="Pixeloid Sans"/>
              </a:rPr>
              <a:t>· Атака или оправдание</a:t>
            </a:r>
          </a:p>
          <a:p>
            <a:pPr algn="l">
              <a:lnSpc>
                <a:spcPct val="115000"/>
              </a:lnSpc>
            </a:pPr>
            <a:r>
              <a:rPr sz="1350" b="0" lang="ru-RU">
                <a:solidFill>
                  <a:srgbClr val="EBEDE9"/>
                </a:solidFill>
                <a:latin typeface="Pixeloid Sans"/>
              </a:rPr>
              <a:t>· Размывание аргументов</a:t>
            </a:r>
          </a:p>
          <a:p>
            <a:pPr algn="l">
              <a:lnSpc>
                <a:spcPct val="115000"/>
              </a:lnSpc>
            </a:pPr>
            <a:r>
              <a:rPr sz="1350" b="0" lang="ru-RU">
                <a:solidFill>
                  <a:srgbClr val="EBEDE9"/>
                </a:solidFill>
                <a:latin typeface="Pixeloid Sans"/>
              </a:rPr>
              <a:t>· Ультиматум</a:t>
            </a:r>
          </a:p>
          <a:p>
            <a:pPr algn="l">
              <a:lnSpc>
                <a:spcPct val="115000"/>
              </a:lnSpc>
            </a:pPr>
            <a:r>
              <a:rPr sz="1350" b="0" lang="ru-RU">
                <a:solidFill>
                  <a:srgbClr val="EBEDE9"/>
                </a:solidFill>
                <a:latin typeface="Pixeloid Sans"/>
              </a:rPr>
              <a:t>· Давление сроком 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270500"/>
            <a:ext cx="10972800" cy="10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500" b="0" lang="ru-RU">
                <a:solidFill>
                  <a:srgbClr val="A8B5B2"/>
                </a:solidFill>
                <a:latin typeface="Pixeloid Sans"/>
              </a:rPr>
              <a:t>◆ — восемь приёмов из книг Восса и Юри. У каждого из 30 приёмов в игре записаны книга, глава и пример фразы. Пять книг: Фишер, Юри, Паттон; Юри; Восс; Рэкхем; Стоун, Паттон, Хин. Нормы сильных переговорщиков — Rackham &amp; Carlisle, 1978.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4770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lang="ru-RU">
                <a:solidFill>
                  <a:srgbClr val="A8B5B2"/>
                </a:solidFill>
                <a:latin typeface="Pixeloid Sans"/>
              </a:rPr>
              <a:t>Запасной слайд для вопросов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77000"/>
            <a:ext cx="63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 lang="ru-RU">
                <a:solidFill>
                  <a:srgbClr val="A8B5B2"/>
                </a:solidFill>
                <a:latin typeface="Pixeloid Sans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09728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 lang="ru-RU">
                <a:solidFill>
                  <a:srgbClr val="E8C170"/>
                </a:solidFill>
                <a:latin typeface="Pixeloid Sans"/>
              </a:rPr>
              <a:t>Почему оценка повторяется</a:t>
            </a:r>
          </a:p>
        </p:txBody>
      </p:sp>
      <p:sp>
        <p:nvSpPr>
          <p:cNvPr id="6" name="Rectangle 5"/>
          <p:cNvSpPr/>
          <p:nvPr/>
        </p:nvSpPr>
        <p:spPr>
          <a:xfrm>
            <a:off x="584200" y="1892300"/>
            <a:ext cx="11023600" cy="405130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4200" y="1816100"/>
            <a:ext cx="11023600" cy="40513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1841500"/>
            <a:ext cx="10972800" cy="4000500"/>
          </a:xfrm>
          <a:prstGeom prst="rect">
            <a:avLst/>
          </a:prstGeom>
          <a:solidFill>
            <a:srgbClr val="E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3600" y="1936750"/>
            <a:ext cx="24130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lang="ru-RU">
                <a:solidFill>
                  <a:srgbClr val="3C5E8B"/>
                </a:solidFill>
                <a:latin typeface="Pixeloid Sans"/>
              </a:rPr>
              <a:t>Разметка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936750"/>
            <a:ext cx="78994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0" lang="ru-RU">
                <a:solidFill>
                  <a:srgbClr val="10141F"/>
                </a:solidFill>
                <a:latin typeface="Pixeloid Sans"/>
              </a:rPr>
              <a:t>температура 0, строгий JSON, кэш. Приём без цитаты из реплики не засчитывается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3600" y="2660650"/>
            <a:ext cx="10464800" cy="25400"/>
          </a:xfrm>
          <a:prstGeom prst="rect">
            <a:avLst/>
          </a:prstGeom>
          <a:solidFill>
            <a:srgbClr val="C7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3600" y="2698750"/>
            <a:ext cx="24130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lang="ru-RU">
                <a:solidFill>
                  <a:srgbClr val="3C5E8B"/>
                </a:solidFill>
                <a:latin typeface="Pixeloid Sans"/>
              </a:rPr>
              <a:t>Движок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698750"/>
            <a:ext cx="78994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0" lang="ru-RU">
                <a:solidFill>
                  <a:srgbClr val="10141F"/>
                </a:solidFill>
                <a:latin typeface="Pixeloid Sans"/>
              </a:rPr>
              <a:t>без случайности: одна история ходов — один итог. На этом работают перемотка и «переиграть с хода»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3600" y="3422650"/>
            <a:ext cx="10464800" cy="25400"/>
          </a:xfrm>
          <a:prstGeom prst="rect">
            <a:avLst/>
          </a:prstGeom>
          <a:solidFill>
            <a:srgbClr val="C7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3600" y="3460750"/>
            <a:ext cx="24130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lang="ru-RU">
                <a:solidFill>
                  <a:srgbClr val="3C5E8B"/>
                </a:solidFill>
                <a:latin typeface="Pixeloid Sans"/>
              </a:rPr>
              <a:t>Пересказ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460750"/>
            <a:ext cx="78994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0" lang="ru-RU">
                <a:solidFill>
                  <a:srgbClr val="10141F"/>
                </a:solidFill>
                <a:latin typeface="Pixeloid Sans"/>
              </a:rPr>
              <a:t>те же ходы другими словами: 72 и 72 очка, Парето 100%, доверие 61 и 62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3600" y="4184650"/>
            <a:ext cx="10464800" cy="25400"/>
          </a:xfrm>
          <a:prstGeom prst="rect">
            <a:avLst/>
          </a:prstGeom>
          <a:solidFill>
            <a:srgbClr val="C7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3600" y="4222750"/>
            <a:ext cx="24130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lang="ru-RU">
                <a:solidFill>
                  <a:srgbClr val="3C5E8B"/>
                </a:solidFill>
                <a:latin typeface="Pixeloid Sans"/>
              </a:rPr>
              <a:t>Без кэша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222750"/>
            <a:ext cx="78994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0" lang="ru-RU">
                <a:solidFill>
                  <a:srgbClr val="10141F"/>
                </a:solidFill>
                <a:latin typeface="Pixeloid Sans"/>
              </a:rPr>
              <a:t>два прогона Claude Sonnet совпали по меткам в 12 из 14 реплик английского дела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3600" y="4946650"/>
            <a:ext cx="10464800" cy="25400"/>
          </a:xfrm>
          <a:prstGeom prst="rect">
            <a:avLst/>
          </a:prstGeom>
          <a:solidFill>
            <a:srgbClr val="C7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3600" y="4984750"/>
            <a:ext cx="24130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lang="ru-RU">
                <a:solidFill>
                  <a:srgbClr val="3C5E8B"/>
                </a:solidFill>
                <a:latin typeface="Pixeloid Sans"/>
              </a:rPr>
              <a:t>Проверка ответа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984750"/>
            <a:ext cx="78994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0" lang="ru-RU">
                <a:solidFill>
                  <a:srgbClr val="10141F"/>
                </a:solidFill>
                <a:latin typeface="Pixeloid Sans"/>
              </a:rPr>
              <a:t>условия и согласие сверяются с решением движка, ловим выдуманные цифры и выданные тайны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4770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lang="ru-RU">
                <a:solidFill>
                  <a:srgbClr val="A8B5B2"/>
                </a:solidFill>
                <a:latin typeface="Pixeloid Sans"/>
              </a:rPr>
              <a:t>Запасной слайд для вопросов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77000"/>
            <a:ext cx="63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 lang="ru-RU">
                <a:solidFill>
                  <a:srgbClr val="A8B5B2"/>
                </a:solidFill>
                <a:latin typeface="Pixeloid Sans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09728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 lang="ru-RU">
                <a:solidFill>
                  <a:srgbClr val="E8C170"/>
                </a:solidFill>
                <a:latin typeface="Pixeloid Sans"/>
              </a:rPr>
              <a:t>Разбор объясняет, почему такой итог и как сказать лучше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3325" y="1612900"/>
            <a:ext cx="4197350" cy="360680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7925" y="1562100"/>
            <a:ext cx="4197350" cy="36068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ebrief-map-765593b0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325" y="1587500"/>
            <a:ext cx="4146550" cy="3556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42125" y="1612900"/>
            <a:ext cx="4197350" cy="360680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16725" y="1562100"/>
            <a:ext cx="4197350" cy="36068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brief-moments-14052bdb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2125" y="1587500"/>
            <a:ext cx="4146550" cy="355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5397500"/>
            <a:ext cx="109728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0" lang="ru-RU">
                <a:solidFill>
                  <a:srgbClr val="EBEDE9"/>
                </a:solidFill>
                <a:latin typeface="Pixeloid Sans"/>
              </a:rPr>
              <a:t>Слева: цифры встречи и карта всех возможных сделок с точкой «ваша сделка». Справа: три момента, которые всё решили, — цитата, эффект на доверие и напряжение, ссылка на исследование, «переиграть с этого хода».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n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4770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lang="ru-RU">
                <a:solidFill>
                  <a:srgbClr val="A8B5B2"/>
                </a:solidFill>
                <a:latin typeface="Pixeloid Sans"/>
              </a:rPr>
              <a:t>Запасной слайд для вопросов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77000"/>
            <a:ext cx="63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 lang="ru-RU">
                <a:solidFill>
                  <a:srgbClr val="A8B5B2"/>
                </a:solidFill>
                <a:latin typeface="Pixeloid Sans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09728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 lang="ru-RU">
                <a:solidFill>
                  <a:srgbClr val="E8C170"/>
                </a:solidFill>
                <a:latin typeface="Pixeloid Sans"/>
              </a:rPr>
              <a:t>Подробный разбор: путь по ходам, профиль 30 приёмов, рост по попыткам</a:t>
            </a:r>
          </a:p>
        </p:txBody>
      </p:sp>
      <p:sp>
        <p:nvSpPr>
          <p:cNvPr id="6" name="Rectangle 5"/>
          <p:cNvSpPr/>
          <p:nvPr/>
        </p:nvSpPr>
        <p:spPr>
          <a:xfrm>
            <a:off x="717550" y="1612900"/>
            <a:ext cx="5295900" cy="411480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2150" y="1562100"/>
            <a:ext cx="5295900" cy="41148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nalytics-tr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50" y="1587500"/>
            <a:ext cx="5245100" cy="4064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13500" y="1622425"/>
            <a:ext cx="5219700" cy="244475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88100" y="1571625"/>
            <a:ext cx="5219700" cy="244475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nalytics-grow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3500" y="1597025"/>
            <a:ext cx="5168900" cy="23939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464425" y="4216400"/>
            <a:ext cx="3117850" cy="151130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39025" y="4165600"/>
            <a:ext cx="3117850" cy="15113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nalytics-profile-6a73f14ea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4425" y="4191000"/>
            <a:ext cx="3067050" cy="146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5778500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lang="ru-RU">
                <a:solidFill>
                  <a:srgbClr val="EBEDE9"/>
                </a:solidFill>
                <a:latin typeface="Pixeloid Sans"/>
              </a:rPr>
              <a:t>Доверие, напряжение и выгода по ходам: клик по ходу — что вы сказали и что изменилось. Справа звёзды по попыткам и профиль приёмов против нормы с цитатами-доказательствами.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n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4770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lang="ru-RU">
                <a:solidFill>
                  <a:srgbClr val="A8B5B2"/>
                </a:solidFill>
                <a:latin typeface="Pixeloid Sans"/>
              </a:rPr>
              <a:t>Запасной слайд для вопросов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77000"/>
            <a:ext cx="63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 lang="ru-RU">
                <a:solidFill>
                  <a:srgbClr val="A8B5B2"/>
                </a:solidFill>
                <a:latin typeface="Pixeloid Sans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09728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 lang="ru-RU">
                <a:solidFill>
                  <a:srgbClr val="E8C170"/>
                </a:solidFill>
                <a:latin typeface="Pixeloid Sans"/>
              </a:rPr>
              <a:t>Модели выбраны по скорости и по тому, как держат роль</a:t>
            </a:r>
          </a:p>
        </p:txBody>
      </p:sp>
      <p:sp>
        <p:nvSpPr>
          <p:cNvPr id="6" name="Rectangle 5"/>
          <p:cNvSpPr/>
          <p:nvPr/>
        </p:nvSpPr>
        <p:spPr>
          <a:xfrm>
            <a:off x="584200" y="1625600"/>
            <a:ext cx="11023600" cy="3987800"/>
          </a:xfrm>
          <a:prstGeom prst="rect">
            <a:avLst/>
          </a:prstGeom>
          <a:solidFill>
            <a:srgbClr val="10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651000"/>
            <a:ext cx="10972800" cy="3937000"/>
          </a:xfrm>
          <a:prstGeom prst="rect">
            <a:avLst/>
          </a:prstGeom>
          <a:solidFill>
            <a:srgbClr val="17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2800" y="1778000"/>
            <a:ext cx="25400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lang="ru-RU">
                <a:solidFill>
                  <a:srgbClr val="A8B5B2"/>
                </a:solidFill>
                <a:latin typeface="Pixeloid Sans"/>
              </a:rPr>
              <a:t>Разметка реплики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778000"/>
            <a:ext cx="31750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1" lang="ru-RU">
                <a:solidFill>
                  <a:srgbClr val="E8C170"/>
                </a:solidFill>
                <a:latin typeface="Pixeloid Sans"/>
              </a:rPr>
              <a:t>Claude + YandexGPT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0" y="1778000"/>
            <a:ext cx="48260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0" lang="ru-RU">
                <a:solidFill>
                  <a:srgbClr val="EBEDE9"/>
                </a:solidFill>
                <a:latin typeface="Pixeloid Sans"/>
              </a:rPr>
              <a:t>параллельно: начало ответа — по быстрой, оценка хода — по Claude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400300"/>
            <a:ext cx="25400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lang="ru-RU">
                <a:solidFill>
                  <a:srgbClr val="A8B5B2"/>
                </a:solidFill>
                <a:latin typeface="Pixeloid Sans"/>
              </a:rPr>
              <a:t>Реплика персонажа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400300"/>
            <a:ext cx="31750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1" lang="ru-RU">
                <a:solidFill>
                  <a:srgbClr val="E8C170"/>
                </a:solidFill>
                <a:latin typeface="Pixeloid Sans"/>
              </a:rPr>
              <a:t>Claude Sonnet 5.5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4000" y="2400300"/>
            <a:ext cx="48260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0" lang="ru-RU">
                <a:solidFill>
                  <a:srgbClr val="EBEDE9"/>
                </a:solidFill>
                <a:latin typeface="Pixeloid Sans"/>
              </a:rPr>
              <a:t>1,9 с, 0,55 ₽ за ход с кэшем, самый живой из быстрых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" y="3022600"/>
            <a:ext cx="25400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lang="ru-RU">
                <a:solidFill>
                  <a:srgbClr val="A8B5B2"/>
                </a:solidFill>
                <a:latin typeface="Pixeloid Sans"/>
              </a:rPr>
              <a:t>Голос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022600"/>
            <a:ext cx="31750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1" lang="ru-RU">
                <a:solidFill>
                  <a:srgbClr val="E8C170"/>
                </a:solidFill>
                <a:latin typeface="Pixeloid Sans"/>
              </a:rPr>
              <a:t>ElevenLabs v4 Turbo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4000" y="3022600"/>
            <a:ext cx="48260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0" lang="ru-RU">
                <a:solidFill>
                  <a:srgbClr val="EBEDE9"/>
                </a:solidFill>
                <a:latin typeface="Pixeloid Sans"/>
              </a:rPr>
              <a:t>0,3 с до первого звука, через наш воркер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0" y="3644900"/>
            <a:ext cx="25400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lang="ru-RU">
                <a:solidFill>
                  <a:srgbClr val="A8B5B2"/>
                </a:solidFill>
                <a:latin typeface="Pixeloid Sans"/>
              </a:rPr>
              <a:t>Распознавание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644900"/>
            <a:ext cx="31750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1" lang="ru-RU">
                <a:solidFill>
                  <a:srgbClr val="E8C170"/>
                </a:solidFill>
                <a:latin typeface="Pixeloid Sans"/>
              </a:rPr>
              <a:t>ElevenLabs Scribe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4000" y="3644900"/>
            <a:ext cx="48260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0" lang="ru-RU">
                <a:solidFill>
                  <a:srgbClr val="EBEDE9"/>
                </a:solidFill>
                <a:latin typeface="Pixeloid Sans"/>
              </a:rPr>
              <a:t>0,2–0,3 с после конца фразы, потоком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800" y="4267200"/>
            <a:ext cx="25400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lang="ru-RU">
                <a:solidFill>
                  <a:srgbClr val="A8B5B2"/>
                </a:solidFill>
                <a:latin typeface="Pixeloid Sans"/>
              </a:rPr>
              <a:t>Базовая комплектация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267200"/>
            <a:ext cx="31750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1" lang="ru-RU">
                <a:solidFill>
                  <a:srgbClr val="E8C170"/>
                </a:solidFill>
                <a:latin typeface="Pixeloid Sans"/>
              </a:rPr>
              <a:t>YandexGPT 5.1 Pro + SpeechKit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4000" y="4267200"/>
            <a:ext cx="48260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0" lang="ru-RU">
                <a:solidFill>
                  <a:srgbClr val="EBEDE9"/>
                </a:solidFill>
                <a:latin typeface="Pixeloid Sans"/>
              </a:rPr>
              <a:t>российский контур, включается одной настройкой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800" y="4889500"/>
            <a:ext cx="25400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 lang="ru-RU">
                <a:solidFill>
                  <a:srgbClr val="A8B5B2"/>
                </a:solidFill>
                <a:latin typeface="Pixeloid Sans"/>
              </a:rPr>
              <a:t>Запасной путь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889500"/>
            <a:ext cx="31750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1" lang="ru-RU">
                <a:solidFill>
                  <a:srgbClr val="E8C170"/>
                </a:solidFill>
                <a:latin typeface="Pixeloid Sans"/>
              </a:rPr>
              <a:t>запасная модель, заготовки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4000" y="4889500"/>
            <a:ext cx="48260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0" lang="ru-RU">
                <a:solidFill>
                  <a:srgbClr val="EBEDE9"/>
                </a:solidFill>
                <a:latin typeface="Pixeloid Sans"/>
              </a:rPr>
              <a:t>голос не пришёл за 2,5 с — SpeechKit; без сети — офлайн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5715000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A8B5B2"/>
                </a:solidFill>
                <a:latin typeface="Pixeloid Sans"/>
              </a:rPr>
              <a:t>Реплику сравнивали на 19 моделях вслепую: Sonnet — 7,0 балла, YandexGPT Pro — 5,2.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4770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lang="ru-RU">
                <a:solidFill>
                  <a:srgbClr val="A8B5B2"/>
                </a:solidFill>
                <a:latin typeface="Pixeloid Sans"/>
              </a:rPr>
              <a:t>Запасной слайд для вопросов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77000"/>
            <a:ext cx="63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 lang="ru-RU">
                <a:solidFill>
                  <a:srgbClr val="A8B5B2"/>
                </a:solidFill>
                <a:latin typeface="Pixeloid Sans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09728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 lang="ru-RU">
                <a:solidFill>
                  <a:srgbClr val="E8C170"/>
                </a:solidFill>
                <a:latin typeface="Pixeloid Sans"/>
              </a:rPr>
              <a:t>Сколько стоит нам партия: зависит от комплектации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584200" y="1701800"/>
            <a:ext cx="7416800" cy="386080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4200" y="1625600"/>
            <a:ext cx="7416800" cy="38608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7366000" cy="3810000"/>
          </a:xfrm>
          <a:prstGeom prst="rect">
            <a:avLst/>
          </a:prstGeom>
          <a:solidFill>
            <a:srgbClr val="E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3600" y="1809750"/>
            <a:ext cx="3556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lang="ru-RU">
                <a:solidFill>
                  <a:srgbClr val="10141F"/>
                </a:solidFill>
                <a:latin typeface="Pixeloid Sans"/>
              </a:rPr>
              <a:t>Пилот 20.10, живой голос: Claude + ElevenLabs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5000" y="1809750"/>
            <a:ext cx="32766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700" b="1" lang="ru-RU">
                <a:solidFill>
                  <a:srgbClr val="3C5E8B"/>
                </a:solidFill>
                <a:latin typeface="Pixeloid Sans"/>
              </a:rPr>
              <a:t>263 ₽ за 19 ходов, ≈ 14 ₽ за ход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3600" y="2482850"/>
            <a:ext cx="6731000" cy="25400"/>
          </a:xfrm>
          <a:prstGeom prst="rect">
            <a:avLst/>
          </a:prstGeom>
          <a:solidFill>
            <a:srgbClr val="C7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3600" y="2533650"/>
            <a:ext cx="3556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lang="ru-RU">
                <a:solidFill>
                  <a:srgbClr val="10141F"/>
                </a:solidFill>
                <a:latin typeface="Pixeloid Sans"/>
              </a:rPr>
              <a:t>из них модели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5000" y="2533650"/>
            <a:ext cx="32766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700" b="1" lang="ru-RU">
                <a:solidFill>
                  <a:srgbClr val="3C5E8B"/>
                </a:solidFill>
                <a:latin typeface="Pixeloid Sans"/>
              </a:rPr>
              <a:t>219 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3600" y="3206750"/>
            <a:ext cx="6731000" cy="25400"/>
          </a:xfrm>
          <a:prstGeom prst="rect">
            <a:avLst/>
          </a:prstGeom>
          <a:solidFill>
            <a:srgbClr val="C7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3600" y="3257550"/>
            <a:ext cx="3556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lang="ru-RU">
                <a:solidFill>
                  <a:srgbClr val="10141F"/>
                </a:solidFill>
                <a:latin typeface="Pixeloid Sans"/>
              </a:rPr>
              <a:t>Замер 17.10: три хода с голосом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5000" y="3257550"/>
            <a:ext cx="32766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700" b="1" lang="ru-RU">
                <a:solidFill>
                  <a:srgbClr val="3C5E8B"/>
                </a:solidFill>
                <a:latin typeface="Pixeloid Sans"/>
              </a:rPr>
              <a:t>12,4 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3600" y="3930650"/>
            <a:ext cx="6731000" cy="25400"/>
          </a:xfrm>
          <a:prstGeom prst="rect">
            <a:avLst/>
          </a:prstGeom>
          <a:solidFill>
            <a:srgbClr val="C7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3600" y="3981450"/>
            <a:ext cx="3556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lang="ru-RU">
                <a:solidFill>
                  <a:srgbClr val="10141F"/>
                </a:solidFill>
                <a:latin typeface="Pixeloid Sans"/>
              </a:rPr>
              <a:t>Голос ElevenLabs, замер до 18.10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5000" y="3981450"/>
            <a:ext cx="32766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700" b="1" lang="ru-RU">
                <a:solidFill>
                  <a:srgbClr val="3C5E8B"/>
                </a:solidFill>
                <a:latin typeface="Pixeloid Sans"/>
              </a:rPr>
              <a:t>5–8 ₽ за партию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3600" y="4654550"/>
            <a:ext cx="6731000" cy="25400"/>
          </a:xfrm>
          <a:prstGeom prst="rect">
            <a:avLst/>
          </a:prstGeom>
          <a:solidFill>
            <a:srgbClr val="C7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3600" y="4705350"/>
            <a:ext cx="3556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lang="ru-RU">
                <a:solidFill>
                  <a:srgbClr val="10141F"/>
                </a:solidFill>
                <a:latin typeface="Pixeloid Sans"/>
              </a:rPr>
              <a:t>Голос SpeechKit, базовая комплектация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5000" y="4705350"/>
            <a:ext cx="32766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700" b="1" lang="ru-RU">
                <a:solidFill>
                  <a:srgbClr val="3C5E8B"/>
                </a:solidFill>
                <a:latin typeface="Pixeloid Sans"/>
              </a:rPr>
              <a:t>≈ 0,7 ₽ за партию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66100" y="1625600"/>
            <a:ext cx="3441700" cy="3860800"/>
          </a:xfrm>
          <a:prstGeom prst="rect">
            <a:avLst/>
          </a:prstGeom>
          <a:solidFill>
            <a:srgbClr val="10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91500" y="1651000"/>
            <a:ext cx="3390900" cy="3810000"/>
          </a:xfrm>
          <a:prstGeom prst="rect">
            <a:avLst/>
          </a:prstGeom>
          <a:solidFill>
            <a:srgbClr val="17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94700" y="1841500"/>
            <a:ext cx="2984500" cy="342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b="1" lang="ru-RU">
                <a:solidFill>
                  <a:srgbClr val="E8C170"/>
                </a:solidFill>
                <a:latin typeface="Pixeloid Sans"/>
              </a:rPr>
              <a:t>Что снижает цену</a:t>
            </a:r>
          </a:p>
          <a:p>
            <a:pPr algn="l">
              <a:lnSpc>
                <a:spcPct val="110000"/>
              </a:lnSpc>
              <a:spcBef>
                <a:spcPts val="1400"/>
              </a:spcBef>
            </a:pPr>
            <a:r>
              <a:rPr sz="1600" b="0" lang="ru-RU">
                <a:solidFill>
                  <a:srgbClr val="EBEDE9"/>
                </a:solidFill>
                <a:latin typeface="Pixeloid Sans"/>
              </a:rPr>
              <a:t>кэш голоса и разметки</a:t>
            </a:r>
          </a:p>
          <a:p>
            <a:pPr algn="l">
              <a:lnSpc>
                <a:spcPct val="110000"/>
              </a:lnSpc>
              <a:spcBef>
                <a:spcPts val="1400"/>
              </a:spcBef>
            </a:pPr>
            <a:r>
              <a:rPr sz="1600" b="0" lang="ru-RU">
                <a:solidFill>
                  <a:srgbClr val="EBEDE9"/>
                </a:solidFill>
                <a:latin typeface="Pixeloid Sans"/>
              </a:rPr>
              <a:t>вступления и реакции записаны заранее</a:t>
            </a:r>
          </a:p>
          <a:p>
            <a:pPr algn="l">
              <a:lnSpc>
                <a:spcPct val="110000"/>
              </a:lnSpc>
              <a:spcBef>
                <a:spcPts val="1400"/>
              </a:spcBef>
            </a:pPr>
            <a:r>
              <a:rPr sz="1600" b="0" lang="ru-RU">
                <a:solidFill>
                  <a:srgbClr val="EBEDE9"/>
                </a:solidFill>
                <a:latin typeface="Pixeloid Sans"/>
              </a:rPr>
              <a:t>базовая комплектация YandexGPT + SpeechKit — одной настройкой</a:t>
            </a:r>
          </a:p>
          <a:p>
            <a:pPr algn="l">
              <a:lnSpc>
                <a:spcPct val="110000"/>
              </a:lnSpc>
              <a:spcBef>
                <a:spcPts val="1400"/>
              </a:spcBef>
            </a:pPr>
            <a:r>
              <a:rPr sz="1600" b="0" lang="ru-RU">
                <a:solidFill>
                  <a:srgbClr val="EBEDE9"/>
                </a:solidFill>
                <a:latin typeface="Pixeloid Sans"/>
              </a:rPr>
              <a:t>точную цену посчитаем на пилоте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4770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lang="ru-RU">
                <a:solidFill>
                  <a:srgbClr val="A8B5B2"/>
                </a:solidFill>
                <a:latin typeface="Pixeloid Sans"/>
              </a:rPr>
              <a:t>Запасной слайд для вопросов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77000"/>
            <a:ext cx="63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 lang="ru-RU">
                <a:solidFill>
                  <a:srgbClr val="A8B5B2"/>
                </a:solidFill>
                <a:latin typeface="Pixeloid Sans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09728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 lang="ru-RU">
                <a:solidFill>
                  <a:srgbClr val="E8C170"/>
                </a:solidFill>
                <a:latin typeface="Pixeloid Sans"/>
              </a:rPr>
              <a:t>Игровое здесь ради обучения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584200" y="1892300"/>
            <a:ext cx="11023600" cy="405130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4200" y="1816100"/>
            <a:ext cx="11023600" cy="40513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1841500"/>
            <a:ext cx="10972800" cy="4000500"/>
          </a:xfrm>
          <a:prstGeom prst="rect">
            <a:avLst/>
          </a:prstGeom>
          <a:solidFill>
            <a:srgbClr val="E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3600" y="1936750"/>
            <a:ext cx="29210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lang="ru-RU">
                <a:solidFill>
                  <a:srgbClr val="3C5E8B"/>
                </a:solidFill>
                <a:latin typeface="Pixeloid Sans"/>
              </a:rPr>
              <a:t>Пиксельный мир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7000" y="1936750"/>
            <a:ext cx="73914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0" lang="ru-RU">
                <a:solidFill>
                  <a:srgbClr val="10141F"/>
                </a:solidFill>
                <a:latin typeface="Pixeloid Sans"/>
              </a:rPr>
              <a:t>не страшно ошибаться, у говорящих лиц нет «зловещей долины», графика лёгкая и тянет телефон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3600" y="2660650"/>
            <a:ext cx="10464800" cy="25400"/>
          </a:xfrm>
          <a:prstGeom prst="rect">
            <a:avLst/>
          </a:prstGeom>
          <a:solidFill>
            <a:srgbClr val="C7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3600" y="2698750"/>
            <a:ext cx="29210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lang="ru-RU">
                <a:solidFill>
                  <a:srgbClr val="3C5E8B"/>
                </a:solidFill>
                <a:latin typeface="Pixeloid Sans"/>
              </a:rPr>
              <a:t>Разбор хода на полях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7000" y="2698750"/>
            <a:ext cx="73914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0" lang="ru-RU">
                <a:solidFill>
                  <a:srgbClr val="10141F"/>
                </a:solidFill>
                <a:latin typeface="Pixeloid Sans"/>
              </a:rPr>
              <a:t>учит сразу после реплики; выключается для «честного экзамена»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3600" y="3422650"/>
            <a:ext cx="10464800" cy="25400"/>
          </a:xfrm>
          <a:prstGeom prst="rect">
            <a:avLst/>
          </a:prstGeom>
          <a:solidFill>
            <a:srgbClr val="C7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3600" y="3460750"/>
            <a:ext cx="29210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lang="ru-RU">
                <a:solidFill>
                  <a:srgbClr val="3C5E8B"/>
                </a:solidFill>
                <a:latin typeface="Pixeloid Sans"/>
              </a:rPr>
              <a:t>Перемотка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7000" y="3460750"/>
            <a:ext cx="73914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0" lang="ru-RU">
                <a:solidFill>
                  <a:srgbClr val="10141F"/>
                </a:solidFill>
                <a:latin typeface="Pixeloid Sans"/>
              </a:rPr>
              <a:t>«переиграть с этого хода» — исправить ошибку там, где она случилась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3600" y="4184650"/>
            <a:ext cx="10464800" cy="25400"/>
          </a:xfrm>
          <a:prstGeom prst="rect">
            <a:avLst/>
          </a:prstGeom>
          <a:solidFill>
            <a:srgbClr val="C7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3600" y="4222750"/>
            <a:ext cx="29210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lang="ru-RU">
                <a:solidFill>
                  <a:srgbClr val="3C5E8B"/>
                </a:solidFill>
                <a:latin typeface="Pixeloid Sans"/>
              </a:rPr>
              <a:t>Сюжет «Новенький»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7000" y="4222750"/>
            <a:ext cx="73914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0" lang="ru-RU">
                <a:solidFill>
                  <a:srgbClr val="10141F"/>
                </a:solidFill>
                <a:latin typeface="Pixeloid Sans"/>
              </a:rPr>
              <a:t>неделя в Алабуге для адаптации новичков; деловые дела открыты без сюжета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3600" y="4946650"/>
            <a:ext cx="10464800" cy="25400"/>
          </a:xfrm>
          <a:prstGeom prst="rect">
            <a:avLst/>
          </a:prstGeom>
          <a:solidFill>
            <a:srgbClr val="C7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3600" y="4984750"/>
            <a:ext cx="29210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lang="ru-RU">
                <a:solidFill>
                  <a:srgbClr val="3C5E8B"/>
                </a:solidFill>
                <a:latin typeface="Pixeloid Sans"/>
              </a:rPr>
              <a:t>Звания и «Личное дело»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7000" y="4984750"/>
            <a:ext cx="73914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800" b="0" lang="ru-RU">
                <a:solidFill>
                  <a:srgbClr val="10141F"/>
                </a:solidFill>
                <a:latin typeface="Pixeloid Sans"/>
              </a:rPr>
              <a:t>повод вернуться и сыграть ещё раз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4770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lang="ru-RU">
                <a:solidFill>
                  <a:srgbClr val="A8B5B2"/>
                </a:solidFill>
                <a:latin typeface="Pixeloid Sans"/>
              </a:rPr>
              <a:t>Запасной слайд для вопросов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77000"/>
            <a:ext cx="63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 lang="ru-RU">
                <a:solidFill>
                  <a:srgbClr val="A8B5B2"/>
                </a:solidFill>
                <a:latin typeface="Pixeloid Sans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09728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 lang="ru-RU">
                <a:solidFill>
                  <a:srgbClr val="E8C170"/>
                </a:solidFill>
                <a:latin typeface="Pixeloid Sans"/>
              </a:rPr>
              <a:t>Руководитель видит команду без аккаунтов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612900"/>
            <a:ext cx="5384800" cy="347980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4200" y="1562100"/>
            <a:ext cx="5384800" cy="34798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0-board-39eac63d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587500"/>
            <a:ext cx="5334000" cy="3429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48400" y="1612900"/>
            <a:ext cx="5384800" cy="347980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23000" y="1562100"/>
            <a:ext cx="5384800" cy="34798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0b-board-more-127829299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587500"/>
            <a:ext cx="5334000" cy="3429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5270500"/>
            <a:ext cx="109728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800" b="0" lang="ru-RU">
                <a:solidFill>
                  <a:srgbClr val="EBEDE9"/>
                </a:solidFill>
                <a:latin typeface="Pixeloid Sans"/>
              </a:rPr>
              <a:t>Две ссылки: команде и на доску. Ведомость, типичные ошибки, CSV. Метка «нужна помощь», когда напряжение выше 70. Переписку руководитель видит только с согласия участника.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4770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lang="ru-RU">
                <a:solidFill>
                  <a:srgbClr val="A8B5B2"/>
                </a:solidFill>
                <a:latin typeface="Pixeloid Sans"/>
              </a:rPr>
              <a:t>Запасной слайд для вопросов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77000"/>
            <a:ext cx="63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 lang="ru-RU">
                <a:solidFill>
                  <a:srgbClr val="A8B5B2"/>
                </a:solidFill>
                <a:latin typeface="Pixeloid Sans"/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09728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 lang="ru-RU">
                <a:solidFill>
                  <a:srgbClr val="E8C170"/>
                </a:solidFill>
                <a:latin typeface="Pixeloid Sans"/>
              </a:rPr>
              <a:t>Как настройки руководителя меняют встречу</a:t>
            </a:r>
          </a:p>
        </p:txBody>
      </p:sp>
      <p:sp>
        <p:nvSpPr>
          <p:cNvPr id="6" name="Rectangle 5"/>
          <p:cNvSpPr/>
          <p:nvPr/>
        </p:nvSpPr>
        <p:spPr>
          <a:xfrm>
            <a:off x="584200" y="1714500"/>
            <a:ext cx="11023600" cy="443230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4200" y="1638300"/>
            <a:ext cx="11023600" cy="44323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1663700"/>
            <a:ext cx="10972800" cy="4381500"/>
          </a:xfrm>
          <a:prstGeom prst="rect">
            <a:avLst/>
          </a:prstGeom>
          <a:solidFill>
            <a:srgbClr val="E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3600" y="1758950"/>
            <a:ext cx="3048000" cy="622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lang="ru-RU">
                <a:solidFill>
                  <a:srgbClr val="3C5E8B"/>
                </a:solidFill>
                <a:latin typeface="Pixeloid Sans"/>
              </a:rPr>
              <a:t>Сфера, тема, роли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4000" y="1758950"/>
            <a:ext cx="7264400" cy="622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0" lang="ru-RU">
                <a:solidFill>
                  <a:srgbClr val="10141F"/>
                </a:solidFill>
                <a:latin typeface="Pixeloid Sans"/>
              </a:rPr>
              <a:t>сюжет, бриф и пункты сделки; кто платит — задаёт, какой вариант выгоден игроку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3600" y="2419350"/>
            <a:ext cx="10464800" cy="25400"/>
          </a:xfrm>
          <a:prstGeom prst="rect">
            <a:avLst/>
          </a:prstGeom>
          <a:solidFill>
            <a:srgbClr val="C7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3600" y="2457450"/>
            <a:ext cx="3048000" cy="622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lang="ru-RU">
                <a:solidFill>
                  <a:srgbClr val="3C5E8B"/>
                </a:solidFill>
                <a:latin typeface="Pixeloid Sans"/>
              </a:rPr>
              <a:t>Кто напротив и чего хочет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4000" y="2457450"/>
            <a:ext cx="7264400" cy="622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0" lang="ru-RU">
                <a:solidFill>
                  <a:srgbClr val="10141F"/>
                </a:solidFill>
                <a:latin typeface="Pixeloid Sans"/>
              </a:rPr>
              <a:t>его должность, стартовые требования и скрытые интересы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3600" y="3117850"/>
            <a:ext cx="10464800" cy="25400"/>
          </a:xfrm>
          <a:prstGeom prst="rect">
            <a:avLst/>
          </a:prstGeom>
          <a:solidFill>
            <a:srgbClr val="C7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3600" y="3155950"/>
            <a:ext cx="3048000" cy="622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lang="ru-RU">
                <a:solidFill>
                  <a:srgbClr val="3C5E8B"/>
                </a:solidFill>
                <a:latin typeface="Pixeloid Sans"/>
              </a:rPr>
              <a:t>Характер, 5 вариантов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4000" y="3155950"/>
            <a:ext cx="7264400" cy="622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0" lang="ru-RU">
                <a:solidFill>
                  <a:srgbClr val="10141F"/>
                </a:solidFill>
                <a:latin typeface="Pixeloid Sans"/>
              </a:rPr>
              <a:t>манера речи и стартовые доверие и напряжение: у дружелюбного 55 и 10, у напористого 30 и 35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3600" y="3816350"/>
            <a:ext cx="10464800" cy="25400"/>
          </a:xfrm>
          <a:prstGeom prst="rect">
            <a:avLst/>
          </a:prstGeom>
          <a:solidFill>
            <a:srgbClr val="C7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3600" y="3854450"/>
            <a:ext cx="3048000" cy="622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lang="ru-RU">
                <a:solidFill>
                  <a:srgbClr val="3C5E8B"/>
                </a:solidFill>
                <a:latin typeface="Pixeloid Sans"/>
              </a:rPr>
              <a:t>Сложность, 3 уровня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4000" y="3854450"/>
            <a:ext cx="7264400" cy="622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0" lang="ru-RU">
                <a:solidFill>
                  <a:srgbClr val="10141F"/>
                </a:solidFill>
                <a:latin typeface="Pixeloid Sans"/>
              </a:rPr>
              <a:t>запасной вариант собеседника выше (25, 32, 40% от максимума), ходов 11, 12, 13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3600" y="4514850"/>
            <a:ext cx="10464800" cy="25400"/>
          </a:xfrm>
          <a:prstGeom prst="rect">
            <a:avLst/>
          </a:prstGeom>
          <a:solidFill>
            <a:srgbClr val="C7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3600" y="4552950"/>
            <a:ext cx="3048000" cy="622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lang="ru-RU">
                <a:solidFill>
                  <a:srgbClr val="3C5E8B"/>
                </a:solidFill>
                <a:latin typeface="Pixeloid Sans"/>
              </a:rPr>
              <a:t>Что потренировать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4000" y="4552950"/>
            <a:ext cx="7264400" cy="622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0" lang="ru-RU">
                <a:solidFill>
                  <a:srgbClr val="10141F"/>
                </a:solidFill>
                <a:latin typeface="Pixeloid Sans"/>
              </a:rPr>
              <a:t>дело строится так, чтобы это пришлось делать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3600" y="5213350"/>
            <a:ext cx="10464800" cy="25400"/>
          </a:xfrm>
          <a:prstGeom prst="rect">
            <a:avLst/>
          </a:prstGeom>
          <a:solidFill>
            <a:srgbClr val="C7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3600" y="5251450"/>
            <a:ext cx="3048000" cy="622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lang="ru-RU">
                <a:solidFill>
                  <a:srgbClr val="3C5E8B"/>
                </a:solidFill>
                <a:latin typeface="Pixeloid Sans"/>
              </a:rPr>
              <a:t>Своя история, до 1500 знаков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4000" y="5251450"/>
            <a:ext cx="7264400" cy="622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0" lang="ru-RU">
                <a:solidFill>
                  <a:srgbClr val="10141F"/>
                </a:solidFill>
                <a:latin typeface="Pixeloid Sans"/>
              </a:rPr>
              <a:t>контекст сюжета; движок всё равно проверяет, что сделка возможна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4770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lang="ru-RU">
                <a:solidFill>
                  <a:srgbClr val="A8B5B2"/>
                </a:solidFill>
                <a:latin typeface="Pixeloid Sans"/>
              </a:rPr>
              <a:t>Запасной слайд для вопросов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77000"/>
            <a:ext cx="63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 lang="ru-RU">
                <a:solidFill>
                  <a:srgbClr val="A8B5B2"/>
                </a:solidFill>
                <a:latin typeface="Pixeloid Sans"/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09728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 lang="ru-RU">
                <a:solidFill>
                  <a:srgbClr val="E8C170"/>
                </a:solidFill>
                <a:latin typeface="Pixeloid Sans"/>
              </a:rPr>
              <a:t>14 деловых лиц и 6 мест: подбор по описанию дела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84200" y="1689100"/>
            <a:ext cx="863600" cy="8636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ace_dire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14500"/>
            <a:ext cx="812800" cy="812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651000" y="1689100"/>
            <a:ext cx="863600" cy="8636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ace_bank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0" y="1714500"/>
            <a:ext cx="812800" cy="812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17800" y="1689100"/>
            <a:ext cx="863600" cy="8636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ace_lawy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1714500"/>
            <a:ext cx="812800" cy="812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784600" y="1689100"/>
            <a:ext cx="863600" cy="8636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ace_logi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0" y="1714500"/>
            <a:ext cx="812800" cy="8128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851400" y="1689100"/>
            <a:ext cx="863600" cy="8636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ace_own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6800" y="1714500"/>
            <a:ext cx="812800" cy="8128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84200" y="2895600"/>
            <a:ext cx="863600" cy="8636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ace_cf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921000"/>
            <a:ext cx="812800" cy="8128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651000" y="2895600"/>
            <a:ext cx="863600" cy="8636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ace_sale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76400" y="2921000"/>
            <a:ext cx="812800" cy="8128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717800" y="2895600"/>
            <a:ext cx="863600" cy="8636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ace_engine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3200" y="2921000"/>
            <a:ext cx="812800" cy="8128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3784600" y="2895600"/>
            <a:ext cx="863600" cy="8636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face_forema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0" y="2921000"/>
            <a:ext cx="812800" cy="8128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851400" y="2895600"/>
            <a:ext cx="863600" cy="8636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face_dev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76800" y="2921000"/>
            <a:ext cx="812800" cy="8128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584200" y="4102100"/>
            <a:ext cx="863600" cy="8636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face_official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4127500"/>
            <a:ext cx="812800" cy="81280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1651000" y="4102100"/>
            <a:ext cx="863600" cy="8636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face_hr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76400" y="4127500"/>
            <a:ext cx="812800" cy="81280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2717800" y="4102100"/>
            <a:ext cx="863600" cy="8636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face_realtor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43200" y="4127500"/>
            <a:ext cx="812800" cy="81280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3784600" y="4102100"/>
            <a:ext cx="863600" cy="8636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face_buyer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10000" y="4127500"/>
            <a:ext cx="812800" cy="81280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6985000" y="1739900"/>
            <a:ext cx="4495800" cy="335280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959600" y="1689100"/>
            <a:ext cx="4495800" cy="33528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06-places-2b0d64cb64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85000" y="1714500"/>
            <a:ext cx="4445000" cy="3302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985000" y="5207000"/>
            <a:ext cx="45974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500" b="0" lang="ru-RU">
                <a:solidFill>
                  <a:srgbClr val="EBEDE9"/>
                </a:solidFill>
                <a:latin typeface="Pixeloid Sans"/>
              </a:rPr>
              <a:t>Лицо — по полу, возрасту, сфере и должности, место — по теме дела. Руководитель может сменить и то и другое до выдачи ссылки.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5524500"/>
            <a:ext cx="5207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A8B5B2"/>
                </a:solidFill>
                <a:latin typeface="Pixeloid Sans"/>
              </a:rPr>
              <a:t>8 из них нарисованы к финалу, голоса взяли у близких по типажу героев.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4770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lang="ru-RU">
                <a:solidFill>
                  <a:srgbClr val="A8B5B2"/>
                </a:solidFill>
                <a:latin typeface="Pixeloid Sans"/>
              </a:rPr>
              <a:t>Запасной слайд для вопросов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77000"/>
            <a:ext cx="63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 lang="ru-RU">
                <a:solidFill>
                  <a:srgbClr val="A8B5B2"/>
                </a:solidFill>
                <a:latin typeface="Pixeloid Sans"/>
              </a:rP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09728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 lang="ru-RU">
                <a:solidFill>
                  <a:srgbClr val="E8C170"/>
                </a:solidFill>
                <a:latin typeface="Pixeloid Sans"/>
              </a:rPr>
              <a:t>У каждого судьи свой ключ и свои лимиты</a:t>
            </a:r>
          </a:p>
        </p:txBody>
      </p:sp>
      <p:sp>
        <p:nvSpPr>
          <p:cNvPr id="6" name="Rectangle 5"/>
          <p:cNvSpPr/>
          <p:nvPr/>
        </p:nvSpPr>
        <p:spPr>
          <a:xfrm>
            <a:off x="584200" y="1892300"/>
            <a:ext cx="6781800" cy="405130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4200" y="1816100"/>
            <a:ext cx="6781800" cy="40513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1841500"/>
            <a:ext cx="6731000" cy="4000500"/>
          </a:xfrm>
          <a:prstGeom prst="rect">
            <a:avLst/>
          </a:prstGeom>
          <a:solidFill>
            <a:srgbClr val="E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3600" y="1936750"/>
            <a:ext cx="1905000" cy="876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lang="ru-RU">
                <a:solidFill>
                  <a:srgbClr val="3C5E8B"/>
                </a:solidFill>
                <a:latin typeface="Pixeloid Sans"/>
              </a:rPr>
              <a:t>Ссылка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1000" y="1936750"/>
            <a:ext cx="4165600" cy="876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lang="ru-RU">
                <a:solidFill>
                  <a:srgbClr val="10141F"/>
                </a:solidFill>
                <a:latin typeface="Pixeloid Sans"/>
              </a:rPr>
              <a:t>у каждого судьи своя ссылка с именем; ключ можно отозвать, и вход сразу закрывается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3600" y="2851150"/>
            <a:ext cx="6223000" cy="25400"/>
          </a:xfrm>
          <a:prstGeom prst="rect">
            <a:avLst/>
          </a:prstGeom>
          <a:solidFill>
            <a:srgbClr val="C7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3600" y="2889250"/>
            <a:ext cx="1905000" cy="876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lang="ru-RU">
                <a:solidFill>
                  <a:srgbClr val="3C5E8B"/>
                </a:solidFill>
                <a:latin typeface="Pixeloid Sans"/>
              </a:rPr>
              <a:t>Лимиты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1000" y="2889250"/>
            <a:ext cx="4165600" cy="876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lang="ru-RU">
                <a:solidFill>
                  <a:srgbClr val="10141F"/>
                </a:solidFill>
                <a:latin typeface="Pixeloid Sans"/>
              </a:rPr>
              <a:t>20 платных ходов в минуту, 20 сборок своего дела в сутки, голос — 60 в час и 300 в сутки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3600" y="3803650"/>
            <a:ext cx="6223000" cy="25400"/>
          </a:xfrm>
          <a:prstGeom prst="rect">
            <a:avLst/>
          </a:prstGeom>
          <a:solidFill>
            <a:srgbClr val="C7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3600" y="3841750"/>
            <a:ext cx="1905000" cy="876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lang="ru-RU">
                <a:solidFill>
                  <a:srgbClr val="3C5E8B"/>
                </a:solidFill>
                <a:latin typeface="Pixeloid Sans"/>
              </a:rPr>
              <a:t>Один офис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1000" y="3841750"/>
            <a:ext cx="4165600" cy="876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lang="ru-RU">
                <a:solidFill>
                  <a:srgbClr val="10141F"/>
                </a:solidFill>
                <a:latin typeface="Pixeloid Sans"/>
              </a:rPr>
              <a:t>лимиты на ключ, а не на IP: двое судей из одной сети не мешают друг другу (проверено)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3600" y="4756150"/>
            <a:ext cx="6223000" cy="25400"/>
          </a:xfrm>
          <a:prstGeom prst="rect">
            <a:avLst/>
          </a:prstGeom>
          <a:solidFill>
            <a:srgbClr val="C7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3600" y="4794250"/>
            <a:ext cx="1905000" cy="876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lang="ru-RU">
                <a:solidFill>
                  <a:srgbClr val="3C5E8B"/>
                </a:solidFill>
                <a:latin typeface="Pixeloid Sans"/>
              </a:rPr>
              <a:t>Статистика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1000" y="4794250"/>
            <a:ext cx="4165600" cy="876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lang="ru-RU">
                <a:solidFill>
                  <a:srgbClr val="10141F"/>
                </a:solidFill>
                <a:latin typeface="Pixeloid Sans"/>
              </a:rPr>
              <a:t>кто сколько сыграл — для нас, по закрытому API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45400" y="1866900"/>
            <a:ext cx="3987800" cy="1797050"/>
          </a:xfrm>
          <a:prstGeom prst="rect">
            <a:avLst/>
          </a:prstGeom>
          <a:solidFill>
            <a:srgbClr val="BE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20000" y="1816100"/>
            <a:ext cx="3987800" cy="179705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jury-keys-3ef0a3bd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5400" y="1841500"/>
            <a:ext cx="3937000" cy="17462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645400" y="3810000"/>
            <a:ext cx="39370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0" lang="ru-RU">
                <a:solidFill>
                  <a:srgbClr val="A8B5B2"/>
                </a:solidFill>
                <a:latin typeface="Pixeloid Sans"/>
              </a:rPr>
              <a:t>Пропуска выдаёт скрипт, ключи на снимке скрыты.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4770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lang="ru-RU">
                <a:solidFill>
                  <a:srgbClr val="A8B5B2"/>
                </a:solidFill>
                <a:latin typeface="Pixeloid Sans"/>
              </a:rPr>
              <a:t>Запасной слайд для вопросов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77000"/>
            <a:ext cx="63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 lang="ru-RU">
                <a:solidFill>
                  <a:srgbClr val="A8B5B2"/>
                </a:solidFill>
                <a:latin typeface="Pixeloid Sans"/>
              </a:rPr>
              <a:t>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09728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 lang="ru-RU">
                <a:solidFill>
                  <a:srgbClr val="E8C170"/>
                </a:solidFill>
                <a:latin typeface="Pixeloid Sans"/>
              </a:rPr>
              <a:t>На телефоне — та же игра</a:t>
            </a:r>
          </a:p>
        </p:txBody>
      </p:sp>
      <p:pic>
        <p:nvPicPr>
          <p:cNvPr id="6" name="Picture 5" descr="phon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841500"/>
            <a:ext cx="2108200" cy="4445000"/>
          </a:xfrm>
          <a:prstGeom prst="rect">
            <a:avLst/>
          </a:prstGeom>
        </p:spPr>
      </p:pic>
      <p:pic>
        <p:nvPicPr>
          <p:cNvPr id="7" name="Picture 6" descr="phon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9750" y="1841500"/>
            <a:ext cx="2108200" cy="4445000"/>
          </a:xfrm>
          <a:prstGeom prst="rect">
            <a:avLst/>
          </a:prstGeom>
        </p:spPr>
      </p:pic>
      <p:pic>
        <p:nvPicPr>
          <p:cNvPr id="8" name="Picture 7" descr="phon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2750" y="1841500"/>
            <a:ext cx="2108200" cy="4445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01000" y="2032000"/>
            <a:ext cx="3581400" cy="381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800" b="0" lang="ru-RU">
                <a:solidFill>
                  <a:srgbClr val="EBEDE9"/>
                </a:solidFill>
                <a:latin typeface="Pixeloid Sans"/>
              </a:rPr>
              <a:t>Вертикальный режим в приоритете, как просит ТЗ.</a:t>
            </a:r>
          </a:p>
          <a:p>
            <a:pPr algn="l">
              <a:lnSpc>
                <a:spcPct val="108000"/>
              </a:lnSpc>
              <a:spcBef>
                <a:spcPts val="1800"/>
              </a:spcBef>
            </a:pPr>
            <a:r>
              <a:rPr sz="1800" b="0" lang="ru-RU">
                <a:solidFill>
                  <a:srgbClr val="EBEDE9"/>
                </a:solidFill>
                <a:latin typeface="Pixeloid Sans"/>
              </a:rPr>
              <a:t>Код первой загрузки на 37% легче: 773 → 485 кБ.</a:t>
            </a:r>
          </a:p>
          <a:p>
            <a:pPr algn="l">
              <a:lnSpc>
                <a:spcPct val="108000"/>
              </a:lnSpc>
              <a:spcBef>
                <a:spcPts val="1800"/>
              </a:spcBef>
            </a:pPr>
            <a:r>
              <a:rPr sz="1800" b="0" lang="ru-RU">
                <a:solidFill>
                  <a:srgbClr val="EBEDE9"/>
                </a:solidFill>
                <a:latin typeface="Pixeloid Sans"/>
              </a:rPr>
              <a:t>3D до 60 кадров в движении и 30 в покое, в фоне не тратит батарею.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4770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lang="ru-RU">
                <a:solidFill>
                  <a:srgbClr val="A8B5B2"/>
                </a:solidFill>
                <a:latin typeface="Pixeloid Sans"/>
              </a:rPr>
              <a:t>Запасной слайд для вопросов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77000"/>
            <a:ext cx="63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 lang="ru-RU">
                <a:solidFill>
                  <a:srgbClr val="A8B5B2"/>
                </a:solidFill>
                <a:latin typeface="Pixeloid Sans"/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09728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 lang="ru-RU">
                <a:solidFill>
                  <a:srgbClr val="E8C170"/>
                </a:solidFill>
                <a:latin typeface="Pixeloid Sans"/>
              </a:rPr>
              <a:t>Что может пойти не так и что мы делаем</a:t>
            </a:r>
          </a:p>
        </p:txBody>
      </p:sp>
      <p:sp>
        <p:nvSpPr>
          <p:cNvPr id="6" name="Rectangle 5"/>
          <p:cNvSpPr/>
          <p:nvPr/>
        </p:nvSpPr>
        <p:spPr>
          <a:xfrm>
            <a:off x="584200" y="1892300"/>
            <a:ext cx="11023600" cy="420370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4200" y="1816100"/>
            <a:ext cx="11023600" cy="42037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1841500"/>
            <a:ext cx="10972800" cy="4152900"/>
          </a:xfrm>
          <a:prstGeom prst="rect">
            <a:avLst/>
          </a:prstGeom>
          <a:solidFill>
            <a:srgbClr val="E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3600" y="1936750"/>
            <a:ext cx="30480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lang="ru-RU">
                <a:solidFill>
                  <a:srgbClr val="A53030"/>
                </a:solidFill>
                <a:latin typeface="Pixeloid Sans"/>
              </a:rPr>
              <a:t>Нейросеть не ответила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4000" y="1936750"/>
            <a:ext cx="72644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lang="ru-RU">
                <a:solidFill>
                  <a:srgbClr val="10141F"/>
                </a:solidFill>
                <a:latin typeface="Pixeloid Sans"/>
              </a:rPr>
              <a:t>запасная модель, потом заготовки, потом офлайн-режим: игра не встаёт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3600" y="2559050"/>
            <a:ext cx="10464800" cy="25400"/>
          </a:xfrm>
          <a:prstGeom prst="rect">
            <a:avLst/>
          </a:prstGeom>
          <a:solidFill>
            <a:srgbClr val="C7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3600" y="2597150"/>
            <a:ext cx="30480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lang="ru-RU">
                <a:solidFill>
                  <a:srgbClr val="A53030"/>
                </a:solidFill>
                <a:latin typeface="Pixeloid Sans"/>
              </a:rPr>
              <a:t>Зарубежный сервис недоступен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4000" y="2597150"/>
            <a:ext cx="72644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lang="ru-RU">
                <a:solidFill>
                  <a:srgbClr val="10141F"/>
                </a:solidFill>
                <a:latin typeface="Pixeloid Sans"/>
              </a:rPr>
              <a:t>базовая комплектация YandexGPT и SpeechKit включается одной настройкой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3600" y="3219450"/>
            <a:ext cx="10464800" cy="25400"/>
          </a:xfrm>
          <a:prstGeom prst="rect">
            <a:avLst/>
          </a:prstGeom>
          <a:solidFill>
            <a:srgbClr val="C7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3600" y="3257550"/>
            <a:ext cx="30480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lang="ru-RU">
                <a:solidFill>
                  <a:srgbClr val="A53030"/>
                </a:solidFill>
                <a:latin typeface="Pixeloid Sans"/>
              </a:rPr>
              <a:t>Шум или нет микрофона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4000" y="3257550"/>
            <a:ext cx="72644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lang="ru-RU">
                <a:solidFill>
                  <a:srgbClr val="10141F"/>
                </a:solidFill>
                <a:latin typeface="Pixeloid Sans"/>
              </a:rPr>
              <a:t>текстовый ввод в один клик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3600" y="3879850"/>
            <a:ext cx="10464800" cy="25400"/>
          </a:xfrm>
          <a:prstGeom prst="rect">
            <a:avLst/>
          </a:prstGeom>
          <a:solidFill>
            <a:srgbClr val="C7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3600" y="3917950"/>
            <a:ext cx="30480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lang="ru-RU">
                <a:solidFill>
                  <a:srgbClr val="A53030"/>
                </a:solidFill>
                <a:latin typeface="Pixeloid Sans"/>
              </a:rPr>
              <a:t>Расходы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4000" y="3917950"/>
            <a:ext cx="72644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lang="ru-RU">
                <a:solidFill>
                  <a:srgbClr val="10141F"/>
                </a:solidFill>
                <a:latin typeface="Pixeloid Sans"/>
              </a:rPr>
              <a:t>кэш голоса и разметки, лимиты на каждый ключ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3600" y="4540250"/>
            <a:ext cx="10464800" cy="25400"/>
          </a:xfrm>
          <a:prstGeom prst="rect">
            <a:avLst/>
          </a:prstGeom>
          <a:solidFill>
            <a:srgbClr val="C7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3600" y="4578350"/>
            <a:ext cx="30480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lang="ru-RU">
                <a:solidFill>
                  <a:srgbClr val="A53030"/>
                </a:solidFill>
                <a:latin typeface="Pixeloid Sans"/>
              </a:rPr>
              <a:t>«Это же игра»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4000" y="4578350"/>
            <a:ext cx="72644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lang="ru-RU">
                <a:solidFill>
                  <a:srgbClr val="10141F"/>
                </a:solidFill>
                <a:latin typeface="Pixeloid Sans"/>
              </a:rPr>
              <a:t>деловые дела без сюжета, доска и CSV для отчёта L&amp;D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3600" y="5200650"/>
            <a:ext cx="10464800" cy="25400"/>
          </a:xfrm>
          <a:prstGeom prst="rect">
            <a:avLst/>
          </a:prstGeom>
          <a:solidFill>
            <a:srgbClr val="C7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3600" y="5238750"/>
            <a:ext cx="30480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lang="ru-RU">
                <a:solidFill>
                  <a:srgbClr val="A53030"/>
                </a:solidFill>
                <a:latin typeface="Pixeloid Sans"/>
              </a:rPr>
              <a:t>Нагрузка на голос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4000" y="5238750"/>
            <a:ext cx="72644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lang="ru-RU">
                <a:solidFill>
                  <a:srgbClr val="10141F"/>
                </a:solidFill>
                <a:latin typeface="Pixeloid Sans"/>
              </a:rPr>
              <a:t>ElevenLabs держит 3 запроса одновременно, запасной голос — SpeechKit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n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4770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lang="ru-RU">
                <a:solidFill>
                  <a:srgbClr val="A8B5B2"/>
                </a:solidFill>
                <a:latin typeface="Pixeloid Sans"/>
              </a:rPr>
              <a:t>Запасной слайд для вопросов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47400" y="6477000"/>
            <a:ext cx="635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 lang="ru-RU">
                <a:solidFill>
                  <a:srgbClr val="A8B5B2"/>
                </a:solidFill>
                <a:latin typeface="Pixeloid Sans"/>
              </a:rPr>
              <a:t>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09728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 lang="ru-RU">
                <a:solidFill>
                  <a:srgbClr val="E8C170"/>
                </a:solidFill>
                <a:latin typeface="Pixeloid Sans"/>
              </a:rPr>
              <a:t>Ключи только на сервере, браузер к внешним сервисам не ходит</a:t>
            </a:r>
          </a:p>
        </p:txBody>
      </p:sp>
      <p:sp>
        <p:nvSpPr>
          <p:cNvPr id="6" name="Rectangle 5"/>
          <p:cNvSpPr/>
          <p:nvPr/>
        </p:nvSpPr>
        <p:spPr>
          <a:xfrm>
            <a:off x="584200" y="1892300"/>
            <a:ext cx="3352800" cy="151130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4200" y="1816100"/>
            <a:ext cx="3352800" cy="15113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1841500"/>
            <a:ext cx="3302000" cy="1460500"/>
          </a:xfrm>
          <a:prstGeom prst="rect">
            <a:avLst/>
          </a:prstGeom>
          <a:solidFill>
            <a:srgbClr val="E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1981200"/>
            <a:ext cx="28956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1" lang="ru-RU">
                <a:solidFill>
                  <a:srgbClr val="10141F"/>
                </a:solidFill>
                <a:latin typeface="Pixeloid Sans"/>
              </a:rPr>
              <a:t>Браузер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413000"/>
            <a:ext cx="28956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0" lang="ru-RU">
                <a:solidFill>
                  <a:srgbClr val="394A50"/>
                </a:solidFill>
                <a:latin typeface="Pixeloid Sans"/>
              </a:rPr>
              <a:t>React 19, three.js</a:t>
            </a:r>
          </a:p>
          <a:p>
            <a:pPr algn="l">
              <a:lnSpc>
                <a:spcPct val="105000"/>
              </a:lnSpc>
            </a:pPr>
            <a:r>
              <a:rPr sz="1600" b="0" lang="ru-RU">
                <a:solidFill>
                  <a:srgbClr val="394A50"/>
                </a:solidFill>
                <a:latin typeface="Pixeloid Sans"/>
              </a:rPr>
              <a:t>пиксельное 3D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7200" y="1892300"/>
            <a:ext cx="3352800" cy="151130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67200" y="1816100"/>
            <a:ext cx="3352800" cy="15113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2600" y="1841500"/>
            <a:ext cx="3302000" cy="1460500"/>
          </a:xfrm>
          <a:prstGeom prst="rect">
            <a:avLst/>
          </a:prstGeom>
          <a:solidFill>
            <a:srgbClr val="E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5800" y="1981200"/>
            <a:ext cx="28956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1" lang="ru-RU">
                <a:solidFill>
                  <a:srgbClr val="10141F"/>
                </a:solidFill>
                <a:latin typeface="Pixeloid Sans"/>
              </a:rPr>
              <a:t>Наш сервер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5800" y="2413000"/>
            <a:ext cx="28956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0" lang="ru-RU">
                <a:solidFill>
                  <a:srgbClr val="394A50"/>
                </a:solidFill>
                <a:latin typeface="Pixeloid Sans"/>
              </a:rPr>
              <a:t>Node 22 + Hono</a:t>
            </a:r>
          </a:p>
          <a:p>
            <a:pPr algn="l">
              <a:lnSpc>
                <a:spcPct val="105000"/>
              </a:lnSpc>
            </a:pPr>
            <a:r>
              <a:rPr sz="1600" b="0" lang="ru-RU">
                <a:solidFill>
                  <a:srgbClr val="394A50"/>
                </a:solidFill>
                <a:latin typeface="Pixeloid Sans"/>
              </a:rPr>
              <a:t>движок, ворота, кэш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0200" y="1892300"/>
            <a:ext cx="3352800" cy="151130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0200" y="1816100"/>
            <a:ext cx="3352800" cy="15113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75600" y="1841500"/>
            <a:ext cx="3302000" cy="1460500"/>
          </a:xfrm>
          <a:prstGeom prst="rect">
            <a:avLst/>
          </a:prstGeom>
          <a:solidFill>
            <a:srgbClr val="E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78800" y="1981200"/>
            <a:ext cx="28956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1" lang="ru-RU">
                <a:solidFill>
                  <a:srgbClr val="10141F"/>
                </a:solidFill>
                <a:latin typeface="Pixeloid Sans"/>
              </a:rPr>
              <a:t>Модели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8800" y="2413000"/>
            <a:ext cx="28956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0" lang="ru-RU">
                <a:solidFill>
                  <a:srgbClr val="394A50"/>
                </a:solidFill>
                <a:latin typeface="Pixeloid Sans"/>
              </a:rPr>
              <a:t>Claude Sonnet 5.5</a:t>
            </a:r>
          </a:p>
          <a:p>
            <a:pPr algn="l">
              <a:lnSpc>
                <a:spcPct val="105000"/>
              </a:lnSpc>
            </a:pPr>
            <a:r>
              <a:rPr sz="1600" b="0" lang="ru-RU">
                <a:solidFill>
                  <a:srgbClr val="394A50"/>
                </a:solidFill>
                <a:latin typeface="Pixeloid Sans"/>
              </a:rPr>
              <a:t>базовая: YandexGPT 5.1 Pro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11600" y="2286000"/>
            <a:ext cx="381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200" b="1" lang="ru-RU">
                <a:solidFill>
                  <a:srgbClr val="E8C170"/>
                </a:solidFill>
                <a:latin typeface="Pixeloid San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94600" y="2286000"/>
            <a:ext cx="381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200" b="1" lang="ru-RU">
                <a:solidFill>
                  <a:srgbClr val="E8C170"/>
                </a:solidFill>
                <a:latin typeface="Pixeloid Sans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0200" y="3987800"/>
            <a:ext cx="3352800" cy="1511300"/>
          </a:xfrm>
          <a:prstGeom prst="rect">
            <a:avLst/>
          </a:prstGeom>
          <a:solidFill>
            <a:srgbClr val="341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50200" y="3911600"/>
            <a:ext cx="3352800" cy="1511300"/>
          </a:xfrm>
          <a:prstGeom prst="rect">
            <a:avLst/>
          </a:prstGeom>
          <a:solidFill>
            <a:srgbClr val="151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5600" y="3937000"/>
            <a:ext cx="3302000" cy="1460500"/>
          </a:xfrm>
          <a:prstGeom prst="rect">
            <a:avLst/>
          </a:prstGeom>
          <a:solidFill>
            <a:srgbClr val="E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78800" y="4076700"/>
            <a:ext cx="28956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1" lang="ru-RU">
                <a:solidFill>
                  <a:srgbClr val="10141F"/>
                </a:solidFill>
                <a:latin typeface="Pixeloid Sans"/>
              </a:rPr>
              <a:t>Воркер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8800" y="4508500"/>
            <a:ext cx="28956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0" lang="ru-RU">
                <a:solidFill>
                  <a:srgbClr val="394A50"/>
                </a:solidFill>
                <a:latin typeface="Pixeloid Sans"/>
              </a:rPr>
              <a:t>Cloudflare → ElevenLabs:</a:t>
            </a:r>
          </a:p>
          <a:p>
            <a:pPr algn="l">
              <a:lnSpc>
                <a:spcPct val="105000"/>
              </a:lnSpc>
            </a:pPr>
            <a:r>
              <a:rPr sz="1600" b="0" lang="ru-RU">
                <a:solidFill>
                  <a:srgbClr val="394A50"/>
                </a:solidFill>
                <a:latin typeface="Pixeloid Sans"/>
              </a:rPr>
              <a:t>голос и Scribe, ключ только здесь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1600" y="4318000"/>
            <a:ext cx="254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800" b="1" lang="ru-RU">
                <a:solidFill>
                  <a:srgbClr val="E8C170"/>
                </a:solidFill>
                <a:latin typeface="Pixeloid Sans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2600" y="3937000"/>
            <a:ext cx="3302000" cy="146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600" b="0" lang="ru-RU">
                <a:solidFill>
                  <a:srgbClr val="EBEDE9"/>
                </a:solidFill>
                <a:latin typeface="Pixeloid Sans"/>
              </a:rPr>
              <a:t>Голос: браузер → /api/tts → воркер → ElevenLabs.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</a:pPr>
            <a:r>
              <a:rPr sz="1600" b="0" lang="ru-RU">
                <a:solidFill>
                  <a:srgbClr val="EBEDE9"/>
                </a:solidFill>
                <a:latin typeface="Pixeloid Sans"/>
              </a:rPr>
              <a:t>Запасной — SpeechKit с нашего сервера.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5842000"/>
            <a:ext cx="109728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 lang="ru-RU">
                <a:solidFill>
                  <a:srgbClr val="A8B5B2"/>
                </a:solidFill>
                <a:latin typeface="Pixeloid Sans"/>
              </a:rPr>
              <a:t>Запуск локально: npm ci, npm run dev; есть Docker; без ключей — офлайн-режим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11023</TotalTime>
  <Words>633</Words>
  <Application>Microsoft Macintosh PowerPoint</Application>
  <PresentationFormat>Широкоэкранный</PresentationFormat>
  <Paragraphs>192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Microsoft Office User</cp:lastModifiedBy>
  <cp:revision>95</cp:revision>
  <dcterms:created xsi:type="dcterms:W3CDTF">2023-05-15T07:36:23Z</dcterms:created>
  <dcterms:modified xsi:type="dcterms:W3CDTF">2026-09-14T11:14:59Z</dcterms:modified>
</cp:coreProperties>
</file>